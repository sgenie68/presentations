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6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2336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219" y="0"/>
            <a:ext cx="5325845" cy="29957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6358" y="912386"/>
            <a:ext cx="3701606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spcAft>
                <a:spcPts val="105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</a:t>
            </a:r>
            <a:endParaRPr lang="en-US" sz="3600" dirty="0"/>
          </a:p>
          <a:p>
            <a:pPr marL="0" indent="0" algn="ctr">
              <a:lnSpc>
                <a:spcPts val="3960"/>
              </a:lnSpc>
              <a:spcAft>
                <a:spcPts val="105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</a:t>
            </a:r>
            <a:endParaRPr lang="en-US" sz="3600" dirty="0"/>
          </a:p>
          <a:p>
            <a:pPr marL="0" indent="0" algn="ctr">
              <a:lnSpc>
                <a:spcPts val="3960"/>
              </a:lnSpc>
              <a:spcAft>
                <a:spcPts val="105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622524" y="3082230"/>
            <a:ext cx="3898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45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Gathering, Analytics &amp; Security Analysis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622524" y="3920430"/>
            <a:ext cx="3898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 Soudlenkov, GNZ, 2025</a:t>
            </a:r>
            <a:endParaRPr lang="en-US" sz="825" dirty="0"/>
          </a:p>
        </p:txBody>
      </p:sp>
      <p:pic>
        <p:nvPicPr>
          <p:cNvPr id="3074" name="Picture 2" descr="Historical location AIS Data API">
            <a:extLst>
              <a:ext uri="{FF2B5EF4-FFF2-40B4-BE49-F238E27FC236}">
                <a16:creationId xmlns:a16="http://schemas.microsoft.com/office/drawing/2014/main" id="{01F3F0CB-18E2-3B9A-14C2-50423F9FF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469" y="0"/>
            <a:ext cx="2995788" cy="299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27c18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10480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920055"/>
            <a:ext cx="4206812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Overview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57200" y="1595140"/>
            <a:ext cx="8229600" cy="695176"/>
          </a:xfrm>
          <a:prstGeom prst="roundRect">
            <a:avLst>
              <a:gd name="adj" fmla="val 10961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1595140"/>
            <a:ext cx="0" cy="695176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1757065"/>
            <a:ext cx="81027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I: Historical Context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9125" y="1968401"/>
            <a:ext cx="8102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Pre-AIS maritime challenges, collision problem, IMO development timeline, SOLAS mandate, post-9/11 security acceleration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376041"/>
            <a:ext cx="8229600" cy="695176"/>
          </a:xfrm>
          <a:prstGeom prst="roundRect">
            <a:avLst>
              <a:gd name="adj" fmla="val 10961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6250" y="2376041"/>
            <a:ext cx="0" cy="695176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9125" y="2537966"/>
            <a:ext cx="81027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II: Technical Architecture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9125" y="2749302"/>
            <a:ext cx="8102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VHF radio foundation, SOTDMA protocol, message types, encoding, Class A/B comparison, satellite AIS coverage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156942"/>
            <a:ext cx="8229600" cy="695176"/>
          </a:xfrm>
          <a:prstGeom prst="roundRect">
            <a:avLst>
              <a:gd name="adj" fmla="val 10961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76250" y="3156942"/>
            <a:ext cx="0" cy="695176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9125" y="3318867"/>
            <a:ext cx="81027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III: Data Analytics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125" y="3530203"/>
            <a:ext cx="8102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Maritime domain awareness, predictive analytics, trade flow analysis, illegal fishing detection, dark vessels, environmental monitoring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937843"/>
            <a:ext cx="8229600" cy="695176"/>
          </a:xfrm>
          <a:prstGeom prst="roundRect">
            <a:avLst>
              <a:gd name="adj" fmla="val 10961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6250" y="3937843"/>
            <a:ext cx="0" cy="695176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9125" y="4099768"/>
            <a:ext cx="81027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Security &amp; Limitations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9125" y="4311104"/>
            <a:ext cx="81027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Spoofing attacks, GPS vulnerabilities, dark shipping, lack of authentication, data quality issues, privacy concerns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963fc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641" y="80587"/>
            <a:ext cx="3602759" cy="2026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02481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212056"/>
            <a:ext cx="4206812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375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I: HISTORICAL CONTEXT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822698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Maritime Surveillance Challenge Before AIS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363688"/>
            <a:ext cx="8229600" cy="782836"/>
          </a:xfrm>
          <a:prstGeom prst="roundRect">
            <a:avLst>
              <a:gd name="adj" fmla="val 9734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2554188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Dark Ocean Problem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278457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2002, maritime authorities had extremely limited visibility beyond visual range. The ocean was effectively dark beyond 20-40 nautical miles.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489424"/>
            <a:ext cx="4057650" cy="851446"/>
          </a:xfrm>
          <a:prstGeom prst="roundRect">
            <a:avLst>
              <a:gd name="adj" fmla="val 894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1025" y="3651349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1025" y="3858964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radio communication required for every vessel identification. Time-consuming and language-dependent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29150" y="3569345"/>
            <a:ext cx="4057650" cy="691455"/>
          </a:xfrm>
          <a:prstGeom prst="roundRect">
            <a:avLst>
              <a:gd name="adj" fmla="val 1102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2975" y="373127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Range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2975" y="393888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Radar detection without identification. Every contact was unknown</a:t>
            </a:r>
            <a:endParaRPr lang="en-US" sz="1200" dirty="0"/>
          </a:p>
        </p:txBody>
      </p:sp>
      <p:pic>
        <p:nvPicPr>
          <p:cNvPr id="1026" name="Picture 2" descr="AIS Map">
            <a:extLst>
              <a:ext uri="{FF2B5EF4-FFF2-40B4-BE49-F238E27FC236}">
                <a16:creationId xmlns:a16="http://schemas.microsoft.com/office/drawing/2014/main" id="{0D11A19F-D7A7-2398-2C47-E87974DAF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041" y="232987"/>
            <a:ext cx="3602759" cy="202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c8863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844" y="174538"/>
            <a:ext cx="3222692" cy="18127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809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390501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Pre-AIS Maritime Technologies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006352"/>
            <a:ext cx="4062412" cy="1040011"/>
          </a:xfrm>
          <a:prstGeom prst="roundRect">
            <a:avLst>
              <a:gd name="adj" fmla="val 7327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61975" y="2149227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Marine Radar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1975" y="2347317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Detected vessel presence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1975" y="2545407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No identification info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1975" y="274349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Manual plotting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122563"/>
            <a:ext cx="4062412" cy="1040011"/>
          </a:xfrm>
          <a:prstGeom prst="roundRect">
            <a:avLst>
              <a:gd name="adj" fmla="val 7327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61975" y="326543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VHF Voice Radio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1975" y="346352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Channel 16: 156.800 MHz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1975" y="366161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Manual communication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1975" y="3859709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Language barriers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24388" y="2006352"/>
            <a:ext cx="4062412" cy="1040011"/>
          </a:xfrm>
          <a:prstGeom prst="roundRect">
            <a:avLst>
              <a:gd name="adj" fmla="val 7327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29163" y="2149227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Lloyd's Register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29163" y="2347317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Paper-based database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29163" y="2545407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No real-time data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29163" y="274349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Manual lookup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24388" y="3122563"/>
            <a:ext cx="4062412" cy="1040011"/>
          </a:xfrm>
          <a:prstGeom prst="roundRect">
            <a:avLst>
              <a:gd name="adj" fmla="val 7327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29163" y="326543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Navigation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29163" y="346352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Position known onboard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29163" y="3661618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No broadcast capability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29163" y="3859709"/>
            <a:ext cx="39299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Each vessel isolated</a:t>
            </a:r>
            <a:endParaRPr lang="en-US" sz="1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45278FD-7CAC-42D2-33F0-26C9C5653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019" y="174538"/>
            <a:ext cx="2414781" cy="181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9d089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55" y="262729"/>
            <a:ext cx="3744209" cy="21061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4214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023789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9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Collision Problem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630114"/>
            <a:ext cx="5029200" cy="1038745"/>
          </a:xfrm>
          <a:prstGeom prst="roundRect">
            <a:avLst>
              <a:gd name="adj" fmla="val 840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1630114"/>
            <a:ext cx="0" cy="90666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8650" y="1801564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 Maritime Collisions (1990s)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8650" y="2022425"/>
            <a:ext cx="45009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radar technology, maritime collisions remained frequent throughout the 1990s. Problem acute in congested waters: Straits of Malacca, English Channel, Singapore Strait.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908250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Ships saw radar echoes but couldn't identify vessel type or intentions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382566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automated indication of course, speed, or intended maneuvers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856881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VHF calls time-consuming and language-dependent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331196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Busy lanes: impossible to contact every nearby vessel</a:t>
            </a:r>
            <a:endParaRPr lang="en-US" sz="1200" dirty="0"/>
          </a:p>
        </p:txBody>
      </p:sp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06D28F09-B44B-B42B-BDEE-3BCB98282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119" y="262729"/>
            <a:ext cx="3157226" cy="210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297F26-749C-C10C-6EC4-0747B0B1DEBA}"/>
              </a:ext>
            </a:extLst>
          </p:cNvPr>
          <p:cNvSpPr txBox="1"/>
          <p:nvPr/>
        </p:nvSpPr>
        <p:spPr>
          <a:xfrm>
            <a:off x="5787482" y="2568603"/>
            <a:ext cx="31572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b="0" i="0" dirty="0">
                <a:solidFill>
                  <a:schemeClr val="bg1"/>
                </a:solidFill>
                <a:effectLst/>
                <a:latin typeface="Retina"/>
              </a:rPr>
              <a:t>The Ulysse, a Tunisian ferry (left), collided with the Cypriot registered container ship CLS Virginia around 15 miles off the Corsican coast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53bb9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372" y="989161"/>
            <a:ext cx="3242496" cy="1823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5129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260872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9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and Rescue Challenges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867198"/>
            <a:ext cx="5088673" cy="1064419"/>
          </a:xfrm>
          <a:prstGeom prst="roundRect">
            <a:avLst>
              <a:gd name="adj" fmla="val 8404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0550" y="2038648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Distress Scenarios Pre-AIS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0550" y="2259509"/>
            <a:ext cx="44498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vessels sent distress signals, rescue coordinators often had incomplete or outdated position information. Search areas could span hundreds of square nautical miles.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145334"/>
            <a:ext cx="5155580" cy="38206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•Response Time: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automated position reporting, rescue operations delayed by hours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619649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•Position Uncertainty: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Vessels drift with currents and wind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093964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•Nearby Vessels: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way to automatically identify closest vessels to assist</a:t>
            </a:r>
            <a:endParaRPr lang="en-US" sz="12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0E4707A-56DB-1FF5-8098-943466CF5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370" y="1875953"/>
            <a:ext cx="3242497" cy="171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e003d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567655" cy="36943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49375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358950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9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Maritime Security Gaps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003375"/>
            <a:ext cx="6029107" cy="8227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•Illegal Fishing: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Trawlers operated in protected zones with impunity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498675"/>
            <a:ext cx="6029107" cy="8227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•Smuggling: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Vessels approached coastlines undetected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993975"/>
            <a:ext cx="6029107" cy="8227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•Piracy: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Pirate vessels blended into traffic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489275"/>
            <a:ext cx="6029107" cy="8227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•Environmental Crimes: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Illegal dumping went undetected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984575"/>
            <a:ext cx="6029107" cy="8227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•Port Security: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Limited advance notice of arrivals</a:t>
            </a:r>
            <a:endParaRPr lang="en-US" sz="1200" dirty="0"/>
          </a:p>
        </p:txBody>
      </p:sp>
      <p:pic>
        <p:nvPicPr>
          <p:cNvPr id="11" name="Picture 10" descr="A diagram of security and security&#10;&#10;AI-generated content may be incorrect.">
            <a:extLst>
              <a:ext uri="{FF2B5EF4-FFF2-40B4-BE49-F238E27FC236}">
                <a16:creationId xmlns:a16="http://schemas.microsoft.com/office/drawing/2014/main" id="{BD7AA1B9-536A-8E2A-6FC5-0F213FAAA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897" y="1076654"/>
            <a:ext cx="3219915" cy="3219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7c61b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81819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391394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9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IMO and AIS Development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997719"/>
            <a:ext cx="4374995" cy="704849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159644"/>
            <a:ext cx="408298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Maritime Organization began developing automatic identification standards in early 1990s as part of broader effort to improve maritime safety.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835920"/>
            <a:ext cx="482947" cy="274290"/>
          </a:xfrm>
          <a:prstGeom prst="roundRect">
            <a:avLst>
              <a:gd name="adj" fmla="val 4861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499" y="2893070"/>
            <a:ext cx="313163" cy="14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44922" y="2893070"/>
            <a:ext cx="3619090" cy="14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IMO begins evaluation of universal shipboard AIS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186410"/>
            <a:ext cx="482947" cy="274290"/>
          </a:xfrm>
          <a:prstGeom prst="roundRect">
            <a:avLst>
              <a:gd name="adj" fmla="val 4861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1500" y="3243560"/>
            <a:ext cx="313162" cy="159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44921" y="3243560"/>
            <a:ext cx="3683195" cy="159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specs drafted. VHF frequencies allocated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536900"/>
            <a:ext cx="482947" cy="274290"/>
          </a:xfrm>
          <a:prstGeom prst="roundRect">
            <a:avLst>
              <a:gd name="adj" fmla="val 4861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3594050"/>
            <a:ext cx="313162" cy="15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44921" y="3594050"/>
            <a:ext cx="3787273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IMO adopts performance standards for AIS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887391"/>
            <a:ext cx="482947" cy="274290"/>
          </a:xfrm>
          <a:prstGeom prst="roundRect">
            <a:avLst>
              <a:gd name="adj" fmla="val 4861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1500" y="3944541"/>
            <a:ext cx="313162" cy="144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44922" y="3944541"/>
            <a:ext cx="37872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SOLAS Convention amended to require AIS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CA85B3-DEB3-FA35-5609-480B0F973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194" y="1696491"/>
            <a:ext cx="4180853" cy="25531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75ac0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58019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467594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9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SOLAS (Safety of Life at Sea) Mandate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1" y="2073920"/>
            <a:ext cx="4026308" cy="1272479"/>
          </a:xfrm>
          <a:prstGeom prst="roundRect">
            <a:avLst>
              <a:gd name="adj" fmla="val 7798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 flipH="1">
            <a:off x="457200" y="2073920"/>
            <a:ext cx="19050" cy="1115169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7700" y="2264420"/>
            <a:ext cx="80444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52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of Life at Sea Convention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7700" y="2517724"/>
            <a:ext cx="3762375" cy="62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 SOLAS amendment made AIS mandatory for ships 300+ gross tonnage on international voyages, cargo ships 500+ GT domestic, and all passenger ships.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94025"/>
            <a:ext cx="4057650" cy="814732"/>
          </a:xfrm>
          <a:prstGeom prst="roundRect">
            <a:avLst>
              <a:gd name="adj" fmla="val 1102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1025" y="355595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Implementation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1025" y="3763566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2002 to July 2008 based on ship type and construction date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3484" y="4256383"/>
            <a:ext cx="4057650" cy="691455"/>
          </a:xfrm>
          <a:prstGeom prst="roundRect">
            <a:avLst>
              <a:gd name="adj" fmla="val 1102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7309" y="4418308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Adoption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7309" y="4625924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2008, over 40,000 vessels equipped with AIS transponders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AB74C7-FFC5-71A3-4A24-F2A87E883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618" y="1721495"/>
            <a:ext cx="3840316" cy="32231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1e51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591" y="1224027"/>
            <a:ext cx="6147627" cy="3458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2940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138982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Post-9/11 Security Acceleration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735781"/>
            <a:ext cx="4598016" cy="742949"/>
          </a:xfrm>
          <a:prstGeom prst="roundRect">
            <a:avLst>
              <a:gd name="adj" fmla="val 11111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1735782"/>
            <a:ext cx="0" cy="685800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8650" y="1907232"/>
            <a:ext cx="38243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11, 2001 attacks dramatically accelerated AIS deployment. Maritime security became national priority for coastal states, particularly United States.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793057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U.S. Coast Guard mandated AIS on all vessels in U.S. waters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67373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Maritime Transportation Security Act integrated AIS into port security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741688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European Union rapidly deployed coastal AIS receiver networks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216003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data integrated into national maritime domain awareness systems</a:t>
            </a:r>
            <a:endParaRPr lang="en-US" sz="1200" dirty="0"/>
          </a:p>
        </p:txBody>
      </p:sp>
      <p:pic>
        <p:nvPicPr>
          <p:cNvPr id="10242" name="Picture 2" descr="September 11 attacks | History, Summary, Location, Timeline, Casualties, &amp;  Facts | Britannica">
            <a:extLst>
              <a:ext uri="{FF2B5EF4-FFF2-40B4-BE49-F238E27FC236}">
                <a16:creationId xmlns:a16="http://schemas.microsoft.com/office/drawing/2014/main" id="{F1AD4798-EB84-F808-0569-DFD9898E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54" y="1224027"/>
            <a:ext cx="2998035" cy="3458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e5a89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18158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27733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AIS Deployment Challenges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03400"/>
            <a:ext cx="4067175" cy="822871"/>
          </a:xfrm>
          <a:prstGeom prst="roundRect">
            <a:avLst>
              <a:gd name="adj" fmla="val 926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235580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Cost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553891"/>
            <a:ext cx="39153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A transponders $3,000-15,000 USD. Significant burden for small operators.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102471"/>
            <a:ext cx="4067175" cy="822871"/>
          </a:xfrm>
          <a:prstGeom prst="roundRect">
            <a:avLst>
              <a:gd name="adj" fmla="val 926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500" y="325487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 Complexity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452961"/>
            <a:ext cx="39153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integration with GPS, gyrocompass, radar. Professional installation needed.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19625" y="2203400"/>
            <a:ext cx="4067175" cy="822871"/>
          </a:xfrm>
          <a:prstGeom prst="roundRect">
            <a:avLst>
              <a:gd name="adj" fmla="val 926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33925" y="235580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Resistance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33925" y="2553891"/>
            <a:ext cx="39153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operators resisted due to privacy concerns. Fishing fleets worried about competition.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19625" y="3102471"/>
            <a:ext cx="4067175" cy="822871"/>
          </a:xfrm>
          <a:prstGeom prst="roundRect">
            <a:avLst>
              <a:gd name="adj" fmla="val 926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33925" y="325487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33925" y="3452961"/>
            <a:ext cx="39153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units had configuration errors. Incorrect vessel dimensions, outdated static data.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7e7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714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5810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Deployment Success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156668"/>
            <a:ext cx="8229600" cy="685800"/>
          </a:xfrm>
          <a:prstGeom prst="roundRect">
            <a:avLst>
              <a:gd name="adj" fmla="val 11111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0550" y="2328118"/>
            <a:ext cx="812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2012, AIS had become standard on virtually all commercial vessels worldwide. System proved invaluable for collision avoidance, traffic management, and search/rescue.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175843"/>
            <a:ext cx="2667000" cy="796230"/>
          </a:xfrm>
          <a:prstGeom prst="roundRect">
            <a:avLst>
              <a:gd name="adj" fmla="val 957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7116" y="3328243"/>
            <a:ext cx="24871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250,000+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47116" y="3659684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Vessels with AIS by 2012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38500" y="3175843"/>
            <a:ext cx="2667000" cy="796230"/>
          </a:xfrm>
          <a:prstGeom prst="roundRect">
            <a:avLst>
              <a:gd name="adj" fmla="val 957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28416" y="3328243"/>
            <a:ext cx="24871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328416" y="3659684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SOLAS vessel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19800" y="3175843"/>
            <a:ext cx="2667000" cy="796230"/>
          </a:xfrm>
          <a:prstGeom prst="roundRect">
            <a:avLst>
              <a:gd name="adj" fmla="val 957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09716" y="3328243"/>
            <a:ext cx="24871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4500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109716" y="3659684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Messages/min capacity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2c9b9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781" y="88381"/>
            <a:ext cx="4057651" cy="22824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38969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448544"/>
            <a:ext cx="454685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375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II: TECHNICAL ARCHITECTURE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57200" y="2037904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VHF Radio, SOTDMA Protocol, Message Structure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578894"/>
            <a:ext cx="4057650" cy="1525637"/>
          </a:xfrm>
          <a:prstGeom prst="roundRect">
            <a:avLst>
              <a:gd name="adj" fmla="val 4995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0550" y="2750344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Components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0550" y="298073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VHF transceiver (161.975 &amp; 162.025 MHz)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0550" y="317882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GPS/GNSS receiver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0550" y="337691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SOTDMA controller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0550" y="357500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Display interface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0550" y="377309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Sensor inputs (gyro, log)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29150" y="2578894"/>
            <a:ext cx="4057650" cy="1525637"/>
          </a:xfrm>
          <a:prstGeom prst="roundRect">
            <a:avLst>
              <a:gd name="adj" fmla="val 4995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750344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Technologies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62500" y="298073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GMSK modulation (9600 baud)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62500" y="317882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HDLC packet structure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62500" y="337691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CRC-16 error detection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62500" y="3575000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UTC time synchronization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62500" y="377309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Self-organizing slot reservation</a:t>
            </a:r>
            <a:endParaRPr lang="en-US" sz="1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8C5A03E-AF5D-A894-1DF6-406159CBA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031" y="88381"/>
            <a:ext cx="2282429" cy="228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47fb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5629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155204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VHF Radio Foundation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721346"/>
            <a:ext cx="8229600" cy="721965"/>
          </a:xfrm>
          <a:prstGeom prst="roundRect">
            <a:avLst>
              <a:gd name="adj" fmla="val 10555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0550" y="1892796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Marine VHF Band (156-162 MHz)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0550" y="2100411"/>
            <a:ext cx="81221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operates on two dedicated VHF channels protected from interference and reserved exclusively for maritime safety.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767161"/>
            <a:ext cx="4048125" cy="860971"/>
          </a:xfrm>
          <a:prstGeom prst="roundRect">
            <a:avLst>
              <a:gd name="adj" fmla="val 885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2736" y="2938611"/>
            <a:ext cx="38570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161.975 MHz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2736" y="3296692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Channel 1 / Channel 87B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38675" y="2767161"/>
            <a:ext cx="4048125" cy="860971"/>
          </a:xfrm>
          <a:prstGeom prst="roundRect">
            <a:avLst>
              <a:gd name="adj" fmla="val 885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34211" y="2938611"/>
            <a:ext cx="38570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162.025 MHz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34211" y="3296692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Channel 2 / Channel 88B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951982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1975" y="4094857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Bandwidth: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 kHz spacing, 9600 baud GMSK modulation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fdb3d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751" y="168459"/>
            <a:ext cx="4473623" cy="2516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1711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2669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VHF for AIS?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1" y="2230934"/>
            <a:ext cx="4473624" cy="641448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Maritime Propagation: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VHF signals propagate well over water. Line-of-sight range 20-40 NM depending on antenna height.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726234"/>
            <a:ext cx="4642625" cy="641447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Power Requirements: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 A: 12.5W, Class B: 2W. Enables battery operation, reduces complexity.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1" y="3221534"/>
            <a:ext cx="4642624" cy="641448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Infrastructure: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Ships already equipped with VHF. Antennas and RF systems familiar to marine engineers.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16833"/>
            <a:ext cx="4473625" cy="795693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Allocation: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Coordinated through ITU. No licensing fees for end users.</a:t>
            </a:r>
            <a:endParaRPr lang="en-US" sz="12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BE90FCF-156F-18D7-77F3-4F3A5F412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276" y="168459"/>
            <a:ext cx="3718699" cy="251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215870DB-2FB7-E70A-EB15-A65B4A3AB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847" y="2682788"/>
            <a:ext cx="3686968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1b78e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72393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981968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SOTDMA Protocol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548110"/>
            <a:ext cx="4263483" cy="1023640"/>
          </a:xfrm>
          <a:prstGeom prst="roundRect">
            <a:avLst>
              <a:gd name="adj" fmla="val 8585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1548110"/>
            <a:ext cx="0" cy="887611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1710035"/>
            <a:ext cx="81027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Self-Organizing Time Division Multiple Access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9125" y="1930895"/>
            <a:ext cx="3871099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SOTDMA enables thousands of vessels to share two VHF channels without collisions or central coordination. Each vessel autonomously selects transmission slots.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769096"/>
            <a:ext cx="235148" cy="236190"/>
          </a:xfrm>
          <a:prstGeom prst="roundRect">
            <a:avLst>
              <a:gd name="adj" fmla="val 44557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2925" y="2807196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8073" y="2807196"/>
            <a:ext cx="2805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all transmissions, build map of occupied slots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291036"/>
            <a:ext cx="235148" cy="236190"/>
          </a:xfrm>
          <a:prstGeom prst="roundRect">
            <a:avLst>
              <a:gd name="adj" fmla="val 44557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2925" y="3329136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8073" y="3329136"/>
            <a:ext cx="22165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available slot, announce reservation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812977"/>
            <a:ext cx="235148" cy="236190"/>
          </a:xfrm>
          <a:prstGeom prst="roundRect">
            <a:avLst>
              <a:gd name="adj" fmla="val 44557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2925" y="3851077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8073" y="3851077"/>
            <a:ext cx="23717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vessels hear reservation, avoid that slot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334917"/>
            <a:ext cx="235148" cy="236190"/>
          </a:xfrm>
          <a:prstGeom prst="roundRect">
            <a:avLst>
              <a:gd name="adj" fmla="val 44557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2925" y="4373017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8073" y="4373017"/>
            <a:ext cx="2254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self-organizes, scales automatically</a:t>
            </a:r>
            <a:endParaRPr lang="en-US" sz="1200" dirty="0"/>
          </a:p>
        </p:txBody>
      </p:sp>
      <p:pic>
        <p:nvPicPr>
          <p:cNvPr id="2050" name="Picture 2" descr="AIS Operation">
            <a:extLst>
              <a:ext uri="{FF2B5EF4-FFF2-40B4-BE49-F238E27FC236}">
                <a16:creationId xmlns:a16="http://schemas.microsoft.com/office/drawing/2014/main" id="{11215320-6969-1F54-770C-041AC5CD9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409" y="1542567"/>
            <a:ext cx="4073865" cy="275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b27f6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190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4286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Slot Allocation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994743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156668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Structure: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AIS channel divided into 2250 time slots per minute. One minute frame = 2250 slots × 26.67 milliseconds/slot.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813893"/>
            <a:ext cx="2667000" cy="750540"/>
          </a:xfrm>
          <a:prstGeom prst="roundRect">
            <a:avLst>
              <a:gd name="adj" fmla="val 10153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7401" y="2956768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7401" y="3261568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Slots/min per channel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38500" y="2813893"/>
            <a:ext cx="2667000" cy="750540"/>
          </a:xfrm>
          <a:prstGeom prst="roundRect">
            <a:avLst>
              <a:gd name="adj" fmla="val 10153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18701" y="2956768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26.67 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18701" y="3261568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 of each slot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19800" y="2813893"/>
            <a:ext cx="2667000" cy="750540"/>
          </a:xfrm>
          <a:prstGeom prst="roundRect">
            <a:avLst>
              <a:gd name="adj" fmla="val 10153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00001" y="2956768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00001" y="3261568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transmissions/min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926384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Collision Avoidance: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Vessels pre-announce next slot. If collision occurs, both randomly select new slots.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c3233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772" y="-147133"/>
            <a:ext cx="5238908" cy="2946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4194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45152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Message Types Overview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017662"/>
            <a:ext cx="3788497" cy="918892"/>
          </a:xfrm>
          <a:prstGeom prst="roundRect">
            <a:avLst>
              <a:gd name="adj" fmla="val 1183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61975" y="2160538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 1, 2, 3: Position Reports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1976" y="2358628"/>
            <a:ext cx="3628096" cy="37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position reports from Class A. MMSI, navigation status, rate of turn, SOG, position accuracy, lat/lon, COG, true heading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012755"/>
            <a:ext cx="8229600" cy="643830"/>
          </a:xfrm>
          <a:prstGeom prst="roundRect">
            <a:avLst>
              <a:gd name="adj" fmla="val 1183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155630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5: Static and Voyage 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1976" y="3353721"/>
            <a:ext cx="7801440" cy="159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Transmitted every 6 minutes. MMSI, IMO number, call sign, vessel name, ship type, dimensions, ETA, draft, destination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732786"/>
            <a:ext cx="8229600" cy="643830"/>
          </a:xfrm>
          <a:prstGeom prst="roundRect">
            <a:avLst>
              <a:gd name="adj" fmla="val 1183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1975" y="3875661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18: Class B Position Report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1975" y="4073751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Class B CSTDMA position report with reduced information set. SOG, position, COG, heading, timestamp</a:t>
            </a:r>
            <a:endParaRPr lang="en-US" sz="1200" dirty="0"/>
          </a:p>
        </p:txBody>
      </p:sp>
      <p:pic>
        <p:nvPicPr>
          <p:cNvPr id="12290" name="Picture 2" descr="Observed Frequency of AIS Message Types">
            <a:extLst>
              <a:ext uri="{FF2B5EF4-FFF2-40B4-BE49-F238E27FC236}">
                <a16:creationId xmlns:a16="http://schemas.microsoft.com/office/drawing/2014/main" id="{31076531-1DD0-412F-EEEC-8E6F874E1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774" y="412129"/>
            <a:ext cx="4496729" cy="245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0a999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0751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01709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Report Messages (Types 1/2/3)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583234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1745159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frequent AIS messages. Broadcast vessel position, course, and speed for collision avoidance.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440484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ID: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1 (scheduled), Type 2 (assigned), Type 3 (interrogation)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914799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MMSI: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30-bit Maritime Mobile Service Identity (unique vessel ID)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89114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Status: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 way, at anchor, not under command, moored, aground, fishing, under sail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863429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of Turn: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-720 to +720 degrees/minute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337745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Latitude ±90°, Longitude ±180°, precision 1/10,000 minute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76c79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0751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01709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Data Messages (Type 5)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1583234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1745159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Transmitted every 6 minutes and on request. Contains vessel identification, characteristics, and voyage information.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440484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IMO Number: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7-digit unique ship identification (permanent)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914799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Sign: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Radio call sign (up to 7 characters)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89114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Vessel Name: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 to 20 characters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863429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Type: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Passenger, cargo, tanker, fishing, pleasure craft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337745"/>
            <a:ext cx="8394192" cy="15999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2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Dimensions: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Distance to bow, stern, port, starboard from GPS antenna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ac9ca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Update Rates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dynamic update rates.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18933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6564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75222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A Equipment Specifications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341364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03289"/>
            <a:ext cx="8141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class a equipment specifications.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331964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474839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a3de6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6564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75222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B Equipment Specifications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341364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03289"/>
            <a:ext cx="8141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class b equipment specifications.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331964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474839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2164b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A vs B Comparison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class a vs b comparison.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ffac7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6564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75222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Encoding &amp; Structure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341364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03289"/>
            <a:ext cx="8141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message encoding &amp; structure.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331964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474839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8dcc6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SOTDMA Frame Structure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sotdma frame structure.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d5fdb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AIS Technology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satellite ais technology.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f386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6564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75222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Coverage Challenges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341364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03289"/>
            <a:ext cx="8141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specifications for satellite coverage challenges. AIS uses VHF radio with SOTDMA protocol for coordinated transmission among thousands of vessels.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331964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474839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enables automatic vessel identification, position reporting, and navigation data exchange in real-time across maritime VHF radio networks.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bf123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59780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269355"/>
            <a:ext cx="4206812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375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III: DATA ANALYTICS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57200" y="1858714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Maritime Intelligence and Pattern Recognition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399705"/>
            <a:ext cx="8229600" cy="685800"/>
          </a:xfrm>
          <a:prstGeom prst="roundRect">
            <a:avLst>
              <a:gd name="adj" fmla="val 11111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0550" y="2571155"/>
            <a:ext cx="812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generates massive data streams: 30-50 million position reports daily worldwide. Advanced analytics platforms process this data to extract maritime intelligence.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418880"/>
            <a:ext cx="4057650" cy="864691"/>
          </a:xfrm>
          <a:prstGeom prst="roundRect">
            <a:avLst>
              <a:gd name="adj" fmla="val 8812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81025" y="358080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Users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81025" y="3801666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Coast guards, navies, customs, fisheries enforcement, environmental agencies, port authorities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29150" y="3418880"/>
            <a:ext cx="4057650" cy="864691"/>
          </a:xfrm>
          <a:prstGeom prst="roundRect">
            <a:avLst>
              <a:gd name="adj" fmla="val 8812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52975" y="3580805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Users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752975" y="3801666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companies, insurers, commodity traders, logistics providers, market intelligence firms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a8b18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6564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75222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Maritime Domain Awareness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341364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03289"/>
            <a:ext cx="8141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maritime domain awareness.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331964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474839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ac70b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Vessel Tracking Platforms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vessel tracking platforms.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20b95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 &amp; ETA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predictive analytics &amp; eta.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60eb5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 Flow Analysis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trade flow analysis.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5b7bd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Illegal Fishing Detection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illegal fishing detection.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0cf75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Vessel Detection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dark vessel detection.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28a2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Transshipment Analysis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transshipment analysis.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9129d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6564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75222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Congestion Prediction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341364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03289"/>
            <a:ext cx="8141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port congestion prediction.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331964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474839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3153a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65647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75222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Monitoring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341364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03289"/>
            <a:ext cx="8141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environmental monitoring.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331964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474839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66cc9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51372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860947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Applications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427089"/>
            <a:ext cx="8229600" cy="495300"/>
          </a:xfrm>
          <a:prstGeom prst="roundRect">
            <a:avLst>
              <a:gd name="adj" fmla="val 1538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025" y="2589014"/>
            <a:ext cx="8141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applications for commercial applications. AIS data enables comprehensive maritime intelligence through pattern recognition and anomaly detection.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246239"/>
            <a:ext cx="8229600" cy="445740"/>
          </a:xfrm>
          <a:prstGeom prst="roundRect">
            <a:avLst>
              <a:gd name="adj" fmla="val 17095"/>
            </a:avLst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1975" y="3389114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process billions of AIS messages to identify suspicious activities and predict vessel movements for commercial and security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790d9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60809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170384"/>
            <a:ext cx="429425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375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SECURITY &amp; LIMITATIONS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57200" y="1759744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Vulnerabilities, Attacks, and System Weaknesses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300734"/>
            <a:ext cx="8229600" cy="906661"/>
          </a:xfrm>
          <a:prstGeom prst="roundRect">
            <a:avLst>
              <a:gd name="adj" fmla="val 840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6250" y="2300734"/>
            <a:ext cx="0" cy="90666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8650" y="2472184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 Design Limitation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628650" y="2693045"/>
            <a:ext cx="8083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designed in 1990s for cooperative maritime safety, NOT adversarial security. Protocol has NO cryptographic authentication, NO message integrity verification.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540770"/>
            <a:ext cx="4057650" cy="841921"/>
          </a:xfrm>
          <a:prstGeom prst="roundRect">
            <a:avLst>
              <a:gd name="adj" fmla="val 9051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81025" y="370269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Model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1025" y="3900785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assumes all broadcasts truthful. Any vessel can claim any identity or report false positions.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29150" y="3540770"/>
            <a:ext cx="4057650" cy="841921"/>
          </a:xfrm>
          <a:prstGeom prst="roundRect">
            <a:avLst>
              <a:gd name="adj" fmla="val 9051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52975" y="370269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2975" y="3900785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Nation-states, organized crime, sanctions evaders, illegal fishing operations exploit AIS vulnerabilities.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287e7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Spoofing &amp; Identity Theft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AIS Spoofing &amp; Identity Theft.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0b50a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Manipulation Attacks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Position Manipulation Attacks.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3597e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Ships (Phantom Vessels)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Ghost Ships (Phantom Vessels).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eee6a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Jamming Impact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GPS Jamming Impact.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d0540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Spoofing Attacks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GPS Spoofing Attacks.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67884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Shipping Operations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Dark Shipping Operations.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39ee9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Cryptographic Authentication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No Cryptographic Authentication.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94e34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Data Quality Issues.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fa874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5726"/>
            <a:ext cx="571500" cy="2857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695301"/>
            <a:ext cx="420681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825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Limitations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57200" y="2261443"/>
            <a:ext cx="8229600" cy="666750"/>
          </a:xfrm>
          <a:prstGeom prst="roundRect">
            <a:avLst>
              <a:gd name="adj" fmla="val 114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2261443"/>
            <a:ext cx="0" cy="66675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9125" y="2423368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vulnerability: Coverage Limitations. AIS has no cryptographic authentication, making it fundamentally vulnerable to spoofing and manipulation by adversaries.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252043"/>
            <a:ext cx="8229600" cy="605730"/>
          </a:xfrm>
          <a:prstGeom prst="roundRect">
            <a:avLst>
              <a:gd name="adj" fmla="val 1258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1975" y="3394918"/>
            <a:ext cx="81804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exploit lack of message authentication to broadcast false information, creating serious risks for maritime security, safety, and commercial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3901d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0321" y="1320552"/>
            <a:ext cx="1603209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048869" y="1809452"/>
            <a:ext cx="1046113" cy="1592461"/>
          </a:xfrm>
          <a:prstGeom prst="roundRect">
            <a:avLst>
              <a:gd name="adj" fmla="val 72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388166" y="2152352"/>
            <a:ext cx="36751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140"/>
              </a:lnSpc>
              <a:buNone/>
            </a:pPr>
            <a:r>
              <a:rPr lang="en-US" sz="51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3693052" y="3611463"/>
            <a:ext cx="17577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 Soudlenkov | GNZ | 2025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3372</TotalTime>
  <Words>2889</Words>
  <Application>Microsoft Macintosh PowerPoint</Application>
  <PresentationFormat>On-screen Show (16:9)</PresentationFormat>
  <Paragraphs>316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Courier New</vt:lpstr>
      <vt:lpstr>Inter</vt:lpstr>
      <vt:lpstr>Retina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Identification System: Complete Technical Overview</dc:title>
  <dc:subject>PptxGenJS Presentation</dc:subject>
  <dc:creator>Gene Soudlenkov</dc:creator>
  <cp:lastModifiedBy>Alexandra Soudlenkova</cp:lastModifiedBy>
  <cp:revision>12</cp:revision>
  <dcterms:created xsi:type="dcterms:W3CDTF">2025-12-20T00:52:30Z</dcterms:created>
  <dcterms:modified xsi:type="dcterms:W3CDTF">2025-12-22T09:06:34Z</dcterms:modified>
</cp:coreProperties>
</file>