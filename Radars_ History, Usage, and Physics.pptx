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5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308"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94"/>
  </p:normalViewPr>
  <p:slideViewPr>
    <p:cSldViewPr snapToGrid="0">
      <p:cViewPr varScale="1">
        <p:scale>
          <a:sx n="104" d="100"/>
          <a:sy n="104" d="100"/>
        </p:scale>
        <p:origin x="232" y="5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6" name="PlaceHolder 1"/>
          <p:cNvSpPr>
            <a:spLocks noGrp="1" noRot="1" noChangeAspect="1"/>
          </p:cNvSpPr>
          <p:nvPr>
            <p:ph type="sldImg"/>
          </p:nvPr>
        </p:nvSpPr>
        <p:spPr>
          <a:xfrm>
            <a:off x="216000" y="812520"/>
            <a:ext cx="7127280" cy="4008960"/>
          </a:xfrm>
          <a:prstGeom prst="rect">
            <a:avLst/>
          </a:prstGeom>
        </p:spPr>
        <p:txBody>
          <a:bodyPr lIns="0" tIns="0" rIns="0" bIns="0" anchor="ctr">
            <a:noAutofit/>
          </a:bodyPr>
          <a:lstStyle/>
          <a:p>
            <a:pPr algn="ctr"/>
            <a:r>
              <a:rPr lang="en-NZ" sz="4400" b="0" strike="noStrike" spc="-1">
                <a:latin typeface="Arial"/>
              </a:rPr>
              <a:t>Click to move the slide</a:t>
            </a:r>
          </a:p>
        </p:txBody>
      </p:sp>
      <p:sp>
        <p:nvSpPr>
          <p:cNvPr id="77" name="PlaceHolder 2"/>
          <p:cNvSpPr>
            <a:spLocks noGrp="1"/>
          </p:cNvSpPr>
          <p:nvPr>
            <p:ph type="body"/>
          </p:nvPr>
        </p:nvSpPr>
        <p:spPr>
          <a:xfrm>
            <a:off x="756000" y="5078520"/>
            <a:ext cx="6047640" cy="4811040"/>
          </a:xfrm>
          <a:prstGeom prst="rect">
            <a:avLst/>
          </a:prstGeom>
        </p:spPr>
        <p:txBody>
          <a:bodyPr lIns="0" tIns="0" rIns="0" bIns="0">
            <a:noAutofit/>
          </a:bodyPr>
          <a:lstStyle/>
          <a:p>
            <a:r>
              <a:rPr lang="en-NZ" sz="2000" b="0" strike="noStrike" spc="-1">
                <a:latin typeface="Arial"/>
              </a:rPr>
              <a:t>Click to edit the notes format</a:t>
            </a:r>
          </a:p>
        </p:txBody>
      </p:sp>
      <p:sp>
        <p:nvSpPr>
          <p:cNvPr id="78" name="PlaceHolder 3"/>
          <p:cNvSpPr>
            <a:spLocks noGrp="1"/>
          </p:cNvSpPr>
          <p:nvPr>
            <p:ph type="hdr"/>
          </p:nvPr>
        </p:nvSpPr>
        <p:spPr>
          <a:xfrm>
            <a:off x="0" y="0"/>
            <a:ext cx="3280680" cy="534240"/>
          </a:xfrm>
          <a:prstGeom prst="rect">
            <a:avLst/>
          </a:prstGeom>
        </p:spPr>
        <p:txBody>
          <a:bodyPr lIns="0" tIns="0" rIns="0" bIns="0">
            <a:noAutofit/>
          </a:bodyPr>
          <a:lstStyle/>
          <a:p>
            <a:r>
              <a:rPr lang="en-NZ" sz="1400" b="0" strike="noStrike" spc="-1">
                <a:latin typeface="Times New Roman"/>
              </a:rPr>
              <a:t>&lt;header&gt;</a:t>
            </a:r>
          </a:p>
        </p:txBody>
      </p:sp>
      <p:sp>
        <p:nvSpPr>
          <p:cNvPr id="79"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NZ" sz="1400" b="0" strike="noStrike" spc="-1">
                <a:latin typeface="Times New Roman"/>
              </a:rPr>
              <a:t>&lt;date/time&gt;</a:t>
            </a:r>
          </a:p>
        </p:txBody>
      </p:sp>
      <p:sp>
        <p:nvSpPr>
          <p:cNvPr id="80"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NZ" sz="1400" b="0" strike="noStrike" spc="-1">
                <a:latin typeface="Times New Roman"/>
              </a:rPr>
              <a:t>&lt;footer&gt;</a:t>
            </a:r>
          </a:p>
        </p:txBody>
      </p:sp>
      <p:sp>
        <p:nvSpPr>
          <p:cNvPr id="81"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97A1711E-C9C7-44B9-9F74-15A4EC09404D}" type="slidenum">
              <a:rPr lang="en-NZ" sz="1400" b="0" strike="noStrike" spc="-1">
                <a:latin typeface="Times New Roman"/>
              </a:rPr>
              <a:t>‹#›</a:t>
            </a:fld>
            <a:endParaRPr lang="en-NZ" sz="1400" b="0" strike="noStrike" spc="-1">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3" name="PlaceHolder 1"/>
          <p:cNvSpPr>
            <a:spLocks noGrp="1"/>
          </p:cNvSpPr>
          <p:nvPr>
            <p:ph type="body"/>
          </p:nvPr>
        </p:nvSpPr>
        <p:spPr>
          <a:xfrm>
            <a:off x="685800" y="4343400"/>
            <a:ext cx="5484600" cy="4113000"/>
          </a:xfrm>
          <a:prstGeom prst="rect">
            <a:avLst/>
          </a:prstGeom>
        </p:spPr>
        <p:txBody>
          <a:bodyPr lIns="0" tIns="91440" rIns="0" bIns="91440">
            <a:noAutofit/>
          </a:bodyPr>
          <a:lstStyle/>
          <a:p>
            <a:pPr marL="216000" indent="-215280">
              <a:lnSpc>
                <a:spcPct val="100000"/>
              </a:lnSpc>
              <a:tabLst>
                <a:tab pos="0" algn="l"/>
              </a:tabLst>
            </a:pPr>
            <a:r>
              <a:rPr lang="en-NZ" sz="1100" b="0" strike="noStrike" spc="-1">
                <a:latin typeface="Arial"/>
              </a:rPr>
              <a:t>Since WW1 it had been realised that the threat of attack by air was very real. In WW1 the UK had suffered over fifty bombing raids from German Zeppelin airships, and later Gotha bomber aircraft, on London, Great Yarmouth, Ramsgate and others, with a total of 1,392 civilian dead and 3,330 injured, and it was evident that there was no effective means of providing early warning against such raids. The earliest attempts used a network of observers, and acoustic techniques based on large horns or reflectors, but these only worked at all when conditions were optimal. The pictures below show some schemes of this kind.</a:t>
            </a:r>
          </a:p>
          <a:p>
            <a:pPr marL="216000" indent="-215280">
              <a:lnSpc>
                <a:spcPct val="100000"/>
              </a:lnSpc>
              <a:tabLst>
                <a:tab pos="0" algn="l"/>
              </a:tabLst>
            </a:pPr>
            <a:endParaRPr lang="en-NZ" sz="1100" b="0" strike="noStrike" spc="-1">
              <a:latin typeface="Arial"/>
            </a:endParaRPr>
          </a:p>
          <a:p>
            <a:pPr marL="216000" indent="-215280">
              <a:lnSpc>
                <a:spcPct val="100000"/>
              </a:lnSpc>
              <a:tabLst>
                <a:tab pos="0" algn="l"/>
              </a:tabLst>
            </a:pPr>
            <a:r>
              <a:rPr lang="en-NZ" sz="1100" b="0" strike="noStrike" spc="-1">
                <a:latin typeface="Arial"/>
              </a:rPr>
              <a:t>Everything cooperating, the aircraft would probably be heard 8 miles away, could, infrequently be heard at sixteen miles, and the record for the course was about twenty-four – I do not know that the Big Ear ever detected a wholly unexpected aircraft approaching from the most favourable direction at this latter range. All this was, moreover, conditional on the visitor keeping to the fairway.</a:t>
            </a:r>
          </a:p>
        </p:txBody>
      </p:sp>
      <p:sp>
        <p:nvSpPr>
          <p:cNvPr id="624" name="PlaceHolder 2"/>
          <p:cNvSpPr>
            <a:spLocks noGrp="1" noRot="1" noChangeAspect="1"/>
          </p:cNvSpPr>
          <p:nvPr>
            <p:ph type="sldImg"/>
          </p:nvPr>
        </p:nvSpPr>
        <p:spPr>
          <a:xfrm>
            <a:off x="1143360" y="685800"/>
            <a:ext cx="4570560" cy="3427200"/>
          </a:xfrm>
          <a:prstGeom prst="rect">
            <a:avLst/>
          </a:pr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NZ"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NZ" sz="3200" b="0" strike="noStrike" spc="-1">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NZ"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NZ" sz="3200" b="0" strike="noStrike" spc="-1">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NZ" sz="3200" b="0" strike="noStrike" spc="-1">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NZ" sz="3200" b="0" strike="noStrike" spc="-1">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NZ" sz="3200" b="0" strike="noStrike" spc="-1">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NZ" sz="3200" b="0" strike="noStrike" spc="-1">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NZ" sz="3200" b="0" strike="noStrike" spc="-1">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NZ" sz="3200" b="0" strike="noStrike" spc="-1">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NZ" sz="3200" b="0" strike="noStrike" spc="-1">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NZ" sz="3200" b="0" strike="noStrike" spc="-1">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NZ" sz="3200" b="0" strike="noStrike" spc="-1">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NZ" sz="3200" b="0" strike="noStrike" spc="-1">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NZ" sz="3200" b="0" strike="noStrike" spc="-1">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NZ" sz="3200" b="0" strike="noStrike" spc="-1">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NZ" sz="3200" b="0" strike="noStrike" spc="-1">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NZ" sz="3200" b="0" strike="noStrike" spc="-1">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0"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4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NZ"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4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4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NZ" sz="3200" b="0" strike="noStrike" spc="-1">
              <a:latin typeface="Arial"/>
            </a:endParaRPr>
          </a:p>
        </p:txBody>
      </p:sp>
      <p:sp>
        <p:nvSpPr>
          <p:cNvPr id="4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4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NZ"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5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NZ" sz="3200" b="0" strike="noStrike" spc="-1">
              <a:latin typeface="Arial"/>
            </a:endParaRPr>
          </a:p>
        </p:txBody>
      </p:sp>
      <p:sp>
        <p:nvSpPr>
          <p:cNvPr id="5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NZ" sz="3200" b="0" strike="noStrike" spc="-1">
              <a:latin typeface="Arial"/>
            </a:endParaRPr>
          </a:p>
        </p:txBody>
      </p:sp>
      <p:sp>
        <p:nvSpPr>
          <p:cNvPr id="5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5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NZ" sz="3200" b="0" strike="noStrike" spc="-1">
              <a:latin typeface="Arial"/>
            </a:endParaRPr>
          </a:p>
        </p:txBody>
      </p:sp>
      <p:sp>
        <p:nvSpPr>
          <p:cNvPr id="5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NZ" sz="3200" b="0" strike="noStrike" spc="-1">
              <a:latin typeface="Arial"/>
            </a:endParaRPr>
          </a:p>
        </p:txBody>
      </p:sp>
      <p:sp>
        <p:nvSpPr>
          <p:cNvPr id="5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NZ" sz="3200" b="0" strike="noStrike" spc="-1">
              <a:latin typeface="Arial"/>
            </a:endParaRPr>
          </a:p>
        </p:txBody>
      </p:sp>
      <p:sp>
        <p:nvSpPr>
          <p:cNvPr id="5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NZ" sz="3200" b="0" strike="noStrike" spc="-1">
              <a:latin typeface="Arial"/>
            </a:endParaRPr>
          </a:p>
        </p:txBody>
      </p:sp>
      <p:sp>
        <p:nvSpPr>
          <p:cNvPr id="6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6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NZ" sz="3200" b="0" strike="noStrike" spc="-1">
              <a:latin typeface="Arial"/>
            </a:endParaRPr>
          </a:p>
        </p:txBody>
      </p:sp>
      <p:sp>
        <p:nvSpPr>
          <p:cNvPr id="6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6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NZ" sz="3200" b="0" strike="noStrike" spc="-1">
              <a:latin typeface="Arial"/>
            </a:endParaRPr>
          </a:p>
        </p:txBody>
      </p:sp>
      <p:sp>
        <p:nvSpPr>
          <p:cNvPr id="6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NZ" sz="3200" b="0" strike="noStrike" spc="-1">
              <a:latin typeface="Arial"/>
            </a:endParaRPr>
          </a:p>
        </p:txBody>
      </p:sp>
      <p:sp>
        <p:nvSpPr>
          <p:cNvPr id="6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NZ" sz="3200" b="0" strike="noStrike" spc="-1">
              <a:latin typeface="Arial"/>
            </a:endParaRPr>
          </a:p>
        </p:txBody>
      </p:sp>
      <p:sp>
        <p:nvSpPr>
          <p:cNvPr id="6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NZ" sz="4400" b="0" strike="noStrike" spc="-1">
              <a:latin typeface="Arial"/>
            </a:endParaRPr>
          </a:p>
        </p:txBody>
      </p:sp>
      <p:sp>
        <p:nvSpPr>
          <p:cNvPr id="7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NZ" sz="3200" b="0" strike="noStrike" spc="-1">
              <a:latin typeface="Arial"/>
            </a:endParaRPr>
          </a:p>
        </p:txBody>
      </p:sp>
      <p:sp>
        <p:nvSpPr>
          <p:cNvPr id="7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NZ" sz="3200" b="0" strike="noStrike" spc="-1">
              <a:latin typeface="Arial"/>
            </a:endParaRPr>
          </a:p>
        </p:txBody>
      </p:sp>
      <p:sp>
        <p:nvSpPr>
          <p:cNvPr id="7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NZ" sz="3200" b="0" strike="noStrike" spc="-1">
              <a:latin typeface="Arial"/>
            </a:endParaRPr>
          </a:p>
        </p:txBody>
      </p:sp>
      <p:sp>
        <p:nvSpPr>
          <p:cNvPr id="7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NZ" sz="3200" b="0" strike="noStrike" spc="-1">
              <a:latin typeface="Arial"/>
            </a:endParaRPr>
          </a:p>
        </p:txBody>
      </p:sp>
      <p:sp>
        <p:nvSpPr>
          <p:cNvPr id="7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NZ" sz="3200" b="0" strike="noStrike" spc="-1">
              <a:latin typeface="Arial"/>
            </a:endParaRPr>
          </a:p>
        </p:txBody>
      </p:sp>
      <p:sp>
        <p:nvSpPr>
          <p:cNvPr id="7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NZ"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r>
              <a:rPr lang="en-NZ" sz="4400" b="0" strike="noStrike" spc="-1">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NZ"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NZ" sz="2800" b="0" strike="noStrike" spc="-1">
                <a:latin typeface="Arial"/>
              </a:rPr>
              <a:t>Second Outline Level</a:t>
            </a:r>
          </a:p>
          <a:p>
            <a:pPr marL="1296000" lvl="2" indent="-288000">
              <a:spcBef>
                <a:spcPts val="850"/>
              </a:spcBef>
              <a:buClr>
                <a:srgbClr val="000000"/>
              </a:buClr>
              <a:buSzPct val="45000"/>
              <a:buFont typeface="Wingdings" charset="2"/>
              <a:buChar char=""/>
            </a:pPr>
            <a:r>
              <a:rPr lang="en-NZ" sz="2400" b="0" strike="noStrike" spc="-1">
                <a:latin typeface="Arial"/>
              </a:rPr>
              <a:t>Third Outline Level</a:t>
            </a:r>
          </a:p>
          <a:p>
            <a:pPr marL="1728000" lvl="3" indent="-216000">
              <a:spcBef>
                <a:spcPts val="567"/>
              </a:spcBef>
              <a:buClr>
                <a:srgbClr val="000000"/>
              </a:buClr>
              <a:buSzPct val="75000"/>
              <a:buFont typeface="Symbol" charset="2"/>
              <a:buChar char=""/>
            </a:pPr>
            <a:r>
              <a:rPr lang="en-NZ" sz="2000" b="0" strike="noStrike" spc="-1">
                <a:latin typeface="Arial"/>
              </a:rPr>
              <a:t>Fourth Outline Level</a:t>
            </a:r>
          </a:p>
          <a:p>
            <a:pPr marL="2160000" lvl="4" indent="-216000">
              <a:spcBef>
                <a:spcPts val="283"/>
              </a:spcBef>
              <a:buClr>
                <a:srgbClr val="000000"/>
              </a:buClr>
              <a:buSzPct val="45000"/>
              <a:buFont typeface="Wingdings" charset="2"/>
              <a:buChar char=""/>
            </a:pPr>
            <a:r>
              <a:rPr lang="en-NZ" sz="2000" b="0" strike="noStrike" spc="-1">
                <a:latin typeface="Arial"/>
              </a:rPr>
              <a:t>Fifth Outline Level</a:t>
            </a:r>
          </a:p>
          <a:p>
            <a:pPr marL="2592000" lvl="5" indent="-216000">
              <a:spcBef>
                <a:spcPts val="283"/>
              </a:spcBef>
              <a:buClr>
                <a:srgbClr val="000000"/>
              </a:buClr>
              <a:buSzPct val="45000"/>
              <a:buFont typeface="Wingdings" charset="2"/>
              <a:buChar char=""/>
            </a:pPr>
            <a:r>
              <a:rPr lang="en-NZ" sz="2000" b="0" strike="noStrike" spc="-1">
                <a:latin typeface="Arial"/>
              </a:rPr>
              <a:t>Sixth Outline Level</a:t>
            </a:r>
          </a:p>
          <a:p>
            <a:pPr marL="3024000" lvl="6" indent="-216000">
              <a:spcBef>
                <a:spcPts val="283"/>
              </a:spcBef>
              <a:buClr>
                <a:srgbClr val="000000"/>
              </a:buClr>
              <a:buSzPct val="45000"/>
              <a:buFont typeface="Wingdings" charset="2"/>
              <a:buChar char=""/>
            </a:pPr>
            <a:r>
              <a:rPr lang="en-NZ"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r>
              <a:rPr lang="en-NZ" sz="4400" b="0" strike="noStrike" spc="-1">
                <a:latin typeface="Arial"/>
              </a:rPr>
              <a:t>Click to edit the title text format</a:t>
            </a:r>
          </a:p>
        </p:txBody>
      </p:sp>
      <p:sp>
        <p:nvSpPr>
          <p:cNvPr id="39"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NZ"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NZ" sz="2800" b="0" strike="noStrike" spc="-1">
                <a:latin typeface="Arial"/>
              </a:rPr>
              <a:t>Second Outline Level</a:t>
            </a:r>
          </a:p>
          <a:p>
            <a:pPr marL="1296000" lvl="2" indent="-288000">
              <a:spcBef>
                <a:spcPts val="850"/>
              </a:spcBef>
              <a:buClr>
                <a:srgbClr val="000000"/>
              </a:buClr>
              <a:buSzPct val="45000"/>
              <a:buFont typeface="Wingdings" charset="2"/>
              <a:buChar char=""/>
            </a:pPr>
            <a:r>
              <a:rPr lang="en-NZ" sz="2400" b="0" strike="noStrike" spc="-1">
                <a:latin typeface="Arial"/>
              </a:rPr>
              <a:t>Third Outline Level</a:t>
            </a:r>
          </a:p>
          <a:p>
            <a:pPr marL="1728000" lvl="3" indent="-216000">
              <a:spcBef>
                <a:spcPts val="567"/>
              </a:spcBef>
              <a:buClr>
                <a:srgbClr val="000000"/>
              </a:buClr>
              <a:buSzPct val="75000"/>
              <a:buFont typeface="Symbol" charset="2"/>
              <a:buChar char=""/>
            </a:pPr>
            <a:r>
              <a:rPr lang="en-NZ" sz="2000" b="0" strike="noStrike" spc="-1">
                <a:latin typeface="Arial"/>
              </a:rPr>
              <a:t>Fourth Outline Level</a:t>
            </a:r>
          </a:p>
          <a:p>
            <a:pPr marL="2160000" lvl="4" indent="-216000">
              <a:spcBef>
                <a:spcPts val="283"/>
              </a:spcBef>
              <a:buClr>
                <a:srgbClr val="000000"/>
              </a:buClr>
              <a:buSzPct val="45000"/>
              <a:buFont typeface="Wingdings" charset="2"/>
              <a:buChar char=""/>
            </a:pPr>
            <a:r>
              <a:rPr lang="en-NZ" sz="2000" b="0" strike="noStrike" spc="-1">
                <a:latin typeface="Arial"/>
              </a:rPr>
              <a:t>Fifth Outline Level</a:t>
            </a:r>
          </a:p>
          <a:p>
            <a:pPr marL="2592000" lvl="5" indent="-216000">
              <a:spcBef>
                <a:spcPts val="283"/>
              </a:spcBef>
              <a:buClr>
                <a:srgbClr val="000000"/>
              </a:buClr>
              <a:buSzPct val="45000"/>
              <a:buFont typeface="Wingdings" charset="2"/>
              <a:buChar char=""/>
            </a:pPr>
            <a:r>
              <a:rPr lang="en-NZ" sz="2000" b="0" strike="noStrike" spc="-1">
                <a:latin typeface="Arial"/>
              </a:rPr>
              <a:t>Sixth Outline Level</a:t>
            </a:r>
          </a:p>
          <a:p>
            <a:pPr marL="3024000" lvl="6" indent="-216000">
              <a:spcBef>
                <a:spcPts val="283"/>
              </a:spcBef>
              <a:buClr>
                <a:srgbClr val="000000"/>
              </a:buClr>
              <a:buSzPct val="45000"/>
              <a:buFont typeface="Wingdings" charset="2"/>
              <a:buChar char=""/>
            </a:pPr>
            <a:r>
              <a:rPr lang="en-NZ"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7.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7.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3.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3.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2.png"/></Relationships>
</file>

<file path=ppt/slides/_rels/slide4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2.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2.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4.png"/></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2.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2.png"/></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6.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9.png"/><Relationship Id="rId4" Type="http://schemas.openxmlformats.org/officeDocument/2006/relationships/image" Target="../media/image5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2" name="Google Shape;84;p13" descr="image.png"/>
          <p:cNvPicPr/>
          <p:nvPr/>
        </p:nvPicPr>
        <p:blipFill>
          <a:blip r:embed="rId2"/>
          <a:stretch/>
        </p:blipFill>
        <p:spPr>
          <a:xfrm>
            <a:off x="0" y="0"/>
            <a:ext cx="12191400" cy="6857280"/>
          </a:xfrm>
          <a:prstGeom prst="rect">
            <a:avLst/>
          </a:prstGeom>
          <a:ln w="0">
            <a:noFill/>
          </a:ln>
        </p:spPr>
      </p:pic>
      <p:pic>
        <p:nvPicPr>
          <p:cNvPr id="83" name="Google Shape;85;p13" descr="image.png"/>
          <p:cNvPicPr/>
          <p:nvPr/>
        </p:nvPicPr>
        <p:blipFill>
          <a:blip r:embed="rId3"/>
          <a:stretch/>
        </p:blipFill>
        <p:spPr>
          <a:xfrm>
            <a:off x="9360" y="9360"/>
            <a:ext cx="12172320" cy="266040"/>
          </a:xfrm>
          <a:prstGeom prst="rect">
            <a:avLst/>
          </a:prstGeom>
          <a:ln w="0">
            <a:noFill/>
          </a:ln>
        </p:spPr>
      </p:pic>
      <p:pic>
        <p:nvPicPr>
          <p:cNvPr id="84" name="Google Shape;86;p13" descr="image.png"/>
          <p:cNvPicPr/>
          <p:nvPr/>
        </p:nvPicPr>
        <p:blipFill>
          <a:blip r:embed="rId3"/>
          <a:stretch/>
        </p:blipFill>
        <p:spPr>
          <a:xfrm>
            <a:off x="9360" y="6581880"/>
            <a:ext cx="12172320" cy="266040"/>
          </a:xfrm>
          <a:prstGeom prst="rect">
            <a:avLst/>
          </a:prstGeom>
          <a:ln w="0">
            <a:noFill/>
          </a:ln>
        </p:spPr>
      </p:pic>
      <p:sp>
        <p:nvSpPr>
          <p:cNvPr id="85" name="Google Shape;87;p13"/>
          <p:cNvSpPr/>
          <p:nvPr/>
        </p:nvSpPr>
        <p:spPr>
          <a:xfrm>
            <a:off x="305280" y="1843560"/>
            <a:ext cx="11580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00000"/>
              </a:lnSpc>
              <a:tabLst>
                <a:tab pos="0" algn="l"/>
              </a:tabLst>
            </a:pPr>
            <a:r>
              <a:rPr lang="en-US" sz="1200" b="1" strike="noStrike" spc="-1">
                <a:solidFill>
                  <a:srgbClr val="38BDF8"/>
                </a:solidFill>
                <a:latin typeface="Inter"/>
                <a:ea typeface="Inter"/>
              </a:rPr>
              <a:t>TECHNICAL SEMINAR</a:t>
            </a:r>
            <a:endParaRPr lang="en-NZ" sz="1200" b="0" strike="noStrike" spc="-1">
              <a:latin typeface="Arial"/>
            </a:endParaRPr>
          </a:p>
        </p:txBody>
      </p:sp>
      <p:sp>
        <p:nvSpPr>
          <p:cNvPr id="86" name="Google Shape;88;p13"/>
          <p:cNvSpPr/>
          <p:nvPr/>
        </p:nvSpPr>
        <p:spPr>
          <a:xfrm>
            <a:off x="305280" y="2568960"/>
            <a:ext cx="1158084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00000"/>
              </a:lnSpc>
              <a:tabLst>
                <a:tab pos="0" algn="l"/>
              </a:tabLst>
            </a:pPr>
            <a:r>
              <a:rPr lang="en-US" sz="4050" b="1" strike="noStrike" spc="-1">
                <a:solidFill>
                  <a:srgbClr val="E2E8F0"/>
                </a:solidFill>
                <a:latin typeface="Inter"/>
                <a:ea typeface="Inter"/>
              </a:rPr>
              <a:t>RADARS: HISTORY,</a:t>
            </a:r>
            <a:br/>
            <a:r>
              <a:rPr lang="en-US" sz="4050" b="1" strike="noStrike" spc="-1">
                <a:solidFill>
                  <a:srgbClr val="E2E8F0"/>
                </a:solidFill>
                <a:latin typeface="Inter"/>
                <a:ea typeface="Inter"/>
              </a:rPr>
              <a:t> PHYSICS &amp; LIMITATIONS</a:t>
            </a:r>
            <a:endParaRPr lang="en-NZ" sz="4050" b="0" strike="noStrike" spc="-1">
              <a:latin typeface="Arial"/>
            </a:endParaRPr>
          </a:p>
        </p:txBody>
      </p:sp>
      <p:sp>
        <p:nvSpPr>
          <p:cNvPr id="87" name="Google Shape;89;p13"/>
          <p:cNvSpPr/>
          <p:nvPr/>
        </p:nvSpPr>
        <p:spPr>
          <a:xfrm>
            <a:off x="581040" y="4093200"/>
            <a:ext cx="11029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50000"/>
              </a:lnSpc>
              <a:tabLst>
                <a:tab pos="0" algn="l"/>
              </a:tabLst>
            </a:pPr>
            <a:r>
              <a:rPr lang="en-US" sz="1800" b="0" strike="noStrike" spc="-1">
                <a:solidFill>
                  <a:srgbClr val="94A3B8"/>
                </a:solidFill>
                <a:latin typeface="Inter"/>
                <a:ea typeface="Inter"/>
              </a:rPr>
              <a:t>Complete Technical Overview</a:t>
            </a:r>
            <a:endParaRPr lang="en-NZ" sz="1800" b="0" strike="noStrike" spc="-1">
              <a:latin typeface="Arial"/>
            </a:endParaRPr>
          </a:p>
        </p:txBody>
      </p:sp>
      <p:sp>
        <p:nvSpPr>
          <p:cNvPr id="88" name="Google Shape;90;p13"/>
          <p:cNvSpPr/>
          <p:nvPr/>
        </p:nvSpPr>
        <p:spPr>
          <a:xfrm>
            <a:off x="581040" y="5236200"/>
            <a:ext cx="11029320" cy="15984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00000"/>
              </a:lnSpc>
              <a:tabLst>
                <a:tab pos="0" algn="l"/>
              </a:tabLst>
            </a:pPr>
            <a:r>
              <a:rPr lang="en-US" sz="1050" b="0" strike="noStrike" spc="-1">
                <a:solidFill>
                  <a:srgbClr val="475569"/>
                </a:solidFill>
                <a:latin typeface="JetBrains Mono"/>
                <a:ea typeface="JetBrains Mono"/>
              </a:rPr>
              <a:t>Gene Soudlenkov, GNZ, 2025</a:t>
            </a:r>
            <a:endParaRPr lang="en-NZ" sz="1050" b="0" strike="noStrike" spc="-1">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9" name="Google Shape;95;p14" descr="image.png"/>
          <p:cNvPicPr/>
          <p:nvPr/>
        </p:nvPicPr>
        <p:blipFill>
          <a:blip r:embed="rId2"/>
          <a:stretch/>
        </p:blipFill>
        <p:spPr>
          <a:xfrm>
            <a:off x="0" y="0"/>
            <a:ext cx="12191400" cy="6857280"/>
          </a:xfrm>
          <a:prstGeom prst="rect">
            <a:avLst/>
          </a:prstGeom>
          <a:ln w="0">
            <a:noFill/>
          </a:ln>
        </p:spPr>
      </p:pic>
      <p:pic>
        <p:nvPicPr>
          <p:cNvPr id="90" name="Google Shape;96;p14" descr="image.png"/>
          <p:cNvPicPr/>
          <p:nvPr/>
        </p:nvPicPr>
        <p:blipFill>
          <a:blip r:embed="rId3"/>
          <a:stretch/>
        </p:blipFill>
        <p:spPr>
          <a:xfrm>
            <a:off x="581040" y="3132720"/>
            <a:ext cx="3548880" cy="1749240"/>
          </a:xfrm>
          <a:prstGeom prst="rect">
            <a:avLst/>
          </a:prstGeom>
          <a:ln w="0">
            <a:noFill/>
          </a:ln>
        </p:spPr>
      </p:pic>
      <p:pic>
        <p:nvPicPr>
          <p:cNvPr id="91" name="Google Shape;97;p14" descr="image.png"/>
          <p:cNvPicPr/>
          <p:nvPr/>
        </p:nvPicPr>
        <p:blipFill>
          <a:blip r:embed="rId4"/>
          <a:stretch/>
        </p:blipFill>
        <p:spPr>
          <a:xfrm>
            <a:off x="4321080" y="3132720"/>
            <a:ext cx="3548880" cy="1749240"/>
          </a:xfrm>
          <a:prstGeom prst="rect">
            <a:avLst/>
          </a:prstGeom>
          <a:ln w="0">
            <a:noFill/>
          </a:ln>
        </p:spPr>
      </p:pic>
      <p:pic>
        <p:nvPicPr>
          <p:cNvPr id="92" name="Google Shape;98;p14" descr="image.png"/>
          <p:cNvPicPr/>
          <p:nvPr/>
        </p:nvPicPr>
        <p:blipFill>
          <a:blip r:embed="rId5"/>
          <a:stretch/>
        </p:blipFill>
        <p:spPr>
          <a:xfrm>
            <a:off x="8061120" y="3132720"/>
            <a:ext cx="3548880" cy="1749240"/>
          </a:xfrm>
          <a:prstGeom prst="rect">
            <a:avLst/>
          </a:prstGeom>
          <a:ln w="0">
            <a:noFill/>
          </a:ln>
        </p:spPr>
      </p:pic>
      <p:pic>
        <p:nvPicPr>
          <p:cNvPr id="93" name="Google Shape;99;p14" descr="image.png"/>
          <p:cNvPicPr/>
          <p:nvPr/>
        </p:nvPicPr>
        <p:blipFill>
          <a:blip r:embed="rId6"/>
          <a:stretch/>
        </p:blipFill>
        <p:spPr>
          <a:xfrm>
            <a:off x="9360" y="9360"/>
            <a:ext cx="12172320" cy="266040"/>
          </a:xfrm>
          <a:prstGeom prst="rect">
            <a:avLst/>
          </a:prstGeom>
          <a:ln w="0">
            <a:noFill/>
          </a:ln>
        </p:spPr>
      </p:pic>
      <p:pic>
        <p:nvPicPr>
          <p:cNvPr id="94" name="Google Shape;100;p14" descr="image.png"/>
          <p:cNvPicPr/>
          <p:nvPr/>
        </p:nvPicPr>
        <p:blipFill>
          <a:blip r:embed="rId6"/>
          <a:stretch/>
        </p:blipFill>
        <p:spPr>
          <a:xfrm>
            <a:off x="9360" y="6581880"/>
            <a:ext cx="12172320" cy="266040"/>
          </a:xfrm>
          <a:prstGeom prst="rect">
            <a:avLst/>
          </a:prstGeom>
          <a:ln w="0">
            <a:noFill/>
          </a:ln>
        </p:spPr>
      </p:pic>
      <p:sp>
        <p:nvSpPr>
          <p:cNvPr id="95" name="Google Shape;101;p14"/>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Briefing Agenda</a:t>
            </a:r>
            <a:endParaRPr lang="en-NZ" sz="2400" b="0" strike="noStrike" spc="-1">
              <a:latin typeface="Arial"/>
            </a:endParaRPr>
          </a:p>
        </p:txBody>
      </p:sp>
      <p:sp>
        <p:nvSpPr>
          <p:cNvPr id="96" name="Google Shape;102;p14"/>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97" name="Google Shape;103;p14"/>
          <p:cNvSpPr/>
          <p:nvPr/>
        </p:nvSpPr>
        <p:spPr>
          <a:xfrm>
            <a:off x="78120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01 // Origins</a:t>
            </a:r>
            <a:endParaRPr lang="en-NZ" sz="1410" b="0" strike="noStrike" spc="-1">
              <a:latin typeface="Arial"/>
            </a:endParaRPr>
          </a:p>
        </p:txBody>
      </p:sp>
      <p:sp>
        <p:nvSpPr>
          <p:cNvPr id="98" name="Google Shape;104;p14"/>
          <p:cNvSpPr/>
          <p:nvPr/>
        </p:nvSpPr>
        <p:spPr>
          <a:xfrm>
            <a:off x="78120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Pre-electronic detection and the birth of radar.</a:t>
            </a:r>
            <a:endParaRPr lang="en-NZ" sz="1500" b="0" strike="noStrike" spc="-1">
              <a:latin typeface="Arial"/>
            </a:endParaRPr>
          </a:p>
        </p:txBody>
      </p:sp>
      <p:sp>
        <p:nvSpPr>
          <p:cNvPr id="99" name="Google Shape;105;p14"/>
          <p:cNvSpPr/>
          <p:nvPr/>
        </p:nvSpPr>
        <p:spPr>
          <a:xfrm>
            <a:off x="452124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02 // Physics</a:t>
            </a:r>
            <a:endParaRPr lang="en-NZ" sz="1410" b="0" strike="noStrike" spc="-1">
              <a:latin typeface="Arial"/>
            </a:endParaRPr>
          </a:p>
        </p:txBody>
      </p:sp>
      <p:sp>
        <p:nvSpPr>
          <p:cNvPr id="100" name="Google Shape;106;p14"/>
          <p:cNvSpPr/>
          <p:nvPr/>
        </p:nvSpPr>
        <p:spPr>
          <a:xfrm>
            <a:off x="452124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Range, Doppler, Pulse Mechanics, and Gating.</a:t>
            </a:r>
            <a:endParaRPr lang="en-NZ" sz="1500" b="0" strike="noStrike" spc="-1">
              <a:latin typeface="Arial"/>
            </a:endParaRPr>
          </a:p>
        </p:txBody>
      </p:sp>
      <p:sp>
        <p:nvSpPr>
          <p:cNvPr id="101" name="Google Shape;107;p14"/>
          <p:cNvSpPr/>
          <p:nvPr/>
        </p:nvSpPr>
        <p:spPr>
          <a:xfrm>
            <a:off x="826128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03 // Modern Tech</a:t>
            </a:r>
            <a:endParaRPr lang="en-NZ" sz="1410" b="0" strike="noStrike" spc="-1">
              <a:latin typeface="Arial"/>
            </a:endParaRPr>
          </a:p>
        </p:txBody>
      </p:sp>
      <p:sp>
        <p:nvSpPr>
          <p:cNvPr id="102" name="Google Shape;108;p14"/>
          <p:cNvSpPr/>
          <p:nvPr/>
        </p:nvSpPr>
        <p:spPr>
          <a:xfrm>
            <a:off x="826128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AESA, Stealth, and Civilian Applications.</a:t>
            </a:r>
            <a:endParaRPr lang="en-NZ" sz="1500" b="0" strike="noStrike" spc="-1">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 name="Google Shape;126;p16_0" descr="image.png"/>
          <p:cNvPicPr/>
          <p:nvPr/>
        </p:nvPicPr>
        <p:blipFill>
          <a:blip r:embed="rId3"/>
          <a:stretch/>
        </p:blipFill>
        <p:spPr>
          <a:xfrm>
            <a:off x="9360" y="-17280"/>
            <a:ext cx="12190320" cy="6856200"/>
          </a:xfrm>
          <a:prstGeom prst="rect">
            <a:avLst/>
          </a:prstGeom>
          <a:ln w="0">
            <a:noFill/>
          </a:ln>
        </p:spPr>
      </p:pic>
      <p:pic>
        <p:nvPicPr>
          <p:cNvPr id="104" name="Google Shape;127;p16_1" descr="image.png"/>
          <p:cNvPicPr/>
          <p:nvPr/>
        </p:nvPicPr>
        <p:blipFill>
          <a:blip r:embed="rId4"/>
          <a:stretch/>
        </p:blipFill>
        <p:spPr>
          <a:xfrm>
            <a:off x="9360" y="9360"/>
            <a:ext cx="12171240" cy="264960"/>
          </a:xfrm>
          <a:prstGeom prst="rect">
            <a:avLst/>
          </a:prstGeom>
          <a:ln w="0">
            <a:noFill/>
          </a:ln>
        </p:spPr>
      </p:pic>
      <p:pic>
        <p:nvPicPr>
          <p:cNvPr id="105" name="Google Shape;128;p16_1" descr="image.png"/>
          <p:cNvPicPr/>
          <p:nvPr/>
        </p:nvPicPr>
        <p:blipFill>
          <a:blip r:embed="rId4"/>
          <a:stretch/>
        </p:blipFill>
        <p:spPr>
          <a:xfrm>
            <a:off x="9360" y="6581880"/>
            <a:ext cx="12171240" cy="264960"/>
          </a:xfrm>
          <a:prstGeom prst="rect">
            <a:avLst/>
          </a:prstGeom>
          <a:ln w="0">
            <a:noFill/>
          </a:ln>
        </p:spPr>
      </p:pic>
      <p:sp>
        <p:nvSpPr>
          <p:cNvPr id="106" name="Google Shape;130;p16_0"/>
          <p:cNvSpPr/>
          <p:nvPr/>
        </p:nvSpPr>
        <p:spPr>
          <a:xfrm>
            <a:off x="4570200" y="2021400"/>
            <a:ext cx="7128720" cy="123228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350" b="0" strike="noStrike" spc="-1">
                <a:solidFill>
                  <a:srgbClr val="CBD5E1"/>
                </a:solidFill>
                <a:latin typeface="Inter"/>
                <a:ea typeface="Inter"/>
              </a:rPr>
              <a:t>Usually contain four sound-absorbing elements, such as curved shells or horns that are used in pairs. Two elements at a fixed mutual distance were adjustable in the horizontal plane for the determination of the map angle. The other two shells or horns could be adjusted in the vertical plane to measure the elevation</a:t>
            </a:r>
            <a:endParaRPr lang="en-NZ" sz="1350" b="0" strike="noStrike" spc="-1">
              <a:latin typeface="Arial"/>
            </a:endParaRPr>
          </a:p>
        </p:txBody>
      </p:sp>
      <p:sp>
        <p:nvSpPr>
          <p:cNvPr id="107" name="Google Shape;137;p16_1"/>
          <p:cNvSpPr/>
          <p:nvPr/>
        </p:nvSpPr>
        <p:spPr>
          <a:xfrm>
            <a:off x="581040" y="708120"/>
            <a:ext cx="1157976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700" b="1" strike="noStrike" spc="-1">
                <a:solidFill>
                  <a:srgbClr val="38BDF8"/>
                </a:solidFill>
                <a:latin typeface="JetBrains Mono"/>
                <a:ea typeface="JetBrains Mono"/>
              </a:rPr>
              <a:t>1915-1940s: Aeroacoustics – early devices</a:t>
            </a:r>
            <a:endParaRPr lang="en-NZ" sz="2700" b="0" strike="noStrike" spc="-1">
              <a:latin typeface="Arial"/>
            </a:endParaRPr>
          </a:p>
        </p:txBody>
      </p:sp>
      <p:sp>
        <p:nvSpPr>
          <p:cNvPr id="108" name="Google Shape;138;p16_1"/>
          <p:cNvSpPr/>
          <p:nvPr/>
        </p:nvSpPr>
        <p:spPr>
          <a:xfrm>
            <a:off x="581040" y="1276200"/>
            <a:ext cx="11028240" cy="1728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09" name="Google Shape;139;p16_1"/>
          <p:cNvSpPr/>
          <p:nvPr/>
        </p:nvSpPr>
        <p:spPr>
          <a:xfrm>
            <a:off x="4606200" y="1487160"/>
            <a:ext cx="553896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Supplement to visual means for the artillery</a:t>
            </a:r>
            <a:endParaRPr lang="en-NZ" sz="1410" b="0" strike="noStrike" spc="-1">
              <a:latin typeface="Arial"/>
            </a:endParaRPr>
          </a:p>
        </p:txBody>
      </p:sp>
      <p:pic>
        <p:nvPicPr>
          <p:cNvPr id="110" name="Picture 80_1"/>
          <p:cNvPicPr/>
          <p:nvPr/>
        </p:nvPicPr>
        <p:blipFill>
          <a:blip r:embed="rId5"/>
          <a:stretch/>
        </p:blipFill>
        <p:spPr>
          <a:xfrm>
            <a:off x="720000" y="1225440"/>
            <a:ext cx="2698920" cy="2373480"/>
          </a:xfrm>
          <a:prstGeom prst="rect">
            <a:avLst/>
          </a:prstGeom>
          <a:ln w="0">
            <a:noFill/>
          </a:ln>
        </p:spPr>
      </p:pic>
      <p:pic>
        <p:nvPicPr>
          <p:cNvPr id="111" name="Picture 81_1"/>
          <p:cNvPicPr/>
          <p:nvPr/>
        </p:nvPicPr>
        <p:blipFill>
          <a:blip r:embed="rId6"/>
          <a:stretch/>
        </p:blipFill>
        <p:spPr>
          <a:xfrm>
            <a:off x="720000" y="3780000"/>
            <a:ext cx="2775600" cy="2338920"/>
          </a:xfrm>
          <a:prstGeom prst="rect">
            <a:avLst/>
          </a:prstGeom>
          <a:ln w="0">
            <a:noFill/>
          </a:ln>
        </p:spPr>
      </p:pic>
      <p:sp>
        <p:nvSpPr>
          <p:cNvPr id="112" name="Google Shape;130;p16_1"/>
          <p:cNvSpPr/>
          <p:nvPr/>
        </p:nvSpPr>
        <p:spPr>
          <a:xfrm>
            <a:off x="4570200" y="3461760"/>
            <a:ext cx="7128720" cy="18486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350" b="0" strike="noStrike" spc="-1">
                <a:solidFill>
                  <a:srgbClr val="CBD5E1"/>
                </a:solidFill>
                <a:latin typeface="Inter"/>
                <a:ea typeface="Inter"/>
              </a:rPr>
              <a:t>- The detection of unseen incoming aircraft was a major problem</a:t>
            </a:r>
            <a:endParaRPr lang="en-NZ" sz="1350" b="0" strike="noStrike" spc="-1">
              <a:latin typeface="Arial"/>
            </a:endParaRPr>
          </a:p>
          <a:p>
            <a:pPr>
              <a:lnSpc>
                <a:spcPct val="150000"/>
              </a:lnSpc>
              <a:tabLst>
                <a:tab pos="0" algn="l"/>
              </a:tabLst>
            </a:pPr>
            <a:r>
              <a:rPr lang="en-US" sz="1350" b="0" strike="noStrike" spc="-1">
                <a:solidFill>
                  <a:srgbClr val="CBD5E1"/>
                </a:solidFill>
                <a:latin typeface="Inter"/>
                <a:ea typeface="Inter"/>
              </a:rPr>
              <a:t>-  After a sound contact was made, laborious calculations were then required</a:t>
            </a:r>
            <a:endParaRPr lang="en-NZ" sz="1350" b="0" strike="noStrike" spc="-1">
              <a:latin typeface="Arial"/>
            </a:endParaRPr>
          </a:p>
          <a:p>
            <a:pPr>
              <a:lnSpc>
                <a:spcPct val="150000"/>
              </a:lnSpc>
              <a:tabLst>
                <a:tab pos="0" algn="l"/>
              </a:tabLst>
            </a:pPr>
            <a:r>
              <a:rPr lang="en-US" sz="1350" b="0" strike="noStrike" spc="-1">
                <a:solidFill>
                  <a:srgbClr val="CBD5E1"/>
                </a:solidFill>
                <a:latin typeface="Inter"/>
                <a:ea typeface="Inter"/>
              </a:rPr>
              <a:t>- It was the only system available for detecting the approach of unseen aircraft until the development of radar in the 1930</a:t>
            </a:r>
            <a:endParaRPr lang="en-NZ" sz="1350" b="0" strike="noStrike" spc="-1">
              <a:latin typeface="Arial"/>
            </a:endParaRPr>
          </a:p>
          <a:p>
            <a:pPr>
              <a:lnSpc>
                <a:spcPct val="150000"/>
              </a:lnSpc>
              <a:tabLst>
                <a:tab pos="0" algn="l"/>
              </a:tabLst>
            </a:pPr>
            <a:r>
              <a:rPr lang="en-US" sz="1350" b="0" strike="noStrike" spc="-1">
                <a:solidFill>
                  <a:srgbClr val="CBD5E1"/>
                </a:solidFill>
                <a:latin typeface="Inter"/>
                <a:ea typeface="Inter"/>
              </a:rPr>
              <a:t>- According to the Imperial War Museums, this device had a maximum accuracy of 1/10 of a degree</a:t>
            </a:r>
            <a:endParaRPr lang="en-NZ" sz="1350" b="0" strike="noStrike" spc="-1">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5" descr="image.png"/>
          <p:cNvPicPr/>
          <p:nvPr/>
        </p:nvPicPr>
        <p:blipFill>
          <a:blip r:embed="rId2"/>
          <a:stretch/>
        </p:blipFill>
        <p:spPr>
          <a:xfrm>
            <a:off x="0" y="0"/>
            <a:ext cx="12191400" cy="6857280"/>
          </a:xfrm>
          <a:prstGeom prst="rect">
            <a:avLst/>
          </a:prstGeom>
          <a:ln w="0">
            <a:noFill/>
          </a:ln>
        </p:spPr>
      </p:pic>
      <p:pic>
        <p:nvPicPr>
          <p:cNvPr id="114" name="Google Shape;115;p15" descr="image.png"/>
          <p:cNvPicPr/>
          <p:nvPr/>
        </p:nvPicPr>
        <p:blipFill>
          <a:blip r:embed="rId3"/>
          <a:stretch/>
        </p:blipFill>
        <p:spPr>
          <a:xfrm>
            <a:off x="9360" y="9360"/>
            <a:ext cx="12172320" cy="266040"/>
          </a:xfrm>
          <a:prstGeom prst="rect">
            <a:avLst/>
          </a:prstGeom>
          <a:ln w="0">
            <a:noFill/>
          </a:ln>
        </p:spPr>
      </p:pic>
      <p:pic>
        <p:nvPicPr>
          <p:cNvPr id="115" name="Google Shape;116;p15" descr="image.png"/>
          <p:cNvPicPr/>
          <p:nvPr/>
        </p:nvPicPr>
        <p:blipFill>
          <a:blip r:embed="rId3"/>
          <a:stretch/>
        </p:blipFill>
        <p:spPr>
          <a:xfrm>
            <a:off x="9360" y="6581880"/>
            <a:ext cx="12172320" cy="266040"/>
          </a:xfrm>
          <a:prstGeom prst="rect">
            <a:avLst/>
          </a:prstGeom>
          <a:ln w="0">
            <a:noFill/>
          </a:ln>
        </p:spPr>
      </p:pic>
      <p:sp>
        <p:nvSpPr>
          <p:cNvPr id="116" name="Google Shape;117;p15"/>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Pre-Radar: Listening for Engines</a:t>
            </a:r>
            <a:endParaRPr lang="en-NZ" sz="2400" b="0" strike="noStrike" spc="-1">
              <a:latin typeface="Arial"/>
            </a:endParaRPr>
          </a:p>
        </p:txBody>
      </p:sp>
      <p:sp>
        <p:nvSpPr>
          <p:cNvPr id="117" name="Google Shape;118;p15"/>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18" name="Google Shape;120;p15"/>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Acoustic Mirrors</a:t>
            </a:r>
            <a:endParaRPr lang="en-NZ" sz="1410" b="0" strike="noStrike" spc="-1">
              <a:latin typeface="Arial"/>
            </a:endParaRPr>
          </a:p>
        </p:txBody>
      </p:sp>
      <p:sp>
        <p:nvSpPr>
          <p:cNvPr id="119" name="Google Shape;121;p15"/>
          <p:cNvSpPr/>
          <p:nvPr/>
        </p:nvSpPr>
        <p:spPr>
          <a:xfrm>
            <a:off x="6286680" y="339696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Before radio waves, defense relied on sound waves.</a:t>
            </a:r>
            <a:endParaRPr lang="en-NZ" sz="1500" b="0" strike="noStrike" spc="-1">
              <a:latin typeface="Arial"/>
            </a:endParaRPr>
          </a:p>
        </p:txBody>
      </p:sp>
      <p:sp>
        <p:nvSpPr>
          <p:cNvPr id="120" name="Google Shape;122;p15"/>
          <p:cNvSpPr/>
          <p:nvPr/>
        </p:nvSpPr>
        <p:spPr>
          <a:xfrm>
            <a:off x="6286680" y="3873240"/>
            <a:ext cx="5323680" cy="136908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Huge concrete dishes focused the sound of incoming aircraft engines to a microphone. The limitation was the speed of sound—by the time you heard them, they were already close.</a:t>
            </a:r>
            <a:endParaRPr lang="en-NZ" sz="1500" b="0" strike="noStrike" spc="-1">
              <a:latin typeface="Arial"/>
            </a:endParaRPr>
          </a:p>
        </p:txBody>
      </p:sp>
      <p:pic>
        <p:nvPicPr>
          <p:cNvPr id="121" name="Picture 120"/>
          <p:cNvPicPr/>
          <p:nvPr/>
        </p:nvPicPr>
        <p:blipFill>
          <a:blip r:embed="rId4"/>
          <a:stretch/>
        </p:blipFill>
        <p:spPr>
          <a:xfrm>
            <a:off x="540000" y="1980000"/>
            <a:ext cx="4344120" cy="3258000"/>
          </a:xfrm>
          <a:prstGeom prst="rect">
            <a:avLst/>
          </a:prstGeom>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 name="Google Shape;127;p16" descr="image.png"/>
          <p:cNvPicPr/>
          <p:nvPr/>
        </p:nvPicPr>
        <p:blipFill>
          <a:blip r:embed="rId2"/>
          <a:stretch/>
        </p:blipFill>
        <p:spPr>
          <a:xfrm>
            <a:off x="0" y="0"/>
            <a:ext cx="12191400" cy="6857280"/>
          </a:xfrm>
          <a:prstGeom prst="rect">
            <a:avLst/>
          </a:prstGeom>
          <a:ln w="0">
            <a:noFill/>
          </a:ln>
        </p:spPr>
      </p:pic>
      <p:pic>
        <p:nvPicPr>
          <p:cNvPr id="123" name="Google Shape;128;p16" descr="image.png"/>
          <p:cNvPicPr/>
          <p:nvPr/>
        </p:nvPicPr>
        <p:blipFill>
          <a:blip r:embed="rId3"/>
          <a:stretch/>
        </p:blipFill>
        <p:spPr>
          <a:xfrm>
            <a:off x="6286680" y="1864800"/>
            <a:ext cx="5323680" cy="4285440"/>
          </a:xfrm>
          <a:prstGeom prst="rect">
            <a:avLst/>
          </a:prstGeom>
          <a:ln w="0">
            <a:noFill/>
          </a:ln>
        </p:spPr>
      </p:pic>
      <p:pic>
        <p:nvPicPr>
          <p:cNvPr id="124" name="Google Shape;129;p16" descr="image.png"/>
          <p:cNvPicPr/>
          <p:nvPr/>
        </p:nvPicPr>
        <p:blipFill>
          <a:blip r:embed="rId4"/>
          <a:stretch/>
        </p:blipFill>
        <p:spPr>
          <a:xfrm>
            <a:off x="9360" y="9360"/>
            <a:ext cx="12172320" cy="266040"/>
          </a:xfrm>
          <a:prstGeom prst="rect">
            <a:avLst/>
          </a:prstGeom>
          <a:ln w="0">
            <a:noFill/>
          </a:ln>
        </p:spPr>
      </p:pic>
      <p:pic>
        <p:nvPicPr>
          <p:cNvPr id="125" name="Google Shape;130;p16" descr="image.png"/>
          <p:cNvPicPr/>
          <p:nvPr/>
        </p:nvPicPr>
        <p:blipFill>
          <a:blip r:embed="rId4"/>
          <a:stretch/>
        </p:blipFill>
        <p:spPr>
          <a:xfrm>
            <a:off x="9360" y="6581880"/>
            <a:ext cx="12172320" cy="266040"/>
          </a:xfrm>
          <a:prstGeom prst="rect">
            <a:avLst/>
          </a:prstGeom>
          <a:ln w="0">
            <a:noFill/>
          </a:ln>
        </p:spPr>
      </p:pic>
      <p:sp>
        <p:nvSpPr>
          <p:cNvPr id="126" name="Google Shape;131;p16"/>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Royal Observer Corps</a:t>
            </a:r>
            <a:endParaRPr lang="en-NZ" sz="2400" b="0" strike="noStrike" spc="-1">
              <a:latin typeface="Arial"/>
            </a:endParaRPr>
          </a:p>
        </p:txBody>
      </p:sp>
      <p:sp>
        <p:nvSpPr>
          <p:cNvPr id="127" name="Google Shape;132;p16"/>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28" name="Google Shape;133;p16"/>
          <p:cNvSpPr/>
          <p:nvPr/>
        </p:nvSpPr>
        <p:spPr>
          <a:xfrm>
            <a:off x="58104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Human Sensor Network</a:t>
            </a:r>
            <a:endParaRPr lang="en-NZ" sz="1410" b="0" strike="noStrike" spc="-1">
              <a:latin typeface="Arial"/>
            </a:endParaRPr>
          </a:p>
        </p:txBody>
      </p:sp>
      <p:sp>
        <p:nvSpPr>
          <p:cNvPr id="129" name="Google Shape;134;p16"/>
          <p:cNvSpPr/>
          <p:nvPr/>
        </p:nvSpPr>
        <p:spPr>
          <a:xfrm>
            <a:off x="581040" y="353988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Without radar, Britain relied on thousands of volunteers with binoculars. They phoned sightings into a central filter room.</a:t>
            </a:r>
            <a:endParaRPr lang="en-NZ" sz="1500" b="0" strike="noStrike" spc="-1">
              <a:latin typeface="Arial"/>
            </a:endParaRPr>
          </a:p>
        </p:txBody>
      </p:sp>
      <p:sp>
        <p:nvSpPr>
          <p:cNvPr id="130" name="Google Shape;135;p16"/>
          <p:cNvSpPr/>
          <p:nvPr/>
        </p:nvSpPr>
        <p:spPr>
          <a:xfrm>
            <a:off x="581040" y="458748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Fatal Flaw:</a:t>
            </a:r>
            <a:r>
              <a:rPr lang="en-US" sz="1500" b="0" strike="noStrike" spc="-1">
                <a:solidFill>
                  <a:srgbClr val="CBD5E1"/>
                </a:solidFill>
                <a:latin typeface="Inter"/>
                <a:ea typeface="Inter"/>
              </a:rPr>
              <a:t> Useless at night or in cloud cover.</a:t>
            </a:r>
            <a:endParaRPr lang="en-NZ" sz="1500" b="0" strike="noStrike" spc="-1">
              <a:latin typeface="Arial"/>
            </a:endParaRPr>
          </a:p>
        </p:txBody>
      </p:sp>
      <p:pic>
        <p:nvPicPr>
          <p:cNvPr id="131" name="Google Shape;136;p16"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2" name="Google Shape;141;p17" descr="image.png"/>
          <p:cNvPicPr/>
          <p:nvPr/>
        </p:nvPicPr>
        <p:blipFill>
          <a:blip r:embed="rId2"/>
          <a:stretch/>
        </p:blipFill>
        <p:spPr>
          <a:xfrm>
            <a:off x="720" y="0"/>
            <a:ext cx="12191400" cy="6857280"/>
          </a:xfrm>
          <a:prstGeom prst="rect">
            <a:avLst/>
          </a:prstGeom>
          <a:ln w="0">
            <a:noFill/>
          </a:ln>
        </p:spPr>
      </p:pic>
      <p:pic>
        <p:nvPicPr>
          <p:cNvPr id="133" name="Google Shape;143;p17" descr="image.png"/>
          <p:cNvPicPr/>
          <p:nvPr/>
        </p:nvPicPr>
        <p:blipFill>
          <a:blip r:embed="rId3"/>
          <a:stretch/>
        </p:blipFill>
        <p:spPr>
          <a:xfrm>
            <a:off x="9360" y="9360"/>
            <a:ext cx="12172320" cy="266040"/>
          </a:xfrm>
          <a:prstGeom prst="rect">
            <a:avLst/>
          </a:prstGeom>
          <a:ln w="0">
            <a:noFill/>
          </a:ln>
        </p:spPr>
      </p:pic>
      <p:pic>
        <p:nvPicPr>
          <p:cNvPr id="134" name="Google Shape;144;p17" descr="image.png"/>
          <p:cNvPicPr/>
          <p:nvPr/>
        </p:nvPicPr>
        <p:blipFill>
          <a:blip r:embed="rId3"/>
          <a:stretch/>
        </p:blipFill>
        <p:spPr>
          <a:xfrm>
            <a:off x="9360" y="6581880"/>
            <a:ext cx="12172320" cy="266040"/>
          </a:xfrm>
          <a:prstGeom prst="rect">
            <a:avLst/>
          </a:prstGeom>
          <a:ln w="0">
            <a:noFill/>
          </a:ln>
        </p:spPr>
      </p:pic>
      <p:sp>
        <p:nvSpPr>
          <p:cNvPr id="135" name="Google Shape;145;p17"/>
          <p:cNvSpPr/>
          <p:nvPr/>
        </p:nvSpPr>
        <p:spPr>
          <a:xfrm>
            <a:off x="581040" y="492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History</a:t>
            </a:r>
            <a:endParaRPr lang="en-NZ" sz="2400" b="0" strike="noStrike" spc="-1">
              <a:latin typeface="Arial"/>
            </a:endParaRPr>
          </a:p>
        </p:txBody>
      </p:sp>
      <p:sp>
        <p:nvSpPr>
          <p:cNvPr id="136" name="Google Shape;146;p17"/>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37" name="TextBox 136"/>
          <p:cNvSpPr txBox="1"/>
          <p:nvPr/>
        </p:nvSpPr>
        <p:spPr>
          <a:xfrm>
            <a:off x="350280" y="1008000"/>
            <a:ext cx="11709720" cy="5182560"/>
          </a:xfrm>
          <a:prstGeom prst="rect">
            <a:avLst/>
          </a:prstGeom>
          <a:noFill/>
          <a:ln w="0">
            <a:noFill/>
          </a:ln>
        </p:spPr>
        <p:txBody>
          <a:bodyPr lIns="90000" tIns="45000" rIns="90000" bIns="45000">
            <a:noAutofit/>
          </a:bodyPr>
          <a:lstStyle/>
          <a:p>
            <a:r>
              <a:rPr lang="en-NZ" sz="1300" b="1" strike="noStrike" spc="-1">
                <a:solidFill>
                  <a:srgbClr val="FFFFFF"/>
                </a:solidFill>
                <a:latin typeface="Inter"/>
              </a:rPr>
              <a:t>1900</a:t>
            </a:r>
            <a:r>
              <a:rPr lang="en-NZ" sz="1300" b="0" strike="noStrike" spc="-1">
                <a:solidFill>
                  <a:srgbClr val="FFFFFF"/>
                </a:solidFill>
                <a:latin typeface="Inter"/>
              </a:rPr>
              <a:t> Nicola Tesla suggested that the reflection of electromagnetic waves could be used for detecting of moving metallic objects.</a:t>
            </a:r>
          </a:p>
          <a:p>
            <a:endParaRPr lang="en-NZ" sz="1300" b="0" strike="noStrike" spc="-1">
              <a:solidFill>
                <a:srgbClr val="FFFFFF"/>
              </a:solidFill>
              <a:latin typeface="Inter"/>
            </a:endParaRPr>
          </a:p>
          <a:p>
            <a:r>
              <a:rPr lang="en-NZ" sz="1300" b="1" strike="noStrike" spc="-1">
                <a:solidFill>
                  <a:srgbClr val="FFFFFF"/>
                </a:solidFill>
                <a:latin typeface="Inter"/>
              </a:rPr>
              <a:t>1904</a:t>
            </a:r>
            <a:r>
              <a:rPr lang="en-NZ" sz="1300" b="0" strike="noStrike" spc="-1">
                <a:solidFill>
                  <a:srgbClr val="FFFFFF"/>
                </a:solidFill>
                <a:latin typeface="Inter"/>
              </a:rPr>
              <a:t> The German engineer Christian Hülsmeyer invents the "telemobiloscope" for a traffic monitoring on the water in poor visibility. This is the first practical radar test. Hülsmeyer apply his invention for a patent in Germany, France and the United Kingdom.</a:t>
            </a:r>
          </a:p>
          <a:p>
            <a:endParaRPr lang="en-NZ" sz="1300" b="0" strike="noStrike" spc="-1">
              <a:solidFill>
                <a:srgbClr val="FFFFFF"/>
              </a:solidFill>
              <a:latin typeface="Inter"/>
            </a:endParaRPr>
          </a:p>
          <a:p>
            <a:r>
              <a:rPr lang="en-NZ" sz="1300" b="1" strike="noStrike" spc="-1">
                <a:solidFill>
                  <a:srgbClr val="FFFFFF"/>
                </a:solidFill>
                <a:latin typeface="Inter"/>
              </a:rPr>
              <a:t>1921</a:t>
            </a:r>
            <a:r>
              <a:rPr lang="en-NZ" sz="1300" b="0" strike="noStrike" spc="-1">
                <a:solidFill>
                  <a:srgbClr val="FFFFFF"/>
                </a:solidFill>
                <a:latin typeface="Inter"/>
              </a:rPr>
              <a:t> The invention of the Magnetron as an efficient transmitting tube by the US-american physicist Albert Wallace Hull.</a:t>
            </a:r>
          </a:p>
          <a:p>
            <a:endParaRPr lang="en-NZ" sz="1300" b="0" strike="noStrike" spc="-1">
              <a:solidFill>
                <a:srgbClr val="FFFFFF"/>
              </a:solidFill>
              <a:latin typeface="Inter"/>
            </a:endParaRPr>
          </a:p>
          <a:p>
            <a:r>
              <a:rPr lang="en-NZ" sz="1300" b="1" strike="noStrike" spc="-1">
                <a:solidFill>
                  <a:srgbClr val="FFFFFF"/>
                </a:solidFill>
                <a:latin typeface="Inter"/>
              </a:rPr>
              <a:t>1922</a:t>
            </a:r>
            <a:r>
              <a:rPr lang="en-NZ" sz="1300" b="0" strike="noStrike" spc="-1">
                <a:solidFill>
                  <a:srgbClr val="FFFFFF"/>
                </a:solidFill>
                <a:latin typeface="Inter"/>
              </a:rPr>
              <a:t> The American electrical engineers Albert H. Taylor and Leo C. Young of the Naval Research Laboratory (USA) locate a wooden ship for the first time.</a:t>
            </a:r>
          </a:p>
          <a:p>
            <a:endParaRPr lang="en-NZ" sz="1300" b="0" strike="noStrike" spc="-1">
              <a:solidFill>
                <a:srgbClr val="FFFFFF"/>
              </a:solidFill>
              <a:latin typeface="Inter"/>
            </a:endParaRPr>
          </a:p>
          <a:p>
            <a:r>
              <a:rPr lang="en-NZ" sz="1300" b="1" strike="noStrike" spc="-1">
                <a:solidFill>
                  <a:srgbClr val="FFFFFF"/>
                </a:solidFill>
                <a:latin typeface="Inter"/>
              </a:rPr>
              <a:t>1930</a:t>
            </a:r>
            <a:r>
              <a:rPr lang="en-NZ" sz="1300" b="0" strike="noStrike" spc="-1">
                <a:solidFill>
                  <a:srgbClr val="FFFFFF"/>
                </a:solidFill>
                <a:latin typeface="Inter"/>
              </a:rPr>
              <a:t> Lawrence A. Hyland (also of the Naval Research Laboratory), locates an aircraft for the first time.</a:t>
            </a:r>
          </a:p>
          <a:p>
            <a:endParaRPr lang="en-NZ" sz="1300" b="0" strike="noStrike" spc="-1">
              <a:solidFill>
                <a:srgbClr val="FFFFFF"/>
              </a:solidFill>
              <a:latin typeface="Inter"/>
            </a:endParaRPr>
          </a:p>
          <a:p>
            <a:r>
              <a:rPr lang="en-NZ" sz="1300" b="1" strike="noStrike" spc="-1">
                <a:solidFill>
                  <a:srgbClr val="FFFFFF"/>
                </a:solidFill>
                <a:latin typeface="Inter"/>
              </a:rPr>
              <a:t>1931</a:t>
            </a:r>
            <a:r>
              <a:rPr lang="en-NZ" sz="1300" b="0" strike="noStrike" spc="-1">
                <a:solidFill>
                  <a:srgbClr val="FFFFFF"/>
                </a:solidFill>
                <a:latin typeface="Inter"/>
              </a:rPr>
              <a:t> In Britain the first known proposal for radar system came from William A. S. Butement and P. E. Pollard in January 1931. They equipped a ship with radar. As antennas were used parabolic dishes with horn radiator. Although their equipment produced short-range results the work was abandoned for lack of government support.</a:t>
            </a:r>
          </a:p>
          <a:p>
            <a:endParaRPr lang="en-NZ" sz="1300" b="0" strike="noStrike" spc="-1">
              <a:solidFill>
                <a:srgbClr val="FFFFFF"/>
              </a:solidFill>
              <a:latin typeface="Inter"/>
            </a:endParaRPr>
          </a:p>
          <a:p>
            <a:r>
              <a:rPr lang="en-NZ" sz="1300" b="1" strike="noStrike" spc="-1">
                <a:solidFill>
                  <a:srgbClr val="FFFFFF"/>
                </a:solidFill>
                <a:latin typeface="Inter"/>
              </a:rPr>
              <a:t>1933</a:t>
            </a:r>
            <a:r>
              <a:rPr lang="en-NZ" sz="1300" b="0" strike="noStrike" spc="-1">
                <a:solidFill>
                  <a:srgbClr val="FFFFFF"/>
                </a:solidFill>
                <a:latin typeface="Inter"/>
              </a:rPr>
              <a:t> On the basis of the in 1931 from himself invented sonar, Rudolph Kühnhold presented a so-called “Funkmessgerät”. It worked on a wavelength of 48 cm and the transmitter had a power of about 40 Watts. From these tests, the Freya-radar was developed, which was produced in series beginning in 1938.</a:t>
            </a:r>
          </a:p>
          <a:p>
            <a:endParaRPr lang="en-NZ" sz="1300" b="0" strike="noStrike" spc="-1">
              <a:solidFill>
                <a:srgbClr val="FFFFFF"/>
              </a:solidFill>
              <a:latin typeface="Inter"/>
            </a:endParaRPr>
          </a:p>
          <a:p>
            <a:r>
              <a:rPr lang="en-NZ" sz="1300" b="1" strike="noStrike" spc="-1">
                <a:solidFill>
                  <a:srgbClr val="FFFFFF"/>
                </a:solidFill>
                <a:latin typeface="Inter"/>
              </a:rPr>
              <a:t>1935</a:t>
            </a:r>
            <a:r>
              <a:rPr lang="en-NZ" sz="1300" b="0" strike="noStrike" spc="-1">
                <a:solidFill>
                  <a:srgbClr val="FFFFFF"/>
                </a:solidFill>
                <a:latin typeface="Inter"/>
              </a:rPr>
              <a:t> Robert Watson-Watt (later: Sir Robert) suggested that radio waves might be used to detect aircraft at a distance and outlined a means of doing so. Intensive research began and by 1939 Britain possessed a defensive chain of highly secret Radio Direction Finding (RDF) stations.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8" name="Google Shape;141;p17_0" descr="image.png"/>
          <p:cNvPicPr/>
          <p:nvPr/>
        </p:nvPicPr>
        <p:blipFill>
          <a:blip r:embed="rId2"/>
          <a:stretch/>
        </p:blipFill>
        <p:spPr>
          <a:xfrm>
            <a:off x="9360" y="0"/>
            <a:ext cx="12191400" cy="6857280"/>
          </a:xfrm>
          <a:prstGeom prst="rect">
            <a:avLst/>
          </a:prstGeom>
          <a:ln w="0">
            <a:noFill/>
          </a:ln>
        </p:spPr>
      </p:pic>
      <p:pic>
        <p:nvPicPr>
          <p:cNvPr id="139" name="Google Shape;142;p17_1" descr="image.png"/>
          <p:cNvPicPr/>
          <p:nvPr/>
        </p:nvPicPr>
        <p:blipFill>
          <a:blip r:embed="rId3"/>
          <a:stretch/>
        </p:blipFill>
        <p:spPr>
          <a:xfrm>
            <a:off x="3060000" y="2608920"/>
            <a:ext cx="8550360" cy="2970720"/>
          </a:xfrm>
          <a:prstGeom prst="rect">
            <a:avLst/>
          </a:prstGeom>
          <a:ln w="0">
            <a:noFill/>
          </a:ln>
        </p:spPr>
      </p:pic>
      <p:pic>
        <p:nvPicPr>
          <p:cNvPr id="140" name="Google Shape;143;p17_1" descr="image.png"/>
          <p:cNvPicPr/>
          <p:nvPr/>
        </p:nvPicPr>
        <p:blipFill>
          <a:blip r:embed="rId4"/>
          <a:stretch/>
        </p:blipFill>
        <p:spPr>
          <a:xfrm>
            <a:off x="9360" y="9360"/>
            <a:ext cx="12172320" cy="266040"/>
          </a:xfrm>
          <a:prstGeom prst="rect">
            <a:avLst/>
          </a:prstGeom>
          <a:ln w="0">
            <a:noFill/>
          </a:ln>
        </p:spPr>
      </p:pic>
      <p:pic>
        <p:nvPicPr>
          <p:cNvPr id="141" name="Google Shape;144;p17_1" descr="image.png"/>
          <p:cNvPicPr/>
          <p:nvPr/>
        </p:nvPicPr>
        <p:blipFill>
          <a:blip r:embed="rId4"/>
          <a:stretch/>
        </p:blipFill>
        <p:spPr>
          <a:xfrm>
            <a:off x="9360" y="6581880"/>
            <a:ext cx="12172320" cy="266040"/>
          </a:xfrm>
          <a:prstGeom prst="rect">
            <a:avLst/>
          </a:prstGeom>
          <a:ln w="0">
            <a:noFill/>
          </a:ln>
        </p:spPr>
      </p:pic>
      <p:sp>
        <p:nvSpPr>
          <p:cNvPr id="142" name="Google Shape;145;p17_1"/>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"Death Ray" Myth</a:t>
            </a:r>
            <a:endParaRPr lang="en-NZ" sz="2400" b="0" strike="noStrike" spc="-1">
              <a:latin typeface="Arial"/>
            </a:endParaRPr>
          </a:p>
        </p:txBody>
      </p:sp>
      <p:sp>
        <p:nvSpPr>
          <p:cNvPr id="143" name="Google Shape;146;p17_1"/>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44" name="Google Shape;147;p17_1"/>
          <p:cNvSpPr/>
          <p:nvPr/>
        </p:nvSpPr>
        <p:spPr>
          <a:xfrm>
            <a:off x="3240000" y="2987280"/>
            <a:ext cx="87019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1935: A Critical Pivot</a:t>
            </a:r>
            <a:endParaRPr lang="en-NZ" sz="1410" b="0" strike="noStrike" spc="-1">
              <a:latin typeface="Arial"/>
            </a:endParaRPr>
          </a:p>
        </p:txBody>
      </p:sp>
      <p:sp>
        <p:nvSpPr>
          <p:cNvPr id="145" name="Google Shape;148;p17_1"/>
          <p:cNvSpPr/>
          <p:nvPr/>
        </p:nvSpPr>
        <p:spPr>
          <a:xfrm>
            <a:off x="3240000" y="3396960"/>
            <a:ext cx="81705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British Air Ministry asked Robert Watson-Watt if radio waves could boil a pilot's blood (a Death Ray).</a:t>
            </a:r>
            <a:endParaRPr lang="en-NZ" sz="1500" b="0" strike="noStrike" spc="-1">
              <a:latin typeface="Arial"/>
            </a:endParaRPr>
          </a:p>
        </p:txBody>
      </p:sp>
      <p:sp>
        <p:nvSpPr>
          <p:cNvPr id="146" name="Google Shape;149;p17_1"/>
          <p:cNvSpPr/>
          <p:nvPr/>
        </p:nvSpPr>
        <p:spPr>
          <a:xfrm>
            <a:off x="3240000" y="4254120"/>
            <a:ext cx="81705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The Calculation:</a:t>
            </a:r>
            <a:r>
              <a:rPr lang="en-US" sz="1500" b="0" strike="noStrike" spc="-1">
                <a:solidFill>
                  <a:srgbClr val="CBD5E1"/>
                </a:solidFill>
                <a:latin typeface="Inter"/>
                <a:ea typeface="Inter"/>
              </a:rPr>
              <a:t> Power requirements were impossible.</a:t>
            </a:r>
            <a:endParaRPr lang="en-NZ" sz="1500" b="0" strike="noStrike" spc="-1">
              <a:latin typeface="Arial"/>
            </a:endParaRPr>
          </a:p>
        </p:txBody>
      </p:sp>
      <p:sp>
        <p:nvSpPr>
          <p:cNvPr id="147" name="Google Shape;150;p17_1"/>
          <p:cNvSpPr/>
          <p:nvPr/>
        </p:nvSpPr>
        <p:spPr>
          <a:xfrm>
            <a:off x="3240000" y="4730400"/>
            <a:ext cx="8170560" cy="684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The Solution:</a:t>
            </a:r>
            <a:r>
              <a:rPr lang="en-US" sz="1500" b="0" strike="noStrike" spc="-1">
                <a:solidFill>
                  <a:srgbClr val="CBD5E1"/>
                </a:solidFill>
                <a:latin typeface="Inter"/>
                <a:ea typeface="Inter"/>
              </a:rPr>
              <a:t> "But," Watson-Watt said, "if you send a pulse, I can detect the </a:t>
            </a:r>
            <a:r>
              <a:rPr lang="en-US" sz="1500" b="0" i="1" strike="noStrike" spc="-1">
                <a:solidFill>
                  <a:srgbClr val="CBD5E1"/>
                </a:solidFill>
                <a:latin typeface="Inter"/>
                <a:ea typeface="Inter"/>
              </a:rPr>
              <a:t>reflection</a:t>
            </a:r>
            <a:r>
              <a:rPr lang="en-US" sz="1500" b="0" strike="noStrike" spc="-1">
                <a:solidFill>
                  <a:srgbClr val="CBD5E1"/>
                </a:solidFill>
                <a:latin typeface="Inter"/>
                <a:ea typeface="Inter"/>
              </a:rPr>
              <a:t>."</a:t>
            </a:r>
            <a:endParaRPr lang="en-NZ" sz="1500" b="0" strike="noStrike" spc="-1">
              <a:latin typeface="Arial"/>
            </a:endParaRPr>
          </a:p>
        </p:txBody>
      </p:sp>
      <p:pic>
        <p:nvPicPr>
          <p:cNvPr id="148" name="Picture 147"/>
          <p:cNvPicPr/>
          <p:nvPr/>
        </p:nvPicPr>
        <p:blipFill>
          <a:blip r:embed="rId5"/>
          <a:stretch/>
        </p:blipFill>
        <p:spPr>
          <a:xfrm>
            <a:off x="55440" y="3060000"/>
            <a:ext cx="2824200" cy="1979640"/>
          </a:xfrm>
          <a:prstGeom prst="rect">
            <a:avLst/>
          </a:prstGeom>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9" name="Google Shape;155;p18" descr="image.png"/>
          <p:cNvPicPr/>
          <p:nvPr/>
        </p:nvPicPr>
        <p:blipFill>
          <a:blip r:embed="rId2"/>
          <a:stretch/>
        </p:blipFill>
        <p:spPr>
          <a:xfrm>
            <a:off x="0" y="0"/>
            <a:ext cx="12191400" cy="6857280"/>
          </a:xfrm>
          <a:prstGeom prst="rect">
            <a:avLst/>
          </a:prstGeom>
          <a:ln w="0">
            <a:noFill/>
          </a:ln>
        </p:spPr>
      </p:pic>
      <p:pic>
        <p:nvPicPr>
          <p:cNvPr id="150" name="Google Shape;156;p18" descr="image.png"/>
          <p:cNvPicPr/>
          <p:nvPr/>
        </p:nvPicPr>
        <p:blipFill>
          <a:blip r:embed="rId3"/>
          <a:stretch/>
        </p:blipFill>
        <p:spPr>
          <a:xfrm>
            <a:off x="3600000" y="2729520"/>
            <a:ext cx="8010360" cy="3030120"/>
          </a:xfrm>
          <a:prstGeom prst="rect">
            <a:avLst/>
          </a:prstGeom>
          <a:ln w="0">
            <a:noFill/>
          </a:ln>
        </p:spPr>
      </p:pic>
      <p:pic>
        <p:nvPicPr>
          <p:cNvPr id="151" name="Google Shape;157;p18" descr="image.png"/>
          <p:cNvPicPr/>
          <p:nvPr/>
        </p:nvPicPr>
        <p:blipFill>
          <a:blip r:embed="rId4"/>
          <a:stretch/>
        </p:blipFill>
        <p:spPr>
          <a:xfrm>
            <a:off x="9360" y="9360"/>
            <a:ext cx="12172320" cy="266040"/>
          </a:xfrm>
          <a:prstGeom prst="rect">
            <a:avLst/>
          </a:prstGeom>
          <a:ln w="0">
            <a:noFill/>
          </a:ln>
        </p:spPr>
      </p:pic>
      <p:pic>
        <p:nvPicPr>
          <p:cNvPr id="152" name="Google Shape;158;p18" descr="image.png"/>
          <p:cNvPicPr/>
          <p:nvPr/>
        </p:nvPicPr>
        <p:blipFill>
          <a:blip r:embed="rId4"/>
          <a:stretch/>
        </p:blipFill>
        <p:spPr>
          <a:xfrm>
            <a:off x="9360" y="6581880"/>
            <a:ext cx="12172320" cy="266040"/>
          </a:xfrm>
          <a:prstGeom prst="rect">
            <a:avLst/>
          </a:prstGeom>
          <a:ln w="0">
            <a:noFill/>
          </a:ln>
        </p:spPr>
      </p:pic>
      <p:sp>
        <p:nvSpPr>
          <p:cNvPr id="153" name="Google Shape;159;p18"/>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Proof of Concept: Daventry</a:t>
            </a:r>
            <a:endParaRPr lang="en-NZ" sz="2400" b="0" strike="noStrike" spc="-1">
              <a:latin typeface="Arial"/>
            </a:endParaRPr>
          </a:p>
        </p:txBody>
      </p:sp>
      <p:sp>
        <p:nvSpPr>
          <p:cNvPr id="154" name="Google Shape;160;p18"/>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55" name="Google Shape;161;p18"/>
          <p:cNvSpPr/>
          <p:nvPr/>
        </p:nvSpPr>
        <p:spPr>
          <a:xfrm>
            <a:off x="4140000" y="3107520"/>
            <a:ext cx="78019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February 26, 1935</a:t>
            </a:r>
            <a:endParaRPr lang="en-NZ" sz="1410" b="0" strike="noStrike" spc="-1">
              <a:latin typeface="Arial"/>
            </a:endParaRPr>
          </a:p>
        </p:txBody>
      </p:sp>
      <p:sp>
        <p:nvSpPr>
          <p:cNvPr id="156" name="Google Shape;162;p18"/>
          <p:cNvSpPr/>
          <p:nvPr/>
        </p:nvSpPr>
        <p:spPr>
          <a:xfrm>
            <a:off x="4140000" y="3504960"/>
            <a:ext cx="727020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Source:</a:t>
            </a:r>
            <a:r>
              <a:rPr lang="en-US" sz="1500" b="0" strike="noStrike" spc="-1">
                <a:solidFill>
                  <a:srgbClr val="CBD5E1"/>
                </a:solidFill>
                <a:latin typeface="Inter"/>
                <a:ea typeface="Inter"/>
              </a:rPr>
              <a:t> BBC Shortwave transmitter at Daventry.</a:t>
            </a:r>
            <a:endParaRPr lang="en-NZ" sz="1500" b="0" strike="noStrike" spc="-1">
              <a:latin typeface="Arial"/>
            </a:endParaRPr>
          </a:p>
        </p:txBody>
      </p:sp>
      <p:sp>
        <p:nvSpPr>
          <p:cNvPr id="157" name="Google Shape;163;p18"/>
          <p:cNvSpPr/>
          <p:nvPr/>
        </p:nvSpPr>
        <p:spPr>
          <a:xfrm>
            <a:off x="4140000" y="3886200"/>
            <a:ext cx="727020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Target:</a:t>
            </a:r>
            <a:r>
              <a:rPr lang="en-US" sz="1500" b="0" strike="noStrike" spc="-1">
                <a:solidFill>
                  <a:srgbClr val="CBD5E1"/>
                </a:solidFill>
                <a:latin typeface="Inter"/>
                <a:ea typeface="Inter"/>
              </a:rPr>
              <a:t> Heyford bomber flying in the beam.</a:t>
            </a:r>
            <a:endParaRPr lang="en-NZ" sz="1500" b="0" strike="noStrike" spc="-1">
              <a:latin typeface="Arial"/>
            </a:endParaRPr>
          </a:p>
        </p:txBody>
      </p:sp>
      <p:sp>
        <p:nvSpPr>
          <p:cNvPr id="158" name="Google Shape;164;p18"/>
          <p:cNvSpPr/>
          <p:nvPr/>
        </p:nvSpPr>
        <p:spPr>
          <a:xfrm>
            <a:off x="4140000" y="4267080"/>
            <a:ext cx="727020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Result:</a:t>
            </a:r>
            <a:r>
              <a:rPr lang="en-US" sz="1500" b="0" strike="noStrike" spc="-1">
                <a:solidFill>
                  <a:srgbClr val="CBD5E1"/>
                </a:solidFill>
                <a:latin typeface="Inter"/>
                <a:ea typeface="Inter"/>
              </a:rPr>
              <a:t> A distinct oscillation on a cathode ray tube caused by the aircraft's interference pattern.</a:t>
            </a:r>
            <a:endParaRPr lang="en-NZ" sz="1500" b="0" strike="noStrike" spc="-1">
              <a:latin typeface="Arial"/>
            </a:endParaRPr>
          </a:p>
        </p:txBody>
      </p:sp>
      <p:sp>
        <p:nvSpPr>
          <p:cNvPr id="159" name="Google Shape;165;p18"/>
          <p:cNvSpPr/>
          <p:nvPr/>
        </p:nvSpPr>
        <p:spPr>
          <a:xfrm>
            <a:off x="4140000" y="4935960"/>
            <a:ext cx="727020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Significance:</a:t>
            </a:r>
            <a:r>
              <a:rPr lang="en-US" sz="1500" b="0" strike="noStrike" spc="-1">
                <a:solidFill>
                  <a:srgbClr val="CBD5E1"/>
                </a:solidFill>
                <a:latin typeface="Inter"/>
                <a:ea typeface="Inter"/>
              </a:rPr>
              <a:t> The birth of practical RAdio Detection And Ranging.</a:t>
            </a:r>
            <a:endParaRPr lang="en-NZ" sz="1500" b="0" strike="noStrike" spc="-1">
              <a:latin typeface="Arial"/>
            </a:endParaRPr>
          </a:p>
        </p:txBody>
      </p:sp>
      <p:sp>
        <p:nvSpPr>
          <p:cNvPr id="160" name="Google Shape;166;p18"/>
          <p:cNvSpPr/>
          <p:nvPr/>
        </p:nvSpPr>
        <p:spPr>
          <a:xfrm>
            <a:off x="3733200" y="350496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161" name="Google Shape;167;p18"/>
          <p:cNvSpPr/>
          <p:nvPr/>
        </p:nvSpPr>
        <p:spPr>
          <a:xfrm>
            <a:off x="3733200" y="388620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162" name="Google Shape;168;p18"/>
          <p:cNvSpPr/>
          <p:nvPr/>
        </p:nvSpPr>
        <p:spPr>
          <a:xfrm>
            <a:off x="3733200" y="426708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163" name="Google Shape;169;p18"/>
          <p:cNvSpPr/>
          <p:nvPr/>
        </p:nvSpPr>
        <p:spPr>
          <a:xfrm>
            <a:off x="3733200" y="493596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pic>
        <p:nvPicPr>
          <p:cNvPr id="164" name="Picture 163"/>
          <p:cNvPicPr/>
          <p:nvPr/>
        </p:nvPicPr>
        <p:blipFill>
          <a:blip r:embed="rId5"/>
          <a:stretch/>
        </p:blipFill>
        <p:spPr>
          <a:xfrm>
            <a:off x="240480" y="3240000"/>
            <a:ext cx="3179160" cy="2196000"/>
          </a:xfrm>
          <a:prstGeom prst="rect">
            <a:avLst/>
          </a:prstGeom>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5" name="Google Shape;174;p19" descr="image.png"/>
          <p:cNvPicPr/>
          <p:nvPr/>
        </p:nvPicPr>
        <p:blipFill>
          <a:blip r:embed="rId2"/>
          <a:stretch/>
        </p:blipFill>
        <p:spPr>
          <a:xfrm>
            <a:off x="0" y="0"/>
            <a:ext cx="12191400" cy="6857280"/>
          </a:xfrm>
          <a:prstGeom prst="rect">
            <a:avLst/>
          </a:prstGeom>
          <a:ln w="0">
            <a:noFill/>
          </a:ln>
        </p:spPr>
      </p:pic>
      <p:pic>
        <p:nvPicPr>
          <p:cNvPr id="166" name="Google Shape;176;p19" descr="image.png"/>
          <p:cNvPicPr/>
          <p:nvPr/>
        </p:nvPicPr>
        <p:blipFill>
          <a:blip r:embed="rId3"/>
          <a:stretch/>
        </p:blipFill>
        <p:spPr>
          <a:xfrm>
            <a:off x="9360" y="9360"/>
            <a:ext cx="12172320" cy="266040"/>
          </a:xfrm>
          <a:prstGeom prst="rect">
            <a:avLst/>
          </a:prstGeom>
          <a:ln w="0">
            <a:noFill/>
          </a:ln>
        </p:spPr>
      </p:pic>
      <p:pic>
        <p:nvPicPr>
          <p:cNvPr id="167" name="Google Shape;177;p19" descr="image.png"/>
          <p:cNvPicPr/>
          <p:nvPr/>
        </p:nvPicPr>
        <p:blipFill>
          <a:blip r:embed="rId3"/>
          <a:stretch/>
        </p:blipFill>
        <p:spPr>
          <a:xfrm>
            <a:off x="9360" y="6581880"/>
            <a:ext cx="12172320" cy="266040"/>
          </a:xfrm>
          <a:prstGeom prst="rect">
            <a:avLst/>
          </a:prstGeom>
          <a:ln w="0">
            <a:noFill/>
          </a:ln>
        </p:spPr>
      </p:pic>
      <p:sp>
        <p:nvSpPr>
          <p:cNvPr id="168" name="Google Shape;178;p19"/>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Chain Home (1937)</a:t>
            </a:r>
            <a:endParaRPr lang="en-NZ" sz="2400" b="0" strike="noStrike" spc="-1">
              <a:latin typeface="Arial"/>
            </a:endParaRPr>
          </a:p>
        </p:txBody>
      </p:sp>
      <p:sp>
        <p:nvSpPr>
          <p:cNvPr id="169" name="Google Shape;179;p19"/>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70" name="Google Shape;181;p19"/>
          <p:cNvSpPr/>
          <p:nvPr/>
        </p:nvSpPr>
        <p:spPr>
          <a:xfrm>
            <a:off x="628668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First Network</a:t>
            </a:r>
            <a:endParaRPr lang="en-NZ" sz="1410" b="0" strike="noStrike" spc="-1">
              <a:latin typeface="Arial"/>
            </a:endParaRPr>
          </a:p>
        </p:txBody>
      </p:sp>
      <p:sp>
        <p:nvSpPr>
          <p:cNvPr id="171" name="Google Shape;182;p19"/>
          <p:cNvSpPr/>
          <p:nvPr/>
        </p:nvSpPr>
        <p:spPr>
          <a:xfrm>
            <a:off x="6286680" y="353988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These were not rotating dishes. They were massive steel towers that "floodlit" the entire sector with radio energy.</a:t>
            </a:r>
            <a:endParaRPr lang="en-NZ" sz="1500" b="0" strike="noStrike" spc="-1">
              <a:latin typeface="Arial"/>
            </a:endParaRPr>
          </a:p>
        </p:txBody>
      </p:sp>
      <p:sp>
        <p:nvSpPr>
          <p:cNvPr id="172" name="Google Shape;183;p19"/>
          <p:cNvSpPr/>
          <p:nvPr/>
        </p:nvSpPr>
        <p:spPr>
          <a:xfrm>
            <a:off x="6286680" y="44816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They operated on very low frequencies (HF), which required huge antennas to work.</a:t>
            </a:r>
            <a:endParaRPr lang="en-NZ" sz="1500" b="0" strike="noStrike" spc="-1">
              <a:latin typeface="Arial"/>
            </a:endParaRPr>
          </a:p>
        </p:txBody>
      </p:sp>
      <p:pic>
        <p:nvPicPr>
          <p:cNvPr id="173" name="Picture 172"/>
          <p:cNvPicPr/>
          <p:nvPr/>
        </p:nvPicPr>
        <p:blipFill>
          <a:blip r:embed="rId4"/>
          <a:stretch/>
        </p:blipFill>
        <p:spPr>
          <a:xfrm>
            <a:off x="543240" y="1800000"/>
            <a:ext cx="2518560" cy="1619640"/>
          </a:xfrm>
          <a:prstGeom prst="rect">
            <a:avLst/>
          </a:prstGeom>
          <a:ln w="0">
            <a:noFill/>
          </a:ln>
        </p:spPr>
      </p:pic>
      <p:pic>
        <p:nvPicPr>
          <p:cNvPr id="174" name="Picture 173"/>
          <p:cNvPicPr/>
          <p:nvPr/>
        </p:nvPicPr>
        <p:blipFill>
          <a:blip r:embed="rId5"/>
          <a:stretch/>
        </p:blipFill>
        <p:spPr>
          <a:xfrm>
            <a:off x="3304440" y="1800000"/>
            <a:ext cx="2317320" cy="1619640"/>
          </a:xfrm>
          <a:prstGeom prst="rect">
            <a:avLst/>
          </a:prstGeom>
          <a:ln w="0">
            <a:noFill/>
          </a:ln>
        </p:spPr>
      </p:pic>
      <p:pic>
        <p:nvPicPr>
          <p:cNvPr id="175" name="Picture 174"/>
          <p:cNvPicPr/>
          <p:nvPr/>
        </p:nvPicPr>
        <p:blipFill>
          <a:blip r:embed="rId6"/>
          <a:stretch/>
        </p:blipFill>
        <p:spPr>
          <a:xfrm>
            <a:off x="900000" y="3600000"/>
            <a:ext cx="3912120" cy="2874600"/>
          </a:xfrm>
          <a:prstGeom prst="rect">
            <a:avLst/>
          </a:prstGeom>
          <a:ln w="0">
            <a:noFill/>
          </a:ln>
        </p:spPr>
      </p:pic>
      <p:sp>
        <p:nvSpPr>
          <p:cNvPr id="176" name="TextBox 175"/>
          <p:cNvSpPr txBox="1"/>
          <p:nvPr/>
        </p:nvSpPr>
        <p:spPr>
          <a:xfrm>
            <a:off x="6053040" y="1833840"/>
            <a:ext cx="3818520" cy="342360"/>
          </a:xfrm>
          <a:prstGeom prst="rect">
            <a:avLst/>
          </a:prstGeom>
          <a:noFill/>
          <a:ln w="0">
            <a:noFill/>
          </a:ln>
        </p:spPr>
        <p:txBody>
          <a:bodyPr lIns="90000" tIns="45000" rIns="90000" bIns="45000">
            <a:noAutofit/>
          </a:bodyPr>
          <a:lstStyle/>
          <a:p>
            <a:r>
              <a:rPr lang="en-US" sz="1410" b="1" strike="noStrike" spc="-1">
                <a:solidFill>
                  <a:srgbClr val="069A2E"/>
                </a:solidFill>
                <a:latin typeface="Inter"/>
                <a:ea typeface="Inter"/>
              </a:rPr>
              <a:t>RADAR: Radio Detection and Ranging</a:t>
            </a:r>
            <a:endParaRPr lang="en-NZ" sz="1410" b="0" strike="noStrike" spc="-1">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7" name="Google Shape;188;p20" descr="image.png"/>
          <p:cNvPicPr/>
          <p:nvPr/>
        </p:nvPicPr>
        <p:blipFill>
          <a:blip r:embed="rId2"/>
          <a:stretch/>
        </p:blipFill>
        <p:spPr>
          <a:xfrm>
            <a:off x="0" y="0"/>
            <a:ext cx="12191400" cy="6857280"/>
          </a:xfrm>
          <a:prstGeom prst="rect">
            <a:avLst/>
          </a:prstGeom>
          <a:ln w="0">
            <a:noFill/>
          </a:ln>
        </p:spPr>
      </p:pic>
      <p:pic>
        <p:nvPicPr>
          <p:cNvPr id="178" name="Google Shape;189;p20" descr="image.png"/>
          <p:cNvPicPr/>
          <p:nvPr/>
        </p:nvPicPr>
        <p:blipFill>
          <a:blip r:embed="rId3"/>
          <a:stretch/>
        </p:blipFill>
        <p:spPr>
          <a:xfrm>
            <a:off x="581040" y="2847240"/>
            <a:ext cx="3548880" cy="2320560"/>
          </a:xfrm>
          <a:prstGeom prst="rect">
            <a:avLst/>
          </a:prstGeom>
          <a:ln w="0">
            <a:noFill/>
          </a:ln>
        </p:spPr>
      </p:pic>
      <p:pic>
        <p:nvPicPr>
          <p:cNvPr id="179" name="Google Shape;190;p20" descr="image.png"/>
          <p:cNvPicPr/>
          <p:nvPr/>
        </p:nvPicPr>
        <p:blipFill>
          <a:blip r:embed="rId4"/>
          <a:stretch/>
        </p:blipFill>
        <p:spPr>
          <a:xfrm>
            <a:off x="4321080" y="2847240"/>
            <a:ext cx="3548880" cy="2320560"/>
          </a:xfrm>
          <a:prstGeom prst="rect">
            <a:avLst/>
          </a:prstGeom>
          <a:ln w="0">
            <a:noFill/>
          </a:ln>
        </p:spPr>
      </p:pic>
      <p:pic>
        <p:nvPicPr>
          <p:cNvPr id="180" name="Google Shape;191;p20" descr="image.png"/>
          <p:cNvPicPr/>
          <p:nvPr/>
        </p:nvPicPr>
        <p:blipFill>
          <a:blip r:embed="rId5"/>
          <a:stretch/>
        </p:blipFill>
        <p:spPr>
          <a:xfrm>
            <a:off x="8061120" y="2847240"/>
            <a:ext cx="3548880" cy="2320560"/>
          </a:xfrm>
          <a:prstGeom prst="rect">
            <a:avLst/>
          </a:prstGeom>
          <a:ln w="0">
            <a:noFill/>
          </a:ln>
        </p:spPr>
      </p:pic>
      <p:pic>
        <p:nvPicPr>
          <p:cNvPr id="181" name="Google Shape;192;p20" descr="image.png"/>
          <p:cNvPicPr/>
          <p:nvPr/>
        </p:nvPicPr>
        <p:blipFill>
          <a:blip r:embed="rId6"/>
          <a:stretch/>
        </p:blipFill>
        <p:spPr>
          <a:xfrm>
            <a:off x="9360" y="9360"/>
            <a:ext cx="12172320" cy="266040"/>
          </a:xfrm>
          <a:prstGeom prst="rect">
            <a:avLst/>
          </a:prstGeom>
          <a:ln w="0">
            <a:noFill/>
          </a:ln>
        </p:spPr>
      </p:pic>
      <p:pic>
        <p:nvPicPr>
          <p:cNvPr id="182" name="Google Shape;193;p20" descr="image.png"/>
          <p:cNvPicPr/>
          <p:nvPr/>
        </p:nvPicPr>
        <p:blipFill>
          <a:blip r:embed="rId6"/>
          <a:stretch/>
        </p:blipFill>
        <p:spPr>
          <a:xfrm>
            <a:off x="9360" y="6581880"/>
            <a:ext cx="12172320" cy="266040"/>
          </a:xfrm>
          <a:prstGeom prst="rect">
            <a:avLst/>
          </a:prstGeom>
          <a:ln w="0">
            <a:noFill/>
          </a:ln>
        </p:spPr>
      </p:pic>
      <p:sp>
        <p:nvSpPr>
          <p:cNvPr id="183" name="Google Shape;194;p20"/>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Radar Configurations</a:t>
            </a:r>
            <a:endParaRPr lang="en-NZ" sz="2400" b="0" strike="noStrike" spc="-1">
              <a:latin typeface="Arial"/>
            </a:endParaRPr>
          </a:p>
        </p:txBody>
      </p:sp>
      <p:sp>
        <p:nvSpPr>
          <p:cNvPr id="184" name="Google Shape;195;p20"/>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85" name="Google Shape;196;p20"/>
          <p:cNvSpPr/>
          <p:nvPr/>
        </p:nvSpPr>
        <p:spPr>
          <a:xfrm>
            <a:off x="781200" y="322524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Bistatic</a:t>
            </a:r>
            <a:endParaRPr lang="en-NZ" sz="1410" b="0" strike="noStrike" spc="-1">
              <a:latin typeface="Arial"/>
            </a:endParaRPr>
          </a:p>
        </p:txBody>
      </p:sp>
      <p:sp>
        <p:nvSpPr>
          <p:cNvPr id="186" name="Google Shape;197;p20"/>
          <p:cNvSpPr/>
          <p:nvPr/>
        </p:nvSpPr>
        <p:spPr>
          <a:xfrm>
            <a:off x="781200" y="3634920"/>
            <a:ext cx="3148920" cy="136908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Transmitter and Receiver are far apart (e.g., Chain Home). Complex geometry but receiver is isolated from high power.</a:t>
            </a:r>
            <a:endParaRPr lang="en-NZ" sz="1500" b="0" strike="noStrike" spc="-1">
              <a:latin typeface="Arial"/>
            </a:endParaRPr>
          </a:p>
        </p:txBody>
      </p:sp>
      <p:sp>
        <p:nvSpPr>
          <p:cNvPr id="187" name="Google Shape;198;p20"/>
          <p:cNvSpPr/>
          <p:nvPr/>
        </p:nvSpPr>
        <p:spPr>
          <a:xfrm>
            <a:off x="4521240" y="322524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Monostatic</a:t>
            </a:r>
            <a:endParaRPr lang="en-NZ" sz="1410" b="0" strike="noStrike" spc="-1">
              <a:latin typeface="Arial"/>
            </a:endParaRPr>
          </a:p>
        </p:txBody>
      </p:sp>
      <p:sp>
        <p:nvSpPr>
          <p:cNvPr id="188" name="Google Shape;199;p20"/>
          <p:cNvSpPr/>
          <p:nvPr/>
        </p:nvSpPr>
        <p:spPr>
          <a:xfrm>
            <a:off x="4521240" y="3634920"/>
            <a:ext cx="314892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Tx and Rx are co-located or share the same antenna. The modern standard.</a:t>
            </a:r>
            <a:endParaRPr lang="en-NZ" sz="1500" b="0" strike="noStrike" spc="-1">
              <a:latin typeface="Arial"/>
            </a:endParaRPr>
          </a:p>
        </p:txBody>
      </p:sp>
      <p:sp>
        <p:nvSpPr>
          <p:cNvPr id="189" name="Google Shape;200;p20"/>
          <p:cNvSpPr/>
          <p:nvPr/>
        </p:nvSpPr>
        <p:spPr>
          <a:xfrm>
            <a:off x="8261280" y="322524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Duplexer</a:t>
            </a:r>
            <a:endParaRPr lang="en-NZ" sz="1410" b="0" strike="noStrike" spc="-1">
              <a:latin typeface="Arial"/>
            </a:endParaRPr>
          </a:p>
        </p:txBody>
      </p:sp>
      <p:sp>
        <p:nvSpPr>
          <p:cNvPr id="190" name="Google Shape;201;p20"/>
          <p:cNvSpPr/>
          <p:nvPr/>
        </p:nvSpPr>
        <p:spPr>
          <a:xfrm>
            <a:off x="8261280" y="3634920"/>
            <a:ext cx="3148920" cy="136908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device that switches the antenna from Transmit to Receive in microseconds, enabling monostatic radar.</a:t>
            </a:r>
            <a:endParaRPr lang="en-NZ" sz="1500" b="0" strike="noStrike" spc="-1">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1" name="Google Shape;206;p21" descr="image.png"/>
          <p:cNvPicPr/>
          <p:nvPr/>
        </p:nvPicPr>
        <p:blipFill>
          <a:blip r:embed="rId2"/>
          <a:stretch/>
        </p:blipFill>
        <p:spPr>
          <a:xfrm>
            <a:off x="0" y="0"/>
            <a:ext cx="12191400" cy="6857280"/>
          </a:xfrm>
          <a:prstGeom prst="rect">
            <a:avLst/>
          </a:prstGeom>
          <a:ln w="0">
            <a:noFill/>
          </a:ln>
        </p:spPr>
      </p:pic>
      <p:pic>
        <p:nvPicPr>
          <p:cNvPr id="192" name="Google Shape;207;p21" descr="image.png"/>
          <p:cNvPicPr/>
          <p:nvPr/>
        </p:nvPicPr>
        <p:blipFill>
          <a:blip r:embed="rId3"/>
          <a:stretch/>
        </p:blipFill>
        <p:spPr>
          <a:xfrm>
            <a:off x="6286680" y="1864800"/>
            <a:ext cx="5323680" cy="4285440"/>
          </a:xfrm>
          <a:prstGeom prst="rect">
            <a:avLst/>
          </a:prstGeom>
          <a:ln w="0">
            <a:noFill/>
          </a:ln>
        </p:spPr>
      </p:pic>
      <p:pic>
        <p:nvPicPr>
          <p:cNvPr id="193" name="Google Shape;208;p21" descr="image.png"/>
          <p:cNvPicPr/>
          <p:nvPr/>
        </p:nvPicPr>
        <p:blipFill>
          <a:blip r:embed="rId4"/>
          <a:stretch/>
        </p:blipFill>
        <p:spPr>
          <a:xfrm>
            <a:off x="9360" y="9360"/>
            <a:ext cx="12172320" cy="266040"/>
          </a:xfrm>
          <a:prstGeom prst="rect">
            <a:avLst/>
          </a:prstGeom>
          <a:ln w="0">
            <a:noFill/>
          </a:ln>
        </p:spPr>
      </p:pic>
      <p:pic>
        <p:nvPicPr>
          <p:cNvPr id="194" name="Google Shape;209;p21" descr="image.png"/>
          <p:cNvPicPr/>
          <p:nvPr/>
        </p:nvPicPr>
        <p:blipFill>
          <a:blip r:embed="rId4"/>
          <a:stretch/>
        </p:blipFill>
        <p:spPr>
          <a:xfrm>
            <a:off x="9360" y="6581880"/>
            <a:ext cx="12172320" cy="266040"/>
          </a:xfrm>
          <a:prstGeom prst="rect">
            <a:avLst/>
          </a:prstGeom>
          <a:ln w="0">
            <a:noFill/>
          </a:ln>
        </p:spPr>
      </p:pic>
      <p:sp>
        <p:nvSpPr>
          <p:cNvPr id="195" name="Google Shape;210;p21"/>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Cavity Magnetron</a:t>
            </a:r>
            <a:endParaRPr lang="en-NZ" sz="2400" b="0" strike="noStrike" spc="-1">
              <a:latin typeface="Arial"/>
            </a:endParaRPr>
          </a:p>
        </p:txBody>
      </p:sp>
      <p:sp>
        <p:nvSpPr>
          <p:cNvPr id="196" name="Google Shape;211;p21"/>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197" name="Google Shape;212;p21"/>
          <p:cNvSpPr/>
          <p:nvPr/>
        </p:nvSpPr>
        <p:spPr>
          <a:xfrm>
            <a:off x="58104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Shrinking the Radar</a:t>
            </a:r>
            <a:endParaRPr lang="en-NZ" sz="1410" b="0" strike="noStrike" spc="-1">
              <a:latin typeface="Arial"/>
            </a:endParaRPr>
          </a:p>
        </p:txBody>
      </p:sp>
      <p:sp>
        <p:nvSpPr>
          <p:cNvPr id="198" name="Google Shape;213;p21"/>
          <p:cNvSpPr/>
          <p:nvPr/>
        </p:nvSpPr>
        <p:spPr>
          <a:xfrm>
            <a:off x="58104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Early radars were building-sized. To put radar on a plane, you needed high power in a small package.</a:t>
            </a:r>
            <a:endParaRPr lang="en-NZ" sz="1500" b="0" strike="noStrike" spc="-1">
              <a:latin typeface="Arial"/>
            </a:endParaRPr>
          </a:p>
        </p:txBody>
      </p:sp>
      <p:sp>
        <p:nvSpPr>
          <p:cNvPr id="199" name="Google Shape;214;p21"/>
          <p:cNvSpPr/>
          <p:nvPr/>
        </p:nvSpPr>
        <p:spPr>
          <a:xfrm>
            <a:off x="58104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Magnetron (1940) was the breakthrough. It generated high-power microwaves, allowing small dishes to fit in aircraft noses.</a:t>
            </a:r>
            <a:endParaRPr lang="en-NZ" sz="1500" b="0" strike="noStrike" spc="-1">
              <a:latin typeface="Arial"/>
            </a:endParaRPr>
          </a:p>
        </p:txBody>
      </p:sp>
      <p:pic>
        <p:nvPicPr>
          <p:cNvPr id="200" name="Google Shape;215;p21"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1" name="Google Shape;220;p22" descr="image.png"/>
          <p:cNvPicPr/>
          <p:nvPr/>
        </p:nvPicPr>
        <p:blipFill>
          <a:blip r:embed="rId2"/>
          <a:stretch/>
        </p:blipFill>
        <p:spPr>
          <a:xfrm>
            <a:off x="0" y="0"/>
            <a:ext cx="12191400" cy="6857280"/>
          </a:xfrm>
          <a:prstGeom prst="rect">
            <a:avLst/>
          </a:prstGeom>
          <a:ln w="0">
            <a:noFill/>
          </a:ln>
        </p:spPr>
      </p:pic>
      <p:pic>
        <p:nvPicPr>
          <p:cNvPr id="202" name="Google Shape;221;p22" descr="image.png"/>
          <p:cNvPicPr/>
          <p:nvPr/>
        </p:nvPicPr>
        <p:blipFill>
          <a:blip r:embed="rId3"/>
          <a:stretch/>
        </p:blipFill>
        <p:spPr>
          <a:xfrm>
            <a:off x="581040" y="1864800"/>
            <a:ext cx="5323680" cy="4285440"/>
          </a:xfrm>
          <a:prstGeom prst="rect">
            <a:avLst/>
          </a:prstGeom>
          <a:ln w="0">
            <a:noFill/>
          </a:ln>
        </p:spPr>
      </p:pic>
      <p:pic>
        <p:nvPicPr>
          <p:cNvPr id="203" name="Google Shape;222;p22" descr="image.png"/>
          <p:cNvPicPr/>
          <p:nvPr/>
        </p:nvPicPr>
        <p:blipFill>
          <a:blip r:embed="rId4"/>
          <a:stretch/>
        </p:blipFill>
        <p:spPr>
          <a:xfrm>
            <a:off x="9360" y="9360"/>
            <a:ext cx="12172320" cy="266040"/>
          </a:xfrm>
          <a:prstGeom prst="rect">
            <a:avLst/>
          </a:prstGeom>
          <a:ln w="0">
            <a:noFill/>
          </a:ln>
        </p:spPr>
      </p:pic>
      <p:pic>
        <p:nvPicPr>
          <p:cNvPr id="204" name="Google Shape;223;p22" descr="image.png"/>
          <p:cNvPicPr/>
          <p:nvPr/>
        </p:nvPicPr>
        <p:blipFill>
          <a:blip r:embed="rId4"/>
          <a:stretch/>
        </p:blipFill>
        <p:spPr>
          <a:xfrm>
            <a:off x="9360" y="6581880"/>
            <a:ext cx="12172320" cy="266040"/>
          </a:xfrm>
          <a:prstGeom prst="rect">
            <a:avLst/>
          </a:prstGeom>
          <a:ln w="0">
            <a:noFill/>
          </a:ln>
        </p:spPr>
      </p:pic>
      <p:sp>
        <p:nvSpPr>
          <p:cNvPr id="205" name="Google Shape;224;p22"/>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Echo Principle</a:t>
            </a:r>
            <a:endParaRPr lang="en-NZ" sz="2400" b="0" strike="noStrike" spc="-1">
              <a:latin typeface="Arial"/>
            </a:endParaRPr>
          </a:p>
        </p:txBody>
      </p:sp>
      <p:sp>
        <p:nvSpPr>
          <p:cNvPr id="206" name="Google Shape;225;p22"/>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207" name="Google Shape;226;p22" descr="image.png"/>
          <p:cNvPicPr/>
          <p:nvPr/>
        </p:nvPicPr>
        <p:blipFill>
          <a:blip r:embed="rId5"/>
          <a:stretch/>
        </p:blipFill>
        <p:spPr>
          <a:xfrm>
            <a:off x="590400" y="1874160"/>
            <a:ext cx="5304600" cy="4266360"/>
          </a:xfrm>
          <a:prstGeom prst="rect">
            <a:avLst/>
          </a:prstGeom>
          <a:ln w="0">
            <a:noFill/>
          </a:ln>
        </p:spPr>
      </p:pic>
      <p:sp>
        <p:nvSpPr>
          <p:cNvPr id="208" name="Google Shape;227;p22"/>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Radio Echoes</a:t>
            </a:r>
            <a:endParaRPr lang="en-NZ" sz="1410" b="0" strike="noStrike" spc="-1">
              <a:latin typeface="Arial"/>
            </a:endParaRPr>
          </a:p>
        </p:txBody>
      </p:sp>
      <p:sp>
        <p:nvSpPr>
          <p:cNvPr id="209" name="Google Shape;228;p22"/>
          <p:cNvSpPr/>
          <p:nvPr/>
        </p:nvSpPr>
        <p:spPr>
          <a:xfrm>
            <a:off x="6286680" y="339696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 is simply an echo in the radio spectrum.</a:t>
            </a:r>
            <a:endParaRPr lang="en-NZ" sz="1500" b="0" strike="noStrike" spc="-1">
              <a:latin typeface="Arial"/>
            </a:endParaRPr>
          </a:p>
        </p:txBody>
      </p:sp>
      <p:sp>
        <p:nvSpPr>
          <p:cNvPr id="210" name="Google Shape;229;p22"/>
          <p:cNvSpPr/>
          <p:nvPr/>
        </p:nvSpPr>
        <p:spPr>
          <a:xfrm>
            <a:off x="6286680" y="3873240"/>
            <a:ext cx="5323680" cy="114048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25000"/>
              </a:lnSpc>
              <a:tabLst>
                <a:tab pos="0" algn="l"/>
              </a:tabLst>
            </a:pPr>
            <a:r>
              <a:rPr lang="en-US" sz="1500" b="0" strike="noStrike" spc="-1">
                <a:solidFill>
                  <a:srgbClr val="CBD5E1"/>
                </a:solidFill>
                <a:latin typeface="Inter"/>
                <a:ea typeface="Inter"/>
              </a:rPr>
              <a:t>1. Transmit a loud burst of energy.</a:t>
            </a:r>
            <a:br/>
            <a:r>
              <a:rPr lang="en-US" sz="1500" b="0" strike="noStrike" spc="-1">
                <a:solidFill>
                  <a:srgbClr val="CBD5E1"/>
                </a:solidFill>
                <a:latin typeface="Inter"/>
                <a:ea typeface="Inter"/>
              </a:rPr>
              <a:t> 2. Wait.</a:t>
            </a:r>
            <a:br/>
            <a:r>
              <a:rPr lang="en-US" sz="1500" b="0" strike="noStrike" spc="-1">
                <a:solidFill>
                  <a:srgbClr val="CBD5E1"/>
                </a:solidFill>
                <a:latin typeface="Inter"/>
                <a:ea typeface="Inter"/>
              </a:rPr>
              <a:t> 3. Detect the tiny fraction of energy that bounces off the target.</a:t>
            </a:r>
            <a:endParaRPr lang="en-NZ" sz="1500" b="0" strike="noStrike" spc="-1">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1" name="Google Shape;234;p23" descr="image.png"/>
          <p:cNvPicPr/>
          <p:nvPr/>
        </p:nvPicPr>
        <p:blipFill>
          <a:blip r:embed="rId2"/>
          <a:stretch/>
        </p:blipFill>
        <p:spPr>
          <a:xfrm>
            <a:off x="0" y="0"/>
            <a:ext cx="12191400" cy="6857280"/>
          </a:xfrm>
          <a:prstGeom prst="rect">
            <a:avLst/>
          </a:prstGeom>
          <a:ln w="0">
            <a:noFill/>
          </a:ln>
        </p:spPr>
      </p:pic>
      <p:pic>
        <p:nvPicPr>
          <p:cNvPr id="212" name="Google Shape;235;p23" descr="image.png"/>
          <p:cNvPicPr/>
          <p:nvPr/>
        </p:nvPicPr>
        <p:blipFill>
          <a:blip r:embed="rId3"/>
          <a:stretch/>
        </p:blipFill>
        <p:spPr>
          <a:xfrm>
            <a:off x="581040" y="2989800"/>
            <a:ext cx="11029320" cy="2035080"/>
          </a:xfrm>
          <a:prstGeom prst="rect">
            <a:avLst/>
          </a:prstGeom>
          <a:ln w="0">
            <a:noFill/>
          </a:ln>
        </p:spPr>
      </p:pic>
      <p:pic>
        <p:nvPicPr>
          <p:cNvPr id="213" name="Google Shape;236;p23" descr="image.png"/>
          <p:cNvPicPr/>
          <p:nvPr/>
        </p:nvPicPr>
        <p:blipFill>
          <a:blip r:embed="rId4"/>
          <a:stretch/>
        </p:blipFill>
        <p:spPr>
          <a:xfrm>
            <a:off x="9360" y="9360"/>
            <a:ext cx="12172320" cy="266040"/>
          </a:xfrm>
          <a:prstGeom prst="rect">
            <a:avLst/>
          </a:prstGeom>
          <a:ln w="0">
            <a:noFill/>
          </a:ln>
        </p:spPr>
      </p:pic>
      <p:pic>
        <p:nvPicPr>
          <p:cNvPr id="214" name="Google Shape;237;p23" descr="image.png"/>
          <p:cNvPicPr/>
          <p:nvPr/>
        </p:nvPicPr>
        <p:blipFill>
          <a:blip r:embed="rId4"/>
          <a:stretch/>
        </p:blipFill>
        <p:spPr>
          <a:xfrm>
            <a:off x="9360" y="6581880"/>
            <a:ext cx="12172320" cy="266040"/>
          </a:xfrm>
          <a:prstGeom prst="rect">
            <a:avLst/>
          </a:prstGeom>
          <a:ln w="0">
            <a:noFill/>
          </a:ln>
        </p:spPr>
      </p:pic>
      <p:sp>
        <p:nvSpPr>
          <p:cNvPr id="215" name="Google Shape;238;p23"/>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Measuring Distance</a:t>
            </a:r>
            <a:endParaRPr lang="en-NZ" sz="2400" b="0" strike="noStrike" spc="-1">
              <a:latin typeface="Arial"/>
            </a:endParaRPr>
          </a:p>
        </p:txBody>
      </p:sp>
      <p:sp>
        <p:nvSpPr>
          <p:cNvPr id="216" name="Google Shape;239;p23"/>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17" name="Google Shape;240;p23"/>
          <p:cNvSpPr/>
          <p:nvPr/>
        </p:nvSpPr>
        <p:spPr>
          <a:xfrm>
            <a:off x="515160" y="336816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00000"/>
              </a:lnSpc>
              <a:tabLst>
                <a:tab pos="0" algn="l"/>
              </a:tabLst>
            </a:pPr>
            <a:r>
              <a:rPr lang="en-US" sz="1410" b="1" strike="noStrike" spc="-1">
                <a:solidFill>
                  <a:srgbClr val="E2E8F0"/>
                </a:solidFill>
                <a:latin typeface="Inter"/>
                <a:ea typeface="Inter"/>
              </a:rPr>
              <a:t>Time of Flight</a:t>
            </a:r>
            <a:endParaRPr lang="en-NZ" sz="1410" b="0" strike="noStrike" spc="-1">
              <a:latin typeface="Arial"/>
            </a:endParaRPr>
          </a:p>
        </p:txBody>
      </p:sp>
      <p:sp>
        <p:nvSpPr>
          <p:cNvPr id="218" name="Google Shape;241;p23"/>
          <p:cNvSpPr/>
          <p:nvPr/>
        </p:nvSpPr>
        <p:spPr>
          <a:xfrm>
            <a:off x="781200" y="3777840"/>
            <a:ext cx="10629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50000"/>
              </a:lnSpc>
              <a:tabLst>
                <a:tab pos="0" algn="l"/>
              </a:tabLst>
            </a:pPr>
            <a:r>
              <a:rPr lang="en-US" sz="1800" b="1" strike="noStrike" spc="-1">
                <a:solidFill>
                  <a:srgbClr val="CBD5E1"/>
                </a:solidFill>
                <a:latin typeface="Inter"/>
                <a:ea typeface="Inter"/>
              </a:rPr>
              <a:t>Distance = (Speed of Light × Time) / 2</a:t>
            </a:r>
            <a:endParaRPr lang="en-NZ" sz="1800" b="0" strike="noStrike" spc="-1">
              <a:latin typeface="Arial"/>
            </a:endParaRPr>
          </a:p>
        </p:txBody>
      </p:sp>
      <p:sp>
        <p:nvSpPr>
          <p:cNvPr id="219" name="Google Shape;242;p23"/>
          <p:cNvSpPr/>
          <p:nvPr/>
        </p:nvSpPr>
        <p:spPr>
          <a:xfrm>
            <a:off x="781200" y="434952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50000"/>
              </a:lnSpc>
              <a:tabLst>
                <a:tab pos="0" algn="l"/>
              </a:tabLst>
            </a:pPr>
            <a:r>
              <a:rPr lang="en-US" sz="1500" b="0" strike="noStrike" spc="-1">
                <a:solidFill>
                  <a:srgbClr val="CBD5E1"/>
                </a:solidFill>
                <a:latin typeface="Inter"/>
                <a:ea typeface="Inter"/>
              </a:rPr>
              <a:t>We divide by 2 because the signal has to travel to the target AND back.</a:t>
            </a:r>
            <a:endParaRPr lang="en-NZ" sz="1500" b="0" strike="noStrike" spc="-1">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0" name="Google Shape;247;p24" descr="image.png"/>
          <p:cNvPicPr/>
          <p:nvPr/>
        </p:nvPicPr>
        <p:blipFill>
          <a:blip r:embed="rId2"/>
          <a:stretch/>
        </p:blipFill>
        <p:spPr>
          <a:xfrm>
            <a:off x="0" y="0"/>
            <a:ext cx="12191400" cy="6857280"/>
          </a:xfrm>
          <a:prstGeom prst="rect">
            <a:avLst/>
          </a:prstGeom>
          <a:ln w="0">
            <a:noFill/>
          </a:ln>
        </p:spPr>
      </p:pic>
      <p:pic>
        <p:nvPicPr>
          <p:cNvPr id="221" name="Google Shape;248;p24" descr="image.png"/>
          <p:cNvPicPr/>
          <p:nvPr/>
        </p:nvPicPr>
        <p:blipFill>
          <a:blip r:embed="rId3"/>
          <a:stretch/>
        </p:blipFill>
        <p:spPr>
          <a:xfrm>
            <a:off x="581040" y="2989800"/>
            <a:ext cx="3548880" cy="2035080"/>
          </a:xfrm>
          <a:prstGeom prst="rect">
            <a:avLst/>
          </a:prstGeom>
          <a:ln w="0">
            <a:noFill/>
          </a:ln>
        </p:spPr>
      </p:pic>
      <p:pic>
        <p:nvPicPr>
          <p:cNvPr id="222" name="Google Shape;249;p24" descr="image.png"/>
          <p:cNvPicPr/>
          <p:nvPr/>
        </p:nvPicPr>
        <p:blipFill>
          <a:blip r:embed="rId4"/>
          <a:stretch/>
        </p:blipFill>
        <p:spPr>
          <a:xfrm>
            <a:off x="4321080" y="2989800"/>
            <a:ext cx="3548880" cy="2035080"/>
          </a:xfrm>
          <a:prstGeom prst="rect">
            <a:avLst/>
          </a:prstGeom>
          <a:ln w="0">
            <a:noFill/>
          </a:ln>
        </p:spPr>
      </p:pic>
      <p:pic>
        <p:nvPicPr>
          <p:cNvPr id="223" name="Google Shape;250;p24" descr="image.png"/>
          <p:cNvPicPr/>
          <p:nvPr/>
        </p:nvPicPr>
        <p:blipFill>
          <a:blip r:embed="rId5"/>
          <a:stretch/>
        </p:blipFill>
        <p:spPr>
          <a:xfrm>
            <a:off x="8061120" y="2989800"/>
            <a:ext cx="3548880" cy="2035080"/>
          </a:xfrm>
          <a:prstGeom prst="rect">
            <a:avLst/>
          </a:prstGeom>
          <a:ln w="0">
            <a:noFill/>
          </a:ln>
        </p:spPr>
      </p:pic>
      <p:pic>
        <p:nvPicPr>
          <p:cNvPr id="224" name="Google Shape;251;p24" descr="image.png"/>
          <p:cNvPicPr/>
          <p:nvPr/>
        </p:nvPicPr>
        <p:blipFill>
          <a:blip r:embed="rId6"/>
          <a:stretch/>
        </p:blipFill>
        <p:spPr>
          <a:xfrm>
            <a:off x="9360" y="9360"/>
            <a:ext cx="12172320" cy="266040"/>
          </a:xfrm>
          <a:prstGeom prst="rect">
            <a:avLst/>
          </a:prstGeom>
          <a:ln w="0">
            <a:noFill/>
          </a:ln>
        </p:spPr>
      </p:pic>
      <p:pic>
        <p:nvPicPr>
          <p:cNvPr id="225" name="Google Shape;252;p24" descr="image.png"/>
          <p:cNvPicPr/>
          <p:nvPr/>
        </p:nvPicPr>
        <p:blipFill>
          <a:blip r:embed="rId6"/>
          <a:stretch/>
        </p:blipFill>
        <p:spPr>
          <a:xfrm>
            <a:off x="9360" y="6581880"/>
            <a:ext cx="12172320" cy="266040"/>
          </a:xfrm>
          <a:prstGeom prst="rect">
            <a:avLst/>
          </a:prstGeom>
          <a:ln w="0">
            <a:noFill/>
          </a:ln>
        </p:spPr>
      </p:pic>
      <p:sp>
        <p:nvSpPr>
          <p:cNvPr id="226" name="Google Shape;253;p24"/>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Radar Equation (Variables)</a:t>
            </a:r>
            <a:endParaRPr lang="en-NZ" sz="2400" b="0" strike="noStrike" spc="-1">
              <a:latin typeface="Arial"/>
            </a:endParaRPr>
          </a:p>
        </p:txBody>
      </p:sp>
      <p:sp>
        <p:nvSpPr>
          <p:cNvPr id="227" name="Google Shape;254;p24"/>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28" name="Google Shape;255;p24"/>
          <p:cNvSpPr/>
          <p:nvPr/>
        </p:nvSpPr>
        <p:spPr>
          <a:xfrm>
            <a:off x="781200" y="336816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Power (Tx)</a:t>
            </a:r>
            <a:endParaRPr lang="en-NZ" sz="1410" b="0" strike="noStrike" spc="-1">
              <a:latin typeface="Arial"/>
            </a:endParaRPr>
          </a:p>
        </p:txBody>
      </p:sp>
      <p:sp>
        <p:nvSpPr>
          <p:cNvPr id="229" name="Google Shape;256;p24"/>
          <p:cNvSpPr/>
          <p:nvPr/>
        </p:nvSpPr>
        <p:spPr>
          <a:xfrm>
            <a:off x="781200" y="377784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How loud you shout. More power = more range.</a:t>
            </a:r>
            <a:endParaRPr lang="en-NZ" sz="1500" b="0" strike="noStrike" spc="-1">
              <a:latin typeface="Arial"/>
            </a:endParaRPr>
          </a:p>
        </p:txBody>
      </p:sp>
      <p:sp>
        <p:nvSpPr>
          <p:cNvPr id="230" name="Google Shape;257;p24"/>
          <p:cNvSpPr/>
          <p:nvPr/>
        </p:nvSpPr>
        <p:spPr>
          <a:xfrm>
            <a:off x="4521240" y="336816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Gain (G)</a:t>
            </a:r>
            <a:endParaRPr lang="en-NZ" sz="1410" b="0" strike="noStrike" spc="-1">
              <a:latin typeface="Arial"/>
            </a:endParaRPr>
          </a:p>
        </p:txBody>
      </p:sp>
      <p:sp>
        <p:nvSpPr>
          <p:cNvPr id="231" name="Google Shape;258;p24"/>
          <p:cNvSpPr/>
          <p:nvPr/>
        </p:nvSpPr>
        <p:spPr>
          <a:xfrm>
            <a:off x="4521240" y="3777840"/>
            <a:ext cx="314892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How focused the beam is. A flashlight goes further than a candle.</a:t>
            </a:r>
            <a:endParaRPr lang="en-NZ" sz="1500" b="0" strike="noStrike" spc="-1">
              <a:latin typeface="Arial"/>
            </a:endParaRPr>
          </a:p>
        </p:txBody>
      </p:sp>
      <p:sp>
        <p:nvSpPr>
          <p:cNvPr id="232" name="Google Shape;259;p24"/>
          <p:cNvSpPr/>
          <p:nvPr/>
        </p:nvSpPr>
        <p:spPr>
          <a:xfrm>
            <a:off x="8261280" y="336816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Sigma (σ)</a:t>
            </a:r>
            <a:endParaRPr lang="en-NZ" sz="1410" b="0" strike="noStrike" spc="-1">
              <a:latin typeface="Arial"/>
            </a:endParaRPr>
          </a:p>
        </p:txBody>
      </p:sp>
      <p:sp>
        <p:nvSpPr>
          <p:cNvPr id="233" name="Google Shape;260;p24"/>
          <p:cNvSpPr/>
          <p:nvPr/>
        </p:nvSpPr>
        <p:spPr>
          <a:xfrm>
            <a:off x="8261280" y="377784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Radar Cross Section. How reflective the target is.</a:t>
            </a:r>
            <a:endParaRPr lang="en-NZ" sz="1500" b="0" strike="noStrike" spc="-1">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4" name="Google Shape;265;p25" descr="image.png"/>
          <p:cNvPicPr/>
          <p:nvPr/>
        </p:nvPicPr>
        <p:blipFill>
          <a:blip r:embed="rId2"/>
          <a:stretch/>
        </p:blipFill>
        <p:spPr>
          <a:xfrm>
            <a:off x="0" y="0"/>
            <a:ext cx="12191400" cy="6857280"/>
          </a:xfrm>
          <a:prstGeom prst="rect">
            <a:avLst/>
          </a:prstGeom>
          <a:ln w="0">
            <a:noFill/>
          </a:ln>
        </p:spPr>
      </p:pic>
      <p:pic>
        <p:nvPicPr>
          <p:cNvPr id="235" name="Google Shape;266;p25" descr="image.png"/>
          <p:cNvPicPr/>
          <p:nvPr/>
        </p:nvPicPr>
        <p:blipFill>
          <a:blip r:embed="rId3"/>
          <a:stretch/>
        </p:blipFill>
        <p:spPr>
          <a:xfrm>
            <a:off x="581040" y="1864800"/>
            <a:ext cx="5323680" cy="4285440"/>
          </a:xfrm>
          <a:prstGeom prst="rect">
            <a:avLst/>
          </a:prstGeom>
          <a:ln w="0">
            <a:noFill/>
          </a:ln>
        </p:spPr>
      </p:pic>
      <p:pic>
        <p:nvPicPr>
          <p:cNvPr id="236" name="Google Shape;267;p25" descr="image.png"/>
          <p:cNvPicPr/>
          <p:nvPr/>
        </p:nvPicPr>
        <p:blipFill>
          <a:blip r:embed="rId4"/>
          <a:stretch/>
        </p:blipFill>
        <p:spPr>
          <a:xfrm>
            <a:off x="9360" y="9360"/>
            <a:ext cx="12172320" cy="266040"/>
          </a:xfrm>
          <a:prstGeom prst="rect">
            <a:avLst/>
          </a:prstGeom>
          <a:ln w="0">
            <a:noFill/>
          </a:ln>
        </p:spPr>
      </p:pic>
      <p:pic>
        <p:nvPicPr>
          <p:cNvPr id="237" name="Google Shape;268;p25" descr="image.png"/>
          <p:cNvPicPr/>
          <p:nvPr/>
        </p:nvPicPr>
        <p:blipFill>
          <a:blip r:embed="rId4"/>
          <a:stretch/>
        </p:blipFill>
        <p:spPr>
          <a:xfrm>
            <a:off x="9360" y="6581880"/>
            <a:ext cx="12172320" cy="266040"/>
          </a:xfrm>
          <a:prstGeom prst="rect">
            <a:avLst/>
          </a:prstGeom>
          <a:ln w="0">
            <a:noFill/>
          </a:ln>
        </p:spPr>
      </p:pic>
      <p:sp>
        <p:nvSpPr>
          <p:cNvPr id="238" name="Google Shape;269;p25"/>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Signal Fading (1/R^4)</a:t>
            </a:r>
            <a:endParaRPr lang="en-NZ" sz="2400" b="0" strike="noStrike" spc="-1">
              <a:latin typeface="Arial"/>
            </a:endParaRPr>
          </a:p>
        </p:txBody>
      </p:sp>
      <p:sp>
        <p:nvSpPr>
          <p:cNvPr id="239" name="Google Shape;270;p25"/>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240" name="Google Shape;271;p25" descr="image.png"/>
          <p:cNvPicPr/>
          <p:nvPr/>
        </p:nvPicPr>
        <p:blipFill>
          <a:blip r:embed="rId5"/>
          <a:stretch/>
        </p:blipFill>
        <p:spPr>
          <a:xfrm>
            <a:off x="590400" y="1874160"/>
            <a:ext cx="5304600" cy="4266360"/>
          </a:xfrm>
          <a:prstGeom prst="rect">
            <a:avLst/>
          </a:prstGeom>
          <a:ln w="0">
            <a:noFill/>
          </a:ln>
        </p:spPr>
      </p:pic>
      <p:sp>
        <p:nvSpPr>
          <p:cNvPr id="241" name="Google Shape;272;p25"/>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Double Fade</a:t>
            </a:r>
            <a:endParaRPr lang="en-NZ" sz="1410" b="0" strike="noStrike" spc="-1">
              <a:latin typeface="Arial"/>
            </a:endParaRPr>
          </a:p>
        </p:txBody>
      </p:sp>
      <p:sp>
        <p:nvSpPr>
          <p:cNvPr id="242" name="Google Shape;273;p25"/>
          <p:cNvSpPr/>
          <p:nvPr/>
        </p:nvSpPr>
        <p:spPr>
          <a:xfrm>
            <a:off x="6286680" y="339696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 signals fade incredibly fast. The energy spreads out on the way there (1/R²), and spreads out again on the way back (1/R²).</a:t>
            </a:r>
            <a:endParaRPr lang="en-NZ" sz="1500" b="0" strike="noStrike" spc="-1">
              <a:latin typeface="Arial"/>
            </a:endParaRPr>
          </a:p>
        </p:txBody>
      </p:sp>
      <p:sp>
        <p:nvSpPr>
          <p:cNvPr id="243" name="Google Shape;274;p25"/>
          <p:cNvSpPr/>
          <p:nvPr/>
        </p:nvSpPr>
        <p:spPr>
          <a:xfrm>
            <a:off x="6286680" y="44445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Result:</a:t>
            </a:r>
            <a:r>
              <a:rPr lang="en-US" sz="1500" b="0" strike="noStrike" spc="-1">
                <a:solidFill>
                  <a:srgbClr val="CBD5E1"/>
                </a:solidFill>
                <a:latin typeface="Inter"/>
                <a:ea typeface="Inter"/>
              </a:rPr>
              <a:t> To double detection range, you need </a:t>
            </a:r>
            <a:r>
              <a:rPr lang="en-US" sz="1500" b="1" strike="noStrike" spc="-1">
                <a:solidFill>
                  <a:srgbClr val="CBD5E1"/>
                </a:solidFill>
                <a:latin typeface="Inter"/>
                <a:ea typeface="Inter"/>
              </a:rPr>
              <a:t>16 times</a:t>
            </a:r>
            <a:r>
              <a:rPr lang="en-US" sz="1500" b="0" strike="noStrike" spc="-1">
                <a:solidFill>
                  <a:srgbClr val="CBD5E1"/>
                </a:solidFill>
                <a:latin typeface="Inter"/>
                <a:ea typeface="Inter"/>
              </a:rPr>
              <a:t> more power.</a:t>
            </a:r>
            <a:endParaRPr lang="en-NZ" sz="1500" b="0" strike="noStrike" spc="-1">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4" name="Google Shape;279;p26" descr="image.png"/>
          <p:cNvPicPr/>
          <p:nvPr/>
        </p:nvPicPr>
        <p:blipFill>
          <a:blip r:embed="rId2"/>
          <a:stretch/>
        </p:blipFill>
        <p:spPr>
          <a:xfrm>
            <a:off x="-9720" y="0"/>
            <a:ext cx="12191400" cy="6857280"/>
          </a:xfrm>
          <a:prstGeom prst="rect">
            <a:avLst/>
          </a:prstGeom>
          <a:ln w="0">
            <a:noFill/>
          </a:ln>
        </p:spPr>
      </p:pic>
      <p:pic>
        <p:nvPicPr>
          <p:cNvPr id="245" name="Google Shape;280;p26" descr="image.png"/>
          <p:cNvPicPr/>
          <p:nvPr/>
        </p:nvPicPr>
        <p:blipFill>
          <a:blip r:embed="rId3"/>
          <a:stretch/>
        </p:blipFill>
        <p:spPr>
          <a:xfrm>
            <a:off x="6286680" y="1864800"/>
            <a:ext cx="5323680" cy="4285440"/>
          </a:xfrm>
          <a:prstGeom prst="rect">
            <a:avLst/>
          </a:prstGeom>
          <a:ln w="0">
            <a:noFill/>
          </a:ln>
        </p:spPr>
      </p:pic>
      <p:pic>
        <p:nvPicPr>
          <p:cNvPr id="246" name="Google Shape;281;p26" descr="image.png"/>
          <p:cNvPicPr/>
          <p:nvPr/>
        </p:nvPicPr>
        <p:blipFill>
          <a:blip r:embed="rId4"/>
          <a:stretch/>
        </p:blipFill>
        <p:spPr>
          <a:xfrm>
            <a:off x="9360" y="9360"/>
            <a:ext cx="12172320" cy="266040"/>
          </a:xfrm>
          <a:prstGeom prst="rect">
            <a:avLst/>
          </a:prstGeom>
          <a:ln w="0">
            <a:noFill/>
          </a:ln>
        </p:spPr>
      </p:pic>
      <p:pic>
        <p:nvPicPr>
          <p:cNvPr id="247" name="Google Shape;282;p26" descr="image.png"/>
          <p:cNvPicPr/>
          <p:nvPr/>
        </p:nvPicPr>
        <p:blipFill>
          <a:blip r:embed="rId4"/>
          <a:stretch/>
        </p:blipFill>
        <p:spPr>
          <a:xfrm>
            <a:off x="9360" y="6581880"/>
            <a:ext cx="12172320" cy="266040"/>
          </a:xfrm>
          <a:prstGeom prst="rect">
            <a:avLst/>
          </a:prstGeom>
          <a:ln w="0">
            <a:noFill/>
          </a:ln>
        </p:spPr>
      </p:pic>
      <p:sp>
        <p:nvSpPr>
          <p:cNvPr id="248" name="Google Shape;283;p26"/>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Radar Cross Section (RCS)</a:t>
            </a:r>
            <a:endParaRPr lang="en-NZ" sz="2400" b="0" strike="noStrike" spc="-1">
              <a:latin typeface="Arial"/>
            </a:endParaRPr>
          </a:p>
        </p:txBody>
      </p:sp>
      <p:sp>
        <p:nvSpPr>
          <p:cNvPr id="249" name="Google Shape;284;p26"/>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50" name="Google Shape;285;p26"/>
          <p:cNvSpPr/>
          <p:nvPr/>
        </p:nvSpPr>
        <p:spPr>
          <a:xfrm>
            <a:off x="58104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Electronic Size</a:t>
            </a:r>
            <a:endParaRPr lang="en-NZ" sz="1410" b="0" strike="noStrike" spc="-1">
              <a:latin typeface="Arial"/>
            </a:endParaRPr>
          </a:p>
        </p:txBody>
      </p:sp>
      <p:sp>
        <p:nvSpPr>
          <p:cNvPr id="251" name="Google Shape;286;p26"/>
          <p:cNvSpPr/>
          <p:nvPr/>
        </p:nvSpPr>
        <p:spPr>
          <a:xfrm>
            <a:off x="581040" y="353988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RCS measures how well an object reflects radar. It is not the same as physical size.</a:t>
            </a:r>
            <a:endParaRPr lang="en-NZ" sz="1500" b="0" strike="noStrike" spc="-1">
              <a:latin typeface="Arial"/>
            </a:endParaRPr>
          </a:p>
        </p:txBody>
      </p:sp>
      <p:sp>
        <p:nvSpPr>
          <p:cNvPr id="252" name="Google Shape;287;p26"/>
          <p:cNvSpPr/>
          <p:nvPr/>
        </p:nvSpPr>
        <p:spPr>
          <a:xfrm>
            <a:off x="581040" y="43016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 jumbo jet has a huge RCS. A stealth bomber, despite being large, has the RCS of a marble.</a:t>
            </a:r>
            <a:endParaRPr lang="en-NZ" sz="1500" b="0" strike="noStrike" spc="-1">
              <a:latin typeface="Arial"/>
            </a:endParaRPr>
          </a:p>
        </p:txBody>
      </p:sp>
      <p:pic>
        <p:nvPicPr>
          <p:cNvPr id="253" name="Google Shape;288;p26"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4" name="Google Shape;293;p27" descr="image.png"/>
          <p:cNvPicPr/>
          <p:nvPr/>
        </p:nvPicPr>
        <p:blipFill>
          <a:blip r:embed="rId2"/>
          <a:stretch/>
        </p:blipFill>
        <p:spPr>
          <a:xfrm>
            <a:off x="0" y="0"/>
            <a:ext cx="12191400" cy="6857280"/>
          </a:xfrm>
          <a:prstGeom prst="rect">
            <a:avLst/>
          </a:prstGeom>
          <a:ln w="0">
            <a:noFill/>
          </a:ln>
        </p:spPr>
      </p:pic>
      <p:pic>
        <p:nvPicPr>
          <p:cNvPr id="255" name="Google Shape;294;p27" descr="image.png"/>
          <p:cNvPicPr/>
          <p:nvPr/>
        </p:nvPicPr>
        <p:blipFill>
          <a:blip r:embed="rId3"/>
          <a:stretch/>
        </p:blipFill>
        <p:spPr>
          <a:xfrm>
            <a:off x="9360" y="9360"/>
            <a:ext cx="12172320" cy="266040"/>
          </a:xfrm>
          <a:prstGeom prst="rect">
            <a:avLst/>
          </a:prstGeom>
          <a:ln w="0">
            <a:noFill/>
          </a:ln>
        </p:spPr>
      </p:pic>
      <p:pic>
        <p:nvPicPr>
          <p:cNvPr id="256" name="Google Shape;295;p27" descr="image.png"/>
          <p:cNvPicPr/>
          <p:nvPr/>
        </p:nvPicPr>
        <p:blipFill>
          <a:blip r:embed="rId3"/>
          <a:stretch/>
        </p:blipFill>
        <p:spPr>
          <a:xfrm>
            <a:off x="9360" y="6581880"/>
            <a:ext cx="12172320" cy="266040"/>
          </a:xfrm>
          <a:prstGeom prst="rect">
            <a:avLst/>
          </a:prstGeom>
          <a:ln w="0">
            <a:noFill/>
          </a:ln>
        </p:spPr>
      </p:pic>
      <p:sp>
        <p:nvSpPr>
          <p:cNvPr id="257" name="Google Shape;296;p27"/>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Frequency Bands</a:t>
            </a:r>
            <a:endParaRPr lang="en-NZ" sz="2400" b="0" strike="noStrike" spc="-1">
              <a:latin typeface="Arial"/>
            </a:endParaRPr>
          </a:p>
        </p:txBody>
      </p:sp>
      <p:sp>
        <p:nvSpPr>
          <p:cNvPr id="258" name="Google Shape;297;p27"/>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graphicFrame>
        <p:nvGraphicFramePr>
          <p:cNvPr id="259" name="Google Shape;298;p27"/>
          <p:cNvGraphicFramePr/>
          <p:nvPr/>
        </p:nvGraphicFramePr>
        <p:xfrm>
          <a:off x="581040" y="3226680"/>
          <a:ext cx="11029320" cy="1561320"/>
        </p:xfrm>
        <a:graphic>
          <a:graphicData uri="http://schemas.openxmlformats.org/drawingml/2006/table">
            <a:tbl>
              <a:tblPr/>
              <a:tblGrid>
                <a:gridCol w="2242080">
                  <a:extLst>
                    <a:ext uri="{9D8B030D-6E8A-4147-A177-3AD203B41FA5}">
                      <a16:colId xmlns:a16="http://schemas.microsoft.com/office/drawing/2014/main" val="20000"/>
                    </a:ext>
                  </a:extLst>
                </a:gridCol>
                <a:gridCol w="2161080">
                  <a:extLst>
                    <a:ext uri="{9D8B030D-6E8A-4147-A177-3AD203B41FA5}">
                      <a16:colId xmlns:a16="http://schemas.microsoft.com/office/drawing/2014/main" val="20001"/>
                    </a:ext>
                  </a:extLst>
                </a:gridCol>
                <a:gridCol w="6626520">
                  <a:extLst>
                    <a:ext uri="{9D8B030D-6E8A-4147-A177-3AD203B41FA5}">
                      <a16:colId xmlns:a16="http://schemas.microsoft.com/office/drawing/2014/main" val="20002"/>
                    </a:ext>
                  </a:extLst>
                </a:gridCol>
              </a:tblGrid>
              <a:tr h="390240">
                <a:tc>
                  <a:txBody>
                    <a:bodyPr/>
                    <a:lstStyle/>
                    <a:p>
                      <a:pPr>
                        <a:lnSpc>
                          <a:spcPct val="100000"/>
                        </a:lnSpc>
                        <a:tabLst>
                          <a:tab pos="0" algn="l"/>
                        </a:tabLst>
                      </a:pPr>
                      <a:r>
                        <a:rPr lang="en-US" sz="1200" b="1" strike="noStrike" spc="-1">
                          <a:solidFill>
                            <a:srgbClr val="38BDF8"/>
                          </a:solidFill>
                          <a:latin typeface="Inter"/>
                          <a:ea typeface="Inter"/>
                        </a:rPr>
                        <a:t>Band</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4F81BD"/>
                    </a:solidFill>
                  </a:tcPr>
                </a:tc>
                <a:tc>
                  <a:txBody>
                    <a:bodyPr/>
                    <a:lstStyle/>
                    <a:p>
                      <a:pPr>
                        <a:lnSpc>
                          <a:spcPct val="100000"/>
                        </a:lnSpc>
                        <a:tabLst>
                          <a:tab pos="0" algn="l"/>
                        </a:tabLst>
                      </a:pPr>
                      <a:r>
                        <a:rPr lang="en-US" sz="1200" b="1" strike="noStrike" spc="-1">
                          <a:solidFill>
                            <a:srgbClr val="38BDF8"/>
                          </a:solidFill>
                          <a:latin typeface="Inter"/>
                          <a:ea typeface="Inter"/>
                        </a:rPr>
                        <a:t>Use Case</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4F81BD"/>
                    </a:solidFill>
                  </a:tcPr>
                </a:tc>
                <a:tc>
                  <a:txBody>
                    <a:bodyPr/>
                    <a:lstStyle/>
                    <a:p>
                      <a:pPr>
                        <a:lnSpc>
                          <a:spcPct val="100000"/>
                        </a:lnSpc>
                        <a:tabLst>
                          <a:tab pos="0" algn="l"/>
                        </a:tabLst>
                      </a:pPr>
                      <a:r>
                        <a:rPr lang="en-US" sz="1200" b="1" strike="noStrike" spc="-1">
                          <a:solidFill>
                            <a:srgbClr val="38BDF8"/>
                          </a:solidFill>
                          <a:latin typeface="Inter"/>
                          <a:ea typeface="Inter"/>
                        </a:rPr>
                        <a:t>Characteristic</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4F81BD"/>
                    </a:solidFill>
                  </a:tcPr>
                </a:tc>
                <a:extLst>
                  <a:ext uri="{0D108BD9-81ED-4DB2-BD59-A6C34878D82A}">
                    <a16:rowId xmlns:a16="http://schemas.microsoft.com/office/drawing/2014/main" val="10000"/>
                  </a:ext>
                </a:extLst>
              </a:tr>
              <a:tr h="390240">
                <a:tc>
                  <a:txBody>
                    <a:bodyPr/>
                    <a:lstStyle/>
                    <a:p>
                      <a:pPr>
                        <a:lnSpc>
                          <a:spcPct val="100000"/>
                        </a:lnSpc>
                        <a:tabLst>
                          <a:tab pos="0" algn="l"/>
                        </a:tabLst>
                      </a:pPr>
                      <a:r>
                        <a:rPr lang="en-US" sz="1200" b="1" strike="noStrike" spc="-1">
                          <a:solidFill>
                            <a:srgbClr val="3465A4"/>
                          </a:solidFill>
                          <a:latin typeface="Inter"/>
                          <a:ea typeface="Inter"/>
                        </a:rPr>
                        <a:t>HF / VHF</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CFD7E7"/>
                    </a:solidFill>
                  </a:tcPr>
                </a:tc>
                <a:tc>
                  <a:txBody>
                    <a:bodyPr/>
                    <a:lstStyle/>
                    <a:p>
                      <a:pPr>
                        <a:lnSpc>
                          <a:spcPct val="100000"/>
                        </a:lnSpc>
                        <a:tabLst>
                          <a:tab pos="0" algn="l"/>
                        </a:tabLst>
                      </a:pPr>
                      <a:r>
                        <a:rPr lang="en-US" sz="1200" b="0" strike="noStrike" spc="-1">
                          <a:solidFill>
                            <a:srgbClr val="3465A4"/>
                          </a:solidFill>
                          <a:latin typeface="Inter"/>
                          <a:ea typeface="Inter"/>
                        </a:rPr>
                        <a:t>Early Warning</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CFD7E7"/>
                    </a:solidFill>
                  </a:tcPr>
                </a:tc>
                <a:tc>
                  <a:txBody>
                    <a:bodyPr/>
                    <a:lstStyle/>
                    <a:p>
                      <a:pPr>
                        <a:lnSpc>
                          <a:spcPct val="100000"/>
                        </a:lnSpc>
                        <a:tabLst>
                          <a:tab pos="0" algn="l"/>
                        </a:tabLst>
                      </a:pPr>
                      <a:r>
                        <a:rPr lang="en-US" sz="1200" b="0" strike="noStrike" spc="-1">
                          <a:solidFill>
                            <a:srgbClr val="3465A4"/>
                          </a:solidFill>
                          <a:latin typeface="Inter"/>
                          <a:ea typeface="Inter"/>
                        </a:rPr>
                        <a:t>Long range, low accuracy. Can see stealth.</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CFD7E7"/>
                    </a:solidFill>
                  </a:tcPr>
                </a:tc>
                <a:extLst>
                  <a:ext uri="{0D108BD9-81ED-4DB2-BD59-A6C34878D82A}">
                    <a16:rowId xmlns:a16="http://schemas.microsoft.com/office/drawing/2014/main" val="10001"/>
                  </a:ext>
                </a:extLst>
              </a:tr>
              <a:tr h="390240">
                <a:tc>
                  <a:txBody>
                    <a:bodyPr/>
                    <a:lstStyle/>
                    <a:p>
                      <a:pPr>
                        <a:lnSpc>
                          <a:spcPct val="100000"/>
                        </a:lnSpc>
                        <a:tabLst>
                          <a:tab pos="0" algn="l"/>
                        </a:tabLst>
                      </a:pPr>
                      <a:r>
                        <a:rPr lang="en-US" sz="1200" b="1" strike="noStrike" spc="-1">
                          <a:solidFill>
                            <a:srgbClr val="3465A4"/>
                          </a:solidFill>
                          <a:latin typeface="Inter"/>
                          <a:ea typeface="Inter"/>
                        </a:rPr>
                        <a:t>L / S Band</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E8ECF4"/>
                    </a:solidFill>
                  </a:tcPr>
                </a:tc>
                <a:tc>
                  <a:txBody>
                    <a:bodyPr/>
                    <a:lstStyle/>
                    <a:p>
                      <a:pPr>
                        <a:lnSpc>
                          <a:spcPct val="100000"/>
                        </a:lnSpc>
                        <a:tabLst>
                          <a:tab pos="0" algn="l"/>
                        </a:tabLst>
                      </a:pPr>
                      <a:r>
                        <a:rPr lang="en-US" sz="1200" b="0" strike="noStrike" spc="-1">
                          <a:solidFill>
                            <a:srgbClr val="3465A4"/>
                          </a:solidFill>
                          <a:latin typeface="Inter"/>
                          <a:ea typeface="Inter"/>
                        </a:rPr>
                        <a:t>ATC, Search</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E8ECF4"/>
                    </a:solidFill>
                  </a:tcPr>
                </a:tc>
                <a:tc>
                  <a:txBody>
                    <a:bodyPr/>
                    <a:lstStyle/>
                    <a:p>
                      <a:pPr>
                        <a:lnSpc>
                          <a:spcPct val="100000"/>
                        </a:lnSpc>
                        <a:tabLst>
                          <a:tab pos="0" algn="l"/>
                        </a:tabLst>
                      </a:pPr>
                      <a:r>
                        <a:rPr lang="en-US" sz="1200" b="0" strike="noStrike" spc="-1">
                          <a:solidFill>
                            <a:srgbClr val="3465A4"/>
                          </a:solidFill>
                          <a:latin typeface="Inter"/>
                          <a:ea typeface="Inter"/>
                        </a:rPr>
                        <a:t>Balanced range and precision.</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E8ECF4"/>
                    </a:solidFill>
                  </a:tcPr>
                </a:tc>
                <a:extLst>
                  <a:ext uri="{0D108BD9-81ED-4DB2-BD59-A6C34878D82A}">
                    <a16:rowId xmlns:a16="http://schemas.microsoft.com/office/drawing/2014/main" val="10002"/>
                  </a:ext>
                </a:extLst>
              </a:tr>
              <a:tr h="390960">
                <a:tc>
                  <a:txBody>
                    <a:bodyPr/>
                    <a:lstStyle/>
                    <a:p>
                      <a:pPr>
                        <a:lnSpc>
                          <a:spcPct val="100000"/>
                        </a:lnSpc>
                        <a:tabLst>
                          <a:tab pos="0" algn="l"/>
                        </a:tabLst>
                      </a:pPr>
                      <a:r>
                        <a:rPr lang="en-US" sz="1200" b="1" strike="noStrike" spc="-1">
                          <a:solidFill>
                            <a:srgbClr val="3465A4"/>
                          </a:solidFill>
                          <a:latin typeface="Inter"/>
                          <a:ea typeface="Inter"/>
                        </a:rPr>
                        <a:t>X / Ku Band</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CFD7E7"/>
                    </a:solidFill>
                  </a:tcPr>
                </a:tc>
                <a:tc>
                  <a:txBody>
                    <a:bodyPr/>
                    <a:lstStyle/>
                    <a:p>
                      <a:pPr>
                        <a:lnSpc>
                          <a:spcPct val="100000"/>
                        </a:lnSpc>
                        <a:tabLst>
                          <a:tab pos="0" algn="l"/>
                        </a:tabLst>
                      </a:pPr>
                      <a:r>
                        <a:rPr lang="en-US" sz="1200" b="0" strike="noStrike" spc="-1">
                          <a:solidFill>
                            <a:srgbClr val="3465A4"/>
                          </a:solidFill>
                          <a:latin typeface="Inter"/>
                          <a:ea typeface="Inter"/>
                        </a:rPr>
                        <a:t>Fire Control</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CFD7E7"/>
                    </a:solidFill>
                  </a:tcPr>
                </a:tc>
                <a:tc>
                  <a:txBody>
                    <a:bodyPr/>
                    <a:lstStyle/>
                    <a:p>
                      <a:pPr>
                        <a:lnSpc>
                          <a:spcPct val="100000"/>
                        </a:lnSpc>
                        <a:tabLst>
                          <a:tab pos="0" algn="l"/>
                        </a:tabLst>
                      </a:pPr>
                      <a:r>
                        <a:rPr lang="en-US" sz="1200" b="0" strike="noStrike" spc="-1">
                          <a:solidFill>
                            <a:srgbClr val="3465A4"/>
                          </a:solidFill>
                          <a:latin typeface="Inter"/>
                          <a:ea typeface="Inter"/>
                        </a:rPr>
                        <a:t>Short range, pin-point accuracy.</a:t>
                      </a:r>
                      <a:endParaRPr lang="en-NZ" sz="1200" b="0" strike="noStrike" spc="-1">
                        <a:latin typeface="Arial"/>
                      </a:endParaRPr>
                    </a:p>
                  </a:txBody>
                  <a:tcPr marL="63360" marR="63360">
                    <a:lnL w="9360">
                      <a:solidFill>
                        <a:srgbClr val="000000"/>
                      </a:solidFill>
                    </a:lnL>
                    <a:lnR w="9360">
                      <a:solidFill>
                        <a:srgbClr val="000000"/>
                      </a:solidFill>
                    </a:lnR>
                    <a:lnT w="9360">
                      <a:solidFill>
                        <a:srgbClr val="000000"/>
                      </a:solidFill>
                    </a:lnT>
                    <a:lnB w="9360">
                      <a:solidFill>
                        <a:srgbClr val="000000"/>
                      </a:solidFill>
                    </a:lnB>
                    <a:solidFill>
                      <a:srgbClr val="CFD7E7"/>
                    </a:solidFill>
                  </a:tcPr>
                </a:tc>
                <a:extLst>
                  <a:ext uri="{0D108BD9-81ED-4DB2-BD59-A6C34878D82A}">
                    <a16:rowId xmlns:a16="http://schemas.microsoft.com/office/drawing/2014/main" val="10003"/>
                  </a:ext>
                </a:extLst>
              </a:tr>
            </a:tbl>
          </a:graphicData>
        </a:graphic>
      </p:graphicFrame>
      <p:pic>
        <p:nvPicPr>
          <p:cNvPr id="260" name="Picture 259"/>
          <p:cNvPicPr/>
          <p:nvPr/>
        </p:nvPicPr>
        <p:blipFill>
          <a:blip r:embed="rId4"/>
          <a:stretch/>
        </p:blipFill>
        <p:spPr>
          <a:xfrm>
            <a:off x="1296000" y="1642320"/>
            <a:ext cx="9524160" cy="141732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1" name="Google Shape;303;p28" descr="image.png"/>
          <p:cNvPicPr/>
          <p:nvPr/>
        </p:nvPicPr>
        <p:blipFill>
          <a:blip r:embed="rId2"/>
          <a:stretch/>
        </p:blipFill>
        <p:spPr>
          <a:xfrm>
            <a:off x="-9720" y="0"/>
            <a:ext cx="12191400" cy="6857280"/>
          </a:xfrm>
          <a:prstGeom prst="rect">
            <a:avLst/>
          </a:prstGeom>
          <a:ln w="0">
            <a:noFill/>
          </a:ln>
        </p:spPr>
      </p:pic>
      <p:pic>
        <p:nvPicPr>
          <p:cNvPr id="262" name="Google Shape;305;p28" descr="image.png"/>
          <p:cNvPicPr/>
          <p:nvPr/>
        </p:nvPicPr>
        <p:blipFill>
          <a:blip r:embed="rId3"/>
          <a:stretch/>
        </p:blipFill>
        <p:spPr>
          <a:xfrm>
            <a:off x="9360" y="9360"/>
            <a:ext cx="12172320" cy="266040"/>
          </a:xfrm>
          <a:prstGeom prst="rect">
            <a:avLst/>
          </a:prstGeom>
          <a:ln w="0">
            <a:noFill/>
          </a:ln>
        </p:spPr>
      </p:pic>
      <p:pic>
        <p:nvPicPr>
          <p:cNvPr id="263" name="Google Shape;306;p28" descr="image.png"/>
          <p:cNvPicPr/>
          <p:nvPr/>
        </p:nvPicPr>
        <p:blipFill>
          <a:blip r:embed="rId3"/>
          <a:stretch/>
        </p:blipFill>
        <p:spPr>
          <a:xfrm>
            <a:off x="9360" y="6581880"/>
            <a:ext cx="12172320" cy="266040"/>
          </a:xfrm>
          <a:prstGeom prst="rect">
            <a:avLst/>
          </a:prstGeom>
          <a:ln w="0">
            <a:noFill/>
          </a:ln>
        </p:spPr>
      </p:pic>
      <p:sp>
        <p:nvSpPr>
          <p:cNvPr id="264" name="Google Shape;307;p28"/>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Pulse Train</a:t>
            </a:r>
            <a:endParaRPr lang="en-NZ" sz="2400" b="0" strike="noStrike" spc="-1">
              <a:latin typeface="Arial"/>
            </a:endParaRPr>
          </a:p>
        </p:txBody>
      </p:sp>
      <p:sp>
        <p:nvSpPr>
          <p:cNvPr id="265" name="Google Shape;308;p28"/>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66" name="Google Shape;310;p28"/>
          <p:cNvSpPr/>
          <p:nvPr/>
        </p:nvSpPr>
        <p:spPr>
          <a:xfrm>
            <a:off x="628668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Transmit and Listen</a:t>
            </a:r>
            <a:endParaRPr lang="en-NZ" sz="1410" b="0" strike="noStrike" spc="-1">
              <a:latin typeface="Arial"/>
            </a:endParaRPr>
          </a:p>
        </p:txBody>
      </p:sp>
      <p:sp>
        <p:nvSpPr>
          <p:cNvPr id="267" name="Google Shape;311;p28"/>
          <p:cNvSpPr/>
          <p:nvPr/>
        </p:nvSpPr>
        <p:spPr>
          <a:xfrm>
            <a:off x="6286680" y="353988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 cannot transmit and listen at the same time. It fires a burst (Tx) and then listens (Rx).</a:t>
            </a:r>
            <a:endParaRPr lang="en-NZ" sz="1500" b="0" strike="noStrike" spc="-1">
              <a:latin typeface="Arial"/>
            </a:endParaRPr>
          </a:p>
        </p:txBody>
      </p:sp>
      <p:sp>
        <p:nvSpPr>
          <p:cNvPr id="268" name="Google Shape;312;p28"/>
          <p:cNvSpPr/>
          <p:nvPr/>
        </p:nvSpPr>
        <p:spPr>
          <a:xfrm>
            <a:off x="6286680" y="43016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Duty Cycle:</a:t>
            </a:r>
            <a:r>
              <a:rPr lang="en-US" sz="1500" b="0" strike="noStrike" spc="-1">
                <a:solidFill>
                  <a:srgbClr val="CBD5E1"/>
                </a:solidFill>
                <a:latin typeface="Inter"/>
                <a:ea typeface="Inter"/>
              </a:rPr>
              <a:t> Radars spend 99% of their time listening and only 1% transmitting.</a:t>
            </a:r>
            <a:endParaRPr lang="en-NZ" sz="1500" b="0" strike="noStrike" spc="-1">
              <a:latin typeface="Arial"/>
            </a:endParaRPr>
          </a:p>
        </p:txBody>
      </p:sp>
      <p:pic>
        <p:nvPicPr>
          <p:cNvPr id="269" name="Picture 268"/>
          <p:cNvPicPr/>
          <p:nvPr/>
        </p:nvPicPr>
        <p:blipFill>
          <a:blip r:embed="rId4"/>
          <a:stretch/>
        </p:blipFill>
        <p:spPr>
          <a:xfrm>
            <a:off x="474840" y="3060000"/>
            <a:ext cx="5104800" cy="1402560"/>
          </a:xfrm>
          <a:prstGeom prst="rect">
            <a:avLst/>
          </a:prstGeom>
          <a:ln w="0">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0" name="Google Shape;317;p29" descr="image.png"/>
          <p:cNvPicPr/>
          <p:nvPr/>
        </p:nvPicPr>
        <p:blipFill>
          <a:blip r:embed="rId2"/>
          <a:stretch/>
        </p:blipFill>
        <p:spPr>
          <a:xfrm>
            <a:off x="0" y="0"/>
            <a:ext cx="12191400" cy="6857280"/>
          </a:xfrm>
          <a:prstGeom prst="rect">
            <a:avLst/>
          </a:prstGeom>
          <a:ln w="0">
            <a:noFill/>
          </a:ln>
        </p:spPr>
      </p:pic>
      <p:pic>
        <p:nvPicPr>
          <p:cNvPr id="271" name="Google Shape;318;p29" descr="image.png"/>
          <p:cNvPicPr/>
          <p:nvPr/>
        </p:nvPicPr>
        <p:blipFill>
          <a:blip r:embed="rId3"/>
          <a:stretch/>
        </p:blipFill>
        <p:spPr>
          <a:xfrm>
            <a:off x="581040" y="2989800"/>
            <a:ext cx="3548880" cy="2035080"/>
          </a:xfrm>
          <a:prstGeom prst="rect">
            <a:avLst/>
          </a:prstGeom>
          <a:ln w="0">
            <a:noFill/>
          </a:ln>
        </p:spPr>
      </p:pic>
      <p:pic>
        <p:nvPicPr>
          <p:cNvPr id="272" name="Google Shape;319;p29" descr="image.png"/>
          <p:cNvPicPr/>
          <p:nvPr/>
        </p:nvPicPr>
        <p:blipFill>
          <a:blip r:embed="rId4"/>
          <a:stretch/>
        </p:blipFill>
        <p:spPr>
          <a:xfrm>
            <a:off x="4321080" y="2989800"/>
            <a:ext cx="3548880" cy="2035080"/>
          </a:xfrm>
          <a:prstGeom prst="rect">
            <a:avLst/>
          </a:prstGeom>
          <a:ln w="0">
            <a:noFill/>
          </a:ln>
        </p:spPr>
      </p:pic>
      <p:pic>
        <p:nvPicPr>
          <p:cNvPr id="273" name="Google Shape;320;p29" descr="image.png"/>
          <p:cNvPicPr/>
          <p:nvPr/>
        </p:nvPicPr>
        <p:blipFill>
          <a:blip r:embed="rId5"/>
          <a:stretch/>
        </p:blipFill>
        <p:spPr>
          <a:xfrm>
            <a:off x="8061120" y="2989800"/>
            <a:ext cx="3548880" cy="2035080"/>
          </a:xfrm>
          <a:prstGeom prst="rect">
            <a:avLst/>
          </a:prstGeom>
          <a:ln w="0">
            <a:noFill/>
          </a:ln>
        </p:spPr>
      </p:pic>
      <p:pic>
        <p:nvPicPr>
          <p:cNvPr id="274" name="Google Shape;321;p29" descr="image.png"/>
          <p:cNvPicPr/>
          <p:nvPr/>
        </p:nvPicPr>
        <p:blipFill>
          <a:blip r:embed="rId6"/>
          <a:stretch/>
        </p:blipFill>
        <p:spPr>
          <a:xfrm>
            <a:off x="9360" y="9360"/>
            <a:ext cx="12172320" cy="266040"/>
          </a:xfrm>
          <a:prstGeom prst="rect">
            <a:avLst/>
          </a:prstGeom>
          <a:ln w="0">
            <a:noFill/>
          </a:ln>
        </p:spPr>
      </p:pic>
      <p:pic>
        <p:nvPicPr>
          <p:cNvPr id="275" name="Google Shape;322;p29" descr="image.png"/>
          <p:cNvPicPr/>
          <p:nvPr/>
        </p:nvPicPr>
        <p:blipFill>
          <a:blip r:embed="rId6"/>
          <a:stretch/>
        </p:blipFill>
        <p:spPr>
          <a:xfrm>
            <a:off x="9360" y="6581880"/>
            <a:ext cx="12172320" cy="266040"/>
          </a:xfrm>
          <a:prstGeom prst="rect">
            <a:avLst/>
          </a:prstGeom>
          <a:ln w="0">
            <a:noFill/>
          </a:ln>
        </p:spPr>
      </p:pic>
      <p:sp>
        <p:nvSpPr>
          <p:cNvPr id="276" name="Google Shape;323;p29"/>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PRF vs. PRI</a:t>
            </a:r>
            <a:endParaRPr lang="en-NZ" sz="2400" b="0" strike="noStrike" spc="-1">
              <a:latin typeface="Arial"/>
            </a:endParaRPr>
          </a:p>
        </p:txBody>
      </p:sp>
      <p:sp>
        <p:nvSpPr>
          <p:cNvPr id="277" name="Google Shape;324;p29"/>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78" name="Google Shape;325;p29"/>
          <p:cNvSpPr/>
          <p:nvPr/>
        </p:nvSpPr>
        <p:spPr>
          <a:xfrm>
            <a:off x="781200" y="336816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PRI</a:t>
            </a:r>
            <a:endParaRPr lang="en-NZ" sz="1410" b="0" strike="noStrike" spc="-1">
              <a:latin typeface="Arial"/>
            </a:endParaRPr>
          </a:p>
        </p:txBody>
      </p:sp>
      <p:sp>
        <p:nvSpPr>
          <p:cNvPr id="279" name="Google Shape;326;p29"/>
          <p:cNvSpPr/>
          <p:nvPr/>
        </p:nvSpPr>
        <p:spPr>
          <a:xfrm>
            <a:off x="781200" y="3777840"/>
            <a:ext cx="314892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Pulse Repetition Interval. The time from the start of one pulse to the next.</a:t>
            </a:r>
            <a:endParaRPr lang="en-NZ" sz="1500" b="0" strike="noStrike" spc="-1">
              <a:latin typeface="Arial"/>
            </a:endParaRPr>
          </a:p>
        </p:txBody>
      </p:sp>
      <p:sp>
        <p:nvSpPr>
          <p:cNvPr id="280" name="Google Shape;327;p29"/>
          <p:cNvSpPr/>
          <p:nvPr/>
        </p:nvSpPr>
        <p:spPr>
          <a:xfrm>
            <a:off x="4521240" y="336816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PRF</a:t>
            </a:r>
            <a:endParaRPr lang="en-NZ" sz="1410" b="0" strike="noStrike" spc="-1">
              <a:latin typeface="Arial"/>
            </a:endParaRPr>
          </a:p>
        </p:txBody>
      </p:sp>
      <p:sp>
        <p:nvSpPr>
          <p:cNvPr id="281" name="Google Shape;328;p29"/>
          <p:cNvSpPr/>
          <p:nvPr/>
        </p:nvSpPr>
        <p:spPr>
          <a:xfrm>
            <a:off x="4521240" y="377784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Pulse Repetition Frequency. Pulses per second.</a:t>
            </a:r>
            <a:endParaRPr lang="en-NZ" sz="1500" b="0" strike="noStrike" spc="-1">
              <a:latin typeface="Arial"/>
            </a:endParaRPr>
          </a:p>
        </p:txBody>
      </p:sp>
      <p:sp>
        <p:nvSpPr>
          <p:cNvPr id="282" name="Google Shape;329;p29"/>
          <p:cNvSpPr/>
          <p:nvPr/>
        </p:nvSpPr>
        <p:spPr>
          <a:xfrm>
            <a:off x="8261280" y="336816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Trade-off</a:t>
            </a:r>
            <a:endParaRPr lang="en-NZ" sz="1410" b="0" strike="noStrike" spc="-1">
              <a:latin typeface="Arial"/>
            </a:endParaRPr>
          </a:p>
        </p:txBody>
      </p:sp>
      <p:sp>
        <p:nvSpPr>
          <p:cNvPr id="283" name="Google Shape;330;p29"/>
          <p:cNvSpPr/>
          <p:nvPr/>
        </p:nvSpPr>
        <p:spPr>
          <a:xfrm>
            <a:off x="8261280" y="3777840"/>
            <a:ext cx="314892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High PRF = Better velocity update. Low PRF = Longer range.</a:t>
            </a:r>
            <a:endParaRPr lang="en-NZ" sz="1500" b="0" strike="noStrike" spc="-1">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0A80F-0C7F-E849-E153-6E6C79AA6860}"/>
            </a:ext>
          </a:extLst>
        </p:cNvPr>
        <p:cNvGrpSpPr/>
        <p:nvPr/>
      </p:nvGrpSpPr>
      <p:grpSpPr>
        <a:xfrm>
          <a:off x="0" y="0"/>
          <a:ext cx="0" cy="0"/>
          <a:chOff x="0" y="0"/>
          <a:chExt cx="0" cy="0"/>
        </a:xfrm>
      </p:grpSpPr>
      <p:pic>
        <p:nvPicPr>
          <p:cNvPr id="261" name="Google Shape;303;p28" descr="image.png">
            <a:extLst>
              <a:ext uri="{FF2B5EF4-FFF2-40B4-BE49-F238E27FC236}">
                <a16:creationId xmlns:a16="http://schemas.microsoft.com/office/drawing/2014/main" id="{D8152DDB-B312-70FC-7AEB-FB673ABFB9CB}"/>
              </a:ext>
            </a:extLst>
          </p:cNvPr>
          <p:cNvPicPr/>
          <p:nvPr/>
        </p:nvPicPr>
        <p:blipFill>
          <a:blip r:embed="rId2"/>
          <a:stretch/>
        </p:blipFill>
        <p:spPr>
          <a:xfrm>
            <a:off x="-9720" y="0"/>
            <a:ext cx="12191400" cy="6857280"/>
          </a:xfrm>
          <a:prstGeom prst="rect">
            <a:avLst/>
          </a:prstGeom>
          <a:ln w="0">
            <a:noFill/>
          </a:ln>
        </p:spPr>
      </p:pic>
      <p:pic>
        <p:nvPicPr>
          <p:cNvPr id="262" name="Google Shape;305;p28" descr="image.png">
            <a:extLst>
              <a:ext uri="{FF2B5EF4-FFF2-40B4-BE49-F238E27FC236}">
                <a16:creationId xmlns:a16="http://schemas.microsoft.com/office/drawing/2014/main" id="{65962B8C-8A14-AB5A-A275-77D1D3C72313}"/>
              </a:ext>
            </a:extLst>
          </p:cNvPr>
          <p:cNvPicPr/>
          <p:nvPr/>
        </p:nvPicPr>
        <p:blipFill>
          <a:blip r:embed="rId3"/>
          <a:stretch/>
        </p:blipFill>
        <p:spPr>
          <a:xfrm>
            <a:off x="9360" y="9360"/>
            <a:ext cx="12172320" cy="266040"/>
          </a:xfrm>
          <a:prstGeom prst="rect">
            <a:avLst/>
          </a:prstGeom>
          <a:ln w="0">
            <a:noFill/>
          </a:ln>
        </p:spPr>
      </p:pic>
      <p:pic>
        <p:nvPicPr>
          <p:cNvPr id="263" name="Google Shape;306;p28" descr="image.png">
            <a:extLst>
              <a:ext uri="{FF2B5EF4-FFF2-40B4-BE49-F238E27FC236}">
                <a16:creationId xmlns:a16="http://schemas.microsoft.com/office/drawing/2014/main" id="{0919E5A9-E601-D7CC-51E6-2EDE9D81F0ED}"/>
              </a:ext>
            </a:extLst>
          </p:cNvPr>
          <p:cNvPicPr/>
          <p:nvPr/>
        </p:nvPicPr>
        <p:blipFill>
          <a:blip r:embed="rId3"/>
          <a:stretch/>
        </p:blipFill>
        <p:spPr>
          <a:xfrm>
            <a:off x="9360" y="6581880"/>
            <a:ext cx="12172320" cy="266040"/>
          </a:xfrm>
          <a:prstGeom prst="rect">
            <a:avLst/>
          </a:prstGeom>
          <a:ln w="0">
            <a:noFill/>
          </a:ln>
        </p:spPr>
      </p:pic>
      <p:sp>
        <p:nvSpPr>
          <p:cNvPr id="264" name="Google Shape;307;p28">
            <a:extLst>
              <a:ext uri="{FF2B5EF4-FFF2-40B4-BE49-F238E27FC236}">
                <a16:creationId xmlns:a16="http://schemas.microsoft.com/office/drawing/2014/main" id="{B4B739CE-2B8C-C4EB-8EB6-503CA5A7B4CB}"/>
              </a:ext>
            </a:extLst>
          </p:cNvPr>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dirty="0">
                <a:solidFill>
                  <a:srgbClr val="38BDF8"/>
                </a:solidFill>
                <a:latin typeface="JetBrains Mono"/>
                <a:ea typeface="JetBrains Mono"/>
              </a:rPr>
              <a:t>Resolution pulse width</a:t>
            </a:r>
            <a:endParaRPr lang="en-NZ" sz="2400" b="0" strike="noStrike" spc="-1" dirty="0">
              <a:latin typeface="Arial"/>
            </a:endParaRPr>
          </a:p>
        </p:txBody>
      </p:sp>
      <p:sp>
        <p:nvSpPr>
          <p:cNvPr id="265" name="Google Shape;308;p28">
            <a:extLst>
              <a:ext uri="{FF2B5EF4-FFF2-40B4-BE49-F238E27FC236}">
                <a16:creationId xmlns:a16="http://schemas.microsoft.com/office/drawing/2014/main" id="{E5232CC6-68D0-7D6D-5FBF-2DCD751C3E6C}"/>
              </a:ext>
            </a:extLst>
          </p:cNvPr>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67" name="Google Shape;311;p28">
            <a:extLst>
              <a:ext uri="{FF2B5EF4-FFF2-40B4-BE49-F238E27FC236}">
                <a16:creationId xmlns:a16="http://schemas.microsoft.com/office/drawing/2014/main" id="{FBA0601F-0AA0-38E7-88AA-C743A457B7E3}"/>
              </a:ext>
            </a:extLst>
          </p:cNvPr>
          <p:cNvSpPr/>
          <p:nvPr/>
        </p:nvSpPr>
        <p:spPr>
          <a:xfrm>
            <a:off x="6286680" y="3651087"/>
            <a:ext cx="5323680" cy="2170338"/>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spAutoFit/>
          </a:bodyPr>
          <a:lstStyle/>
          <a:p>
            <a:pPr>
              <a:lnSpc>
                <a:spcPct val="150000"/>
              </a:lnSpc>
              <a:tabLst>
                <a:tab pos="0" algn="l"/>
              </a:tabLst>
            </a:pPr>
            <a:r>
              <a:rPr lang="en-NZ" sz="1600" dirty="0">
                <a:solidFill>
                  <a:schemeClr val="bg1"/>
                </a:solidFill>
              </a:rPr>
              <a:t>A radar pulse in free space occupies a physical distance equal to the pulse width multiplied by the speed of light, which is about 984 feet per microsecond. If two targets are closer together than one-half of this physical distance, the radar cannot resolve the returns in range, and only one target will be displayed.</a:t>
            </a:r>
            <a:endParaRPr lang="en-NZ" sz="1600" b="0" strike="noStrike" spc="-1" dirty="0">
              <a:solidFill>
                <a:schemeClr val="bg1"/>
              </a:solidFill>
              <a:latin typeface="Arial"/>
            </a:endParaRPr>
          </a:p>
        </p:txBody>
      </p:sp>
      <p:pic>
        <p:nvPicPr>
          <p:cNvPr id="1026" name="Picture 2" descr="Lightbox">
            <a:extLst>
              <a:ext uri="{FF2B5EF4-FFF2-40B4-BE49-F238E27FC236}">
                <a16:creationId xmlns:a16="http://schemas.microsoft.com/office/drawing/2014/main" id="{6A6BCF36-FDA0-D918-B1A4-98F323972E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800" y="2838600"/>
            <a:ext cx="5727960" cy="269244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63A3F9B-1E3F-2509-D991-CE8BB37BDBAC}"/>
              </a:ext>
            </a:extLst>
          </p:cNvPr>
          <p:cNvSpPr txBox="1"/>
          <p:nvPr/>
        </p:nvSpPr>
        <p:spPr>
          <a:xfrm>
            <a:off x="6210242" y="2276775"/>
            <a:ext cx="5590080" cy="1077218"/>
          </a:xfrm>
          <a:prstGeom prst="rect">
            <a:avLst/>
          </a:prstGeom>
          <a:noFill/>
        </p:spPr>
        <p:txBody>
          <a:bodyPr wrap="square">
            <a:spAutoFit/>
          </a:bodyPr>
          <a:lstStyle/>
          <a:p>
            <a:r>
              <a:rPr lang="en-NZ" sz="1600" b="0" i="0" dirty="0">
                <a:solidFill>
                  <a:schemeClr val="bg1"/>
                </a:solidFill>
                <a:effectLst/>
                <a:cs typeface="IrisUPC" panose="020B0604020202020204" pitchFamily="34" charset="0"/>
              </a:rPr>
              <a:t>Range resolution is the ability of radar to separate two targets that are close together in range and are at approximately the same azimuth. The range resolution capability is determined by pulse width.</a:t>
            </a:r>
            <a:endParaRPr lang="en-US" sz="1600" dirty="0">
              <a:solidFill>
                <a:schemeClr val="bg1"/>
              </a:solidFill>
              <a:cs typeface="IrisUPC" panose="020B0604020202020204" pitchFamily="34" charset="0"/>
            </a:endParaRPr>
          </a:p>
        </p:txBody>
      </p:sp>
    </p:spTree>
    <p:extLst>
      <p:ext uri="{BB962C8B-B14F-4D97-AF65-F5344CB8AC3E}">
        <p14:creationId xmlns:p14="http://schemas.microsoft.com/office/powerpoint/2010/main" val="7380119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4" name="Google Shape;335;p30" descr="image.png"/>
          <p:cNvPicPr/>
          <p:nvPr/>
        </p:nvPicPr>
        <p:blipFill>
          <a:blip r:embed="rId2"/>
          <a:stretch/>
        </p:blipFill>
        <p:spPr>
          <a:xfrm>
            <a:off x="0" y="0"/>
            <a:ext cx="12191400" cy="6857280"/>
          </a:xfrm>
          <a:prstGeom prst="rect">
            <a:avLst/>
          </a:prstGeom>
          <a:ln w="0">
            <a:noFill/>
          </a:ln>
        </p:spPr>
      </p:pic>
      <p:pic>
        <p:nvPicPr>
          <p:cNvPr id="285" name="Google Shape;336;p30" descr="image.png"/>
          <p:cNvPicPr/>
          <p:nvPr/>
        </p:nvPicPr>
        <p:blipFill>
          <a:blip r:embed="rId3"/>
          <a:stretch/>
        </p:blipFill>
        <p:spPr>
          <a:xfrm>
            <a:off x="581040" y="2894760"/>
            <a:ext cx="11029320" cy="2225520"/>
          </a:xfrm>
          <a:prstGeom prst="rect">
            <a:avLst/>
          </a:prstGeom>
          <a:ln w="0">
            <a:noFill/>
          </a:ln>
        </p:spPr>
      </p:pic>
      <p:pic>
        <p:nvPicPr>
          <p:cNvPr id="286" name="Google Shape;337;p30" descr="image.png"/>
          <p:cNvPicPr/>
          <p:nvPr/>
        </p:nvPicPr>
        <p:blipFill>
          <a:blip r:embed="rId4"/>
          <a:stretch/>
        </p:blipFill>
        <p:spPr>
          <a:xfrm>
            <a:off x="9360" y="9360"/>
            <a:ext cx="12172320" cy="266040"/>
          </a:xfrm>
          <a:prstGeom prst="rect">
            <a:avLst/>
          </a:prstGeom>
          <a:ln w="0">
            <a:noFill/>
          </a:ln>
        </p:spPr>
      </p:pic>
      <p:pic>
        <p:nvPicPr>
          <p:cNvPr id="287" name="Google Shape;338;p30" descr="image.png"/>
          <p:cNvPicPr/>
          <p:nvPr/>
        </p:nvPicPr>
        <p:blipFill>
          <a:blip r:embed="rId4"/>
          <a:stretch/>
        </p:blipFill>
        <p:spPr>
          <a:xfrm>
            <a:off x="9360" y="6581880"/>
            <a:ext cx="12172320" cy="266040"/>
          </a:xfrm>
          <a:prstGeom prst="rect">
            <a:avLst/>
          </a:prstGeom>
          <a:ln w="0">
            <a:noFill/>
          </a:ln>
        </p:spPr>
      </p:pic>
      <p:sp>
        <p:nvSpPr>
          <p:cNvPr id="288" name="Google Shape;339;p30"/>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Range Ambiguity</a:t>
            </a:r>
            <a:endParaRPr lang="en-NZ" sz="2400" b="0" strike="noStrike" spc="-1">
              <a:latin typeface="Arial"/>
            </a:endParaRPr>
          </a:p>
        </p:txBody>
      </p:sp>
      <p:sp>
        <p:nvSpPr>
          <p:cNvPr id="289" name="Google Shape;340;p30"/>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90" name="Google Shape;341;p30"/>
          <p:cNvSpPr/>
          <p:nvPr/>
        </p:nvSpPr>
        <p:spPr>
          <a:xfrm>
            <a:off x="781200" y="32731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"Second Time Around" Echo</a:t>
            </a:r>
            <a:endParaRPr lang="en-NZ" sz="1410" b="0" strike="noStrike" spc="-1">
              <a:latin typeface="Arial"/>
            </a:endParaRPr>
          </a:p>
        </p:txBody>
      </p:sp>
      <p:sp>
        <p:nvSpPr>
          <p:cNvPr id="291" name="Google Shape;342;p30"/>
          <p:cNvSpPr/>
          <p:nvPr/>
        </p:nvSpPr>
        <p:spPr>
          <a:xfrm>
            <a:off x="781200" y="36824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If a target is too far away, its echo might arrive </a:t>
            </a:r>
            <a:r>
              <a:rPr lang="en-US" sz="1500" b="0" i="1" strike="noStrike" spc="-1">
                <a:solidFill>
                  <a:srgbClr val="CBD5E1"/>
                </a:solidFill>
                <a:latin typeface="Inter"/>
                <a:ea typeface="Inter"/>
              </a:rPr>
              <a:t>after</a:t>
            </a:r>
            <a:r>
              <a:rPr lang="en-US" sz="1500" b="0" strike="noStrike" spc="-1">
                <a:solidFill>
                  <a:srgbClr val="CBD5E1"/>
                </a:solidFill>
                <a:latin typeface="Inter"/>
                <a:ea typeface="Inter"/>
              </a:rPr>
              <a:t> the radar fires the next pulse.</a:t>
            </a:r>
            <a:endParaRPr lang="en-NZ" sz="1500" b="0" strike="noStrike" spc="-1">
              <a:latin typeface="Arial"/>
            </a:endParaRPr>
          </a:p>
        </p:txBody>
      </p:sp>
      <p:sp>
        <p:nvSpPr>
          <p:cNvPr id="292" name="Google Shape;343;p30"/>
          <p:cNvSpPr/>
          <p:nvPr/>
        </p:nvSpPr>
        <p:spPr>
          <a:xfrm>
            <a:off x="781200" y="4158720"/>
            <a:ext cx="106293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radar assumes the echo belongs to the second pulse and displays the target as being very close (a ghost target). This limits the Maximum Unambiguous Range.</a:t>
            </a:r>
            <a:endParaRPr lang="en-NZ" sz="1500" b="0" strike="noStrike" spc="-1">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3" name="Google Shape;348;p31" descr="image.png"/>
          <p:cNvPicPr/>
          <p:nvPr/>
        </p:nvPicPr>
        <p:blipFill>
          <a:blip r:embed="rId2"/>
          <a:stretch/>
        </p:blipFill>
        <p:spPr>
          <a:xfrm>
            <a:off x="0" y="0"/>
            <a:ext cx="12191400" cy="6857280"/>
          </a:xfrm>
          <a:prstGeom prst="rect">
            <a:avLst/>
          </a:prstGeom>
          <a:ln w="0">
            <a:noFill/>
          </a:ln>
        </p:spPr>
      </p:pic>
      <p:pic>
        <p:nvPicPr>
          <p:cNvPr id="294" name="Google Shape;349;p31" descr="image.png"/>
          <p:cNvPicPr/>
          <p:nvPr/>
        </p:nvPicPr>
        <p:blipFill>
          <a:blip r:embed="rId3"/>
          <a:stretch/>
        </p:blipFill>
        <p:spPr>
          <a:xfrm>
            <a:off x="581040" y="2919960"/>
            <a:ext cx="11029320" cy="2175120"/>
          </a:xfrm>
          <a:prstGeom prst="rect">
            <a:avLst/>
          </a:prstGeom>
          <a:ln w="0">
            <a:noFill/>
          </a:ln>
        </p:spPr>
      </p:pic>
      <p:pic>
        <p:nvPicPr>
          <p:cNvPr id="295" name="Google Shape;350;p31" descr="image.png"/>
          <p:cNvPicPr/>
          <p:nvPr/>
        </p:nvPicPr>
        <p:blipFill>
          <a:blip r:embed="rId4"/>
          <a:stretch/>
        </p:blipFill>
        <p:spPr>
          <a:xfrm>
            <a:off x="9360" y="9360"/>
            <a:ext cx="12172320" cy="266040"/>
          </a:xfrm>
          <a:prstGeom prst="rect">
            <a:avLst/>
          </a:prstGeom>
          <a:ln w="0">
            <a:noFill/>
          </a:ln>
        </p:spPr>
      </p:pic>
      <p:pic>
        <p:nvPicPr>
          <p:cNvPr id="296" name="Google Shape;351;p31" descr="image.png"/>
          <p:cNvPicPr/>
          <p:nvPr/>
        </p:nvPicPr>
        <p:blipFill>
          <a:blip r:embed="rId4"/>
          <a:stretch/>
        </p:blipFill>
        <p:spPr>
          <a:xfrm>
            <a:off x="9360" y="6581880"/>
            <a:ext cx="12172320" cy="266040"/>
          </a:xfrm>
          <a:prstGeom prst="rect">
            <a:avLst/>
          </a:prstGeom>
          <a:ln w="0">
            <a:noFill/>
          </a:ln>
        </p:spPr>
      </p:pic>
      <p:sp>
        <p:nvSpPr>
          <p:cNvPr id="297" name="Google Shape;352;p31"/>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Pulse Width (Tau)</a:t>
            </a:r>
            <a:endParaRPr lang="en-NZ" sz="2400" b="0" strike="noStrike" spc="-1">
              <a:latin typeface="Arial"/>
            </a:endParaRPr>
          </a:p>
        </p:txBody>
      </p:sp>
      <p:sp>
        <p:nvSpPr>
          <p:cNvPr id="298" name="Google Shape;353;p31"/>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299" name="Google Shape;354;p31"/>
          <p:cNvSpPr/>
          <p:nvPr/>
        </p:nvSpPr>
        <p:spPr>
          <a:xfrm>
            <a:off x="781200" y="32983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Energy vs Clarity</a:t>
            </a:r>
            <a:endParaRPr lang="en-NZ" sz="1410" b="0" strike="noStrike" spc="-1">
              <a:latin typeface="Arial"/>
            </a:endParaRPr>
          </a:p>
        </p:txBody>
      </p:sp>
      <p:sp>
        <p:nvSpPr>
          <p:cNvPr id="300" name="Google Shape;355;p31"/>
          <p:cNvSpPr/>
          <p:nvPr/>
        </p:nvSpPr>
        <p:spPr>
          <a:xfrm>
            <a:off x="971640" y="3695400"/>
            <a:ext cx="104385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Long Pulse:</a:t>
            </a:r>
            <a:r>
              <a:rPr lang="en-US" sz="1500" b="0" strike="noStrike" spc="-1">
                <a:solidFill>
                  <a:srgbClr val="CBD5E1"/>
                </a:solidFill>
                <a:latin typeface="Inter"/>
                <a:ea typeface="Inter"/>
              </a:rPr>
              <a:t> Contains more energy. Can see further.</a:t>
            </a:r>
            <a:endParaRPr lang="en-NZ" sz="1500" b="0" strike="noStrike" spc="-1">
              <a:latin typeface="Arial"/>
            </a:endParaRPr>
          </a:p>
        </p:txBody>
      </p:sp>
      <p:sp>
        <p:nvSpPr>
          <p:cNvPr id="301" name="Google Shape;356;p31"/>
          <p:cNvSpPr/>
          <p:nvPr/>
        </p:nvSpPr>
        <p:spPr>
          <a:xfrm>
            <a:off x="971640" y="4076640"/>
            <a:ext cx="104385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Short Pulse:</a:t>
            </a:r>
            <a:r>
              <a:rPr lang="en-US" sz="1500" b="0" strike="noStrike" spc="-1">
                <a:solidFill>
                  <a:srgbClr val="CBD5E1"/>
                </a:solidFill>
                <a:latin typeface="Inter"/>
                <a:ea typeface="Inter"/>
              </a:rPr>
              <a:t> Provides better resolution. Can distinguish close targets.</a:t>
            </a:r>
            <a:endParaRPr lang="en-NZ" sz="1500" b="0" strike="noStrike" spc="-1">
              <a:latin typeface="Arial"/>
            </a:endParaRPr>
          </a:p>
        </p:txBody>
      </p:sp>
      <p:sp>
        <p:nvSpPr>
          <p:cNvPr id="302" name="Google Shape;357;p31"/>
          <p:cNvSpPr/>
          <p:nvPr/>
        </p:nvSpPr>
        <p:spPr>
          <a:xfrm>
            <a:off x="971640" y="4457520"/>
            <a:ext cx="104385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Problem:</a:t>
            </a:r>
            <a:r>
              <a:rPr lang="en-US" sz="1500" b="0" strike="noStrike" spc="-1">
                <a:solidFill>
                  <a:srgbClr val="CBD5E1"/>
                </a:solidFill>
                <a:latin typeface="Inter"/>
                <a:ea typeface="Inter"/>
              </a:rPr>
              <a:t> You usually want both.</a:t>
            </a:r>
            <a:endParaRPr lang="en-NZ" sz="1500" b="0" strike="noStrike" spc="-1">
              <a:latin typeface="Arial"/>
            </a:endParaRPr>
          </a:p>
        </p:txBody>
      </p:sp>
      <p:sp>
        <p:nvSpPr>
          <p:cNvPr id="303" name="Google Shape;358;p31"/>
          <p:cNvSpPr/>
          <p:nvPr/>
        </p:nvSpPr>
        <p:spPr>
          <a:xfrm>
            <a:off x="781200" y="369540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304" name="Google Shape;359;p31"/>
          <p:cNvSpPr/>
          <p:nvPr/>
        </p:nvSpPr>
        <p:spPr>
          <a:xfrm>
            <a:off x="781200" y="407664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305" name="Google Shape;360;p31"/>
          <p:cNvSpPr/>
          <p:nvPr/>
        </p:nvSpPr>
        <p:spPr>
          <a:xfrm>
            <a:off x="781200" y="445752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6" name="Google Shape;365;p32" descr="image.png"/>
          <p:cNvPicPr/>
          <p:nvPr/>
        </p:nvPicPr>
        <p:blipFill>
          <a:blip r:embed="rId2"/>
          <a:stretch/>
        </p:blipFill>
        <p:spPr>
          <a:xfrm>
            <a:off x="0" y="0"/>
            <a:ext cx="12191400" cy="6857280"/>
          </a:xfrm>
          <a:prstGeom prst="rect">
            <a:avLst/>
          </a:prstGeom>
          <a:ln w="0">
            <a:noFill/>
          </a:ln>
        </p:spPr>
      </p:pic>
      <p:pic>
        <p:nvPicPr>
          <p:cNvPr id="307" name="Google Shape;366;p32" descr="image.png"/>
          <p:cNvPicPr/>
          <p:nvPr/>
        </p:nvPicPr>
        <p:blipFill>
          <a:blip r:embed="rId3"/>
          <a:stretch/>
        </p:blipFill>
        <p:spPr>
          <a:xfrm>
            <a:off x="6286680" y="1864800"/>
            <a:ext cx="5323680" cy="4285440"/>
          </a:xfrm>
          <a:prstGeom prst="rect">
            <a:avLst/>
          </a:prstGeom>
          <a:ln w="0">
            <a:noFill/>
          </a:ln>
        </p:spPr>
      </p:pic>
      <p:pic>
        <p:nvPicPr>
          <p:cNvPr id="308" name="Google Shape;367;p32" descr="image.png"/>
          <p:cNvPicPr/>
          <p:nvPr/>
        </p:nvPicPr>
        <p:blipFill>
          <a:blip r:embed="rId4"/>
          <a:stretch/>
        </p:blipFill>
        <p:spPr>
          <a:xfrm>
            <a:off x="9360" y="9360"/>
            <a:ext cx="12172320" cy="266040"/>
          </a:xfrm>
          <a:prstGeom prst="rect">
            <a:avLst/>
          </a:prstGeom>
          <a:ln w="0">
            <a:noFill/>
          </a:ln>
        </p:spPr>
      </p:pic>
      <p:pic>
        <p:nvPicPr>
          <p:cNvPr id="309" name="Google Shape;368;p32" descr="image.png"/>
          <p:cNvPicPr/>
          <p:nvPr/>
        </p:nvPicPr>
        <p:blipFill>
          <a:blip r:embed="rId4"/>
          <a:stretch/>
        </p:blipFill>
        <p:spPr>
          <a:xfrm>
            <a:off x="9360" y="6581880"/>
            <a:ext cx="12172320" cy="266040"/>
          </a:xfrm>
          <a:prstGeom prst="rect">
            <a:avLst/>
          </a:prstGeom>
          <a:ln w="0">
            <a:noFill/>
          </a:ln>
        </p:spPr>
      </p:pic>
      <p:sp>
        <p:nvSpPr>
          <p:cNvPr id="310" name="Google Shape;369;p32"/>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Range Resolution</a:t>
            </a:r>
            <a:endParaRPr lang="en-NZ" sz="2400" b="0" strike="noStrike" spc="-1">
              <a:latin typeface="Arial"/>
            </a:endParaRPr>
          </a:p>
        </p:txBody>
      </p:sp>
      <p:sp>
        <p:nvSpPr>
          <p:cNvPr id="311" name="Google Shape;370;p32"/>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12" name="Google Shape;371;p32"/>
          <p:cNvSpPr/>
          <p:nvPr/>
        </p:nvSpPr>
        <p:spPr>
          <a:xfrm>
            <a:off x="581040" y="327312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Resolving Targets</a:t>
            </a:r>
            <a:endParaRPr lang="en-NZ" sz="1410" b="0" strike="noStrike" spc="-1">
              <a:latin typeface="Arial"/>
            </a:endParaRPr>
          </a:p>
        </p:txBody>
      </p:sp>
      <p:sp>
        <p:nvSpPr>
          <p:cNvPr id="313" name="Google Shape;372;p32"/>
          <p:cNvSpPr/>
          <p:nvPr/>
        </p:nvSpPr>
        <p:spPr>
          <a:xfrm>
            <a:off x="581040" y="36824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If two planes are flying closer together than half the pulse length, the radar sees one big "blip."</a:t>
            </a:r>
            <a:endParaRPr lang="en-NZ" sz="1500" b="0" strike="noStrike" spc="-1">
              <a:latin typeface="Arial"/>
            </a:endParaRPr>
          </a:p>
        </p:txBody>
      </p:sp>
      <p:sp>
        <p:nvSpPr>
          <p:cNvPr id="314" name="Google Shape;373;p32"/>
          <p:cNvSpPr/>
          <p:nvPr/>
        </p:nvSpPr>
        <p:spPr>
          <a:xfrm>
            <a:off x="581040" y="444456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Short pulses are required to separate formation flights.</a:t>
            </a:r>
            <a:endParaRPr lang="en-NZ" sz="1500" b="0" strike="noStrike" spc="-1">
              <a:latin typeface="Arial"/>
            </a:endParaRPr>
          </a:p>
        </p:txBody>
      </p:sp>
      <p:pic>
        <p:nvPicPr>
          <p:cNvPr id="315" name="Google Shape;374;p32"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6" name="Google Shape;379;p33" descr="image.png"/>
          <p:cNvPicPr/>
          <p:nvPr/>
        </p:nvPicPr>
        <p:blipFill>
          <a:blip r:embed="rId2"/>
          <a:stretch/>
        </p:blipFill>
        <p:spPr>
          <a:xfrm>
            <a:off x="0" y="0"/>
            <a:ext cx="12191400" cy="6857280"/>
          </a:xfrm>
          <a:prstGeom prst="rect">
            <a:avLst/>
          </a:prstGeom>
          <a:ln w="0">
            <a:noFill/>
          </a:ln>
        </p:spPr>
      </p:pic>
      <p:pic>
        <p:nvPicPr>
          <p:cNvPr id="317" name="Google Shape;380;p33" descr="image.png"/>
          <p:cNvPicPr/>
          <p:nvPr/>
        </p:nvPicPr>
        <p:blipFill>
          <a:blip r:embed="rId3"/>
          <a:stretch/>
        </p:blipFill>
        <p:spPr>
          <a:xfrm>
            <a:off x="581040" y="2894760"/>
            <a:ext cx="11029320" cy="2225520"/>
          </a:xfrm>
          <a:prstGeom prst="rect">
            <a:avLst/>
          </a:prstGeom>
          <a:ln w="0">
            <a:noFill/>
          </a:ln>
        </p:spPr>
      </p:pic>
      <p:pic>
        <p:nvPicPr>
          <p:cNvPr id="318" name="Google Shape;381;p33" descr="image.png"/>
          <p:cNvPicPr/>
          <p:nvPr/>
        </p:nvPicPr>
        <p:blipFill>
          <a:blip r:embed="rId4"/>
          <a:stretch/>
        </p:blipFill>
        <p:spPr>
          <a:xfrm>
            <a:off x="9360" y="9360"/>
            <a:ext cx="12172320" cy="266040"/>
          </a:xfrm>
          <a:prstGeom prst="rect">
            <a:avLst/>
          </a:prstGeom>
          <a:ln w="0">
            <a:noFill/>
          </a:ln>
        </p:spPr>
      </p:pic>
      <p:pic>
        <p:nvPicPr>
          <p:cNvPr id="319" name="Google Shape;382;p33" descr="image.png"/>
          <p:cNvPicPr/>
          <p:nvPr/>
        </p:nvPicPr>
        <p:blipFill>
          <a:blip r:embed="rId4"/>
          <a:stretch/>
        </p:blipFill>
        <p:spPr>
          <a:xfrm>
            <a:off x="9360" y="6581880"/>
            <a:ext cx="12172320" cy="266040"/>
          </a:xfrm>
          <a:prstGeom prst="rect">
            <a:avLst/>
          </a:prstGeom>
          <a:ln w="0">
            <a:noFill/>
          </a:ln>
        </p:spPr>
      </p:pic>
      <p:sp>
        <p:nvSpPr>
          <p:cNvPr id="320" name="Google Shape;383;p33"/>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Solution: Pulse Compression</a:t>
            </a:r>
            <a:endParaRPr lang="en-NZ" sz="2400" b="0" strike="noStrike" spc="-1">
              <a:latin typeface="Arial"/>
            </a:endParaRPr>
          </a:p>
        </p:txBody>
      </p:sp>
      <p:sp>
        <p:nvSpPr>
          <p:cNvPr id="321" name="Google Shape;384;p33"/>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22" name="Google Shape;385;p33"/>
          <p:cNvSpPr/>
          <p:nvPr/>
        </p:nvSpPr>
        <p:spPr>
          <a:xfrm>
            <a:off x="781200" y="32731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Chirping</a:t>
            </a:r>
            <a:endParaRPr lang="en-NZ" sz="1410" b="0" strike="noStrike" spc="-1">
              <a:latin typeface="Arial"/>
            </a:endParaRPr>
          </a:p>
        </p:txBody>
      </p:sp>
      <p:sp>
        <p:nvSpPr>
          <p:cNvPr id="323" name="Google Shape;386;p33"/>
          <p:cNvSpPr/>
          <p:nvPr/>
        </p:nvSpPr>
        <p:spPr>
          <a:xfrm>
            <a:off x="781200" y="36824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How to get long range (energy) AND high resolution (short pulse)?</a:t>
            </a:r>
            <a:endParaRPr lang="en-NZ" sz="1500" b="0" strike="noStrike" spc="-1">
              <a:latin typeface="Arial"/>
            </a:endParaRPr>
          </a:p>
        </p:txBody>
      </p:sp>
      <p:sp>
        <p:nvSpPr>
          <p:cNvPr id="324" name="Google Shape;387;p33"/>
          <p:cNvSpPr/>
          <p:nvPr/>
        </p:nvSpPr>
        <p:spPr>
          <a:xfrm>
            <a:off x="781200" y="4158720"/>
            <a:ext cx="106293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Technique:</a:t>
            </a:r>
            <a:r>
              <a:rPr lang="en-US" sz="1500" b="0" strike="noStrike" spc="-1">
                <a:solidFill>
                  <a:srgbClr val="CBD5E1"/>
                </a:solidFill>
                <a:latin typeface="Inter"/>
                <a:ea typeface="Inter"/>
              </a:rPr>
              <a:t> Transmit a long pulse that changes frequency (chirp). The receiver "compresses" this chirp mathematically into a sharp spike.</a:t>
            </a:r>
            <a:endParaRPr lang="en-NZ" sz="1500" b="0" strike="noStrike" spc="-1">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5" name="Google Shape;392;p34" descr="image.png"/>
          <p:cNvPicPr/>
          <p:nvPr/>
        </p:nvPicPr>
        <p:blipFill>
          <a:blip r:embed="rId2"/>
          <a:stretch/>
        </p:blipFill>
        <p:spPr>
          <a:xfrm>
            <a:off x="0" y="0"/>
            <a:ext cx="12191400" cy="6857280"/>
          </a:xfrm>
          <a:prstGeom prst="rect">
            <a:avLst/>
          </a:prstGeom>
          <a:ln w="0">
            <a:noFill/>
          </a:ln>
        </p:spPr>
      </p:pic>
      <p:pic>
        <p:nvPicPr>
          <p:cNvPr id="326" name="Google Shape;393;p34" descr="image.png"/>
          <p:cNvPicPr/>
          <p:nvPr/>
        </p:nvPicPr>
        <p:blipFill>
          <a:blip r:embed="rId3"/>
          <a:stretch/>
        </p:blipFill>
        <p:spPr>
          <a:xfrm>
            <a:off x="581040" y="2894760"/>
            <a:ext cx="11029320" cy="2225520"/>
          </a:xfrm>
          <a:prstGeom prst="rect">
            <a:avLst/>
          </a:prstGeom>
          <a:ln w="0">
            <a:noFill/>
          </a:ln>
        </p:spPr>
      </p:pic>
      <p:pic>
        <p:nvPicPr>
          <p:cNvPr id="327" name="Google Shape;394;p34" descr="image.png"/>
          <p:cNvPicPr/>
          <p:nvPr/>
        </p:nvPicPr>
        <p:blipFill>
          <a:blip r:embed="rId4"/>
          <a:stretch/>
        </p:blipFill>
        <p:spPr>
          <a:xfrm>
            <a:off x="9360" y="9360"/>
            <a:ext cx="12172320" cy="266040"/>
          </a:xfrm>
          <a:prstGeom prst="rect">
            <a:avLst/>
          </a:prstGeom>
          <a:ln w="0">
            <a:noFill/>
          </a:ln>
        </p:spPr>
      </p:pic>
      <p:pic>
        <p:nvPicPr>
          <p:cNvPr id="328" name="Google Shape;395;p34" descr="image.png"/>
          <p:cNvPicPr/>
          <p:nvPr/>
        </p:nvPicPr>
        <p:blipFill>
          <a:blip r:embed="rId4"/>
          <a:stretch/>
        </p:blipFill>
        <p:spPr>
          <a:xfrm>
            <a:off x="9360" y="6581880"/>
            <a:ext cx="12172320" cy="266040"/>
          </a:xfrm>
          <a:prstGeom prst="rect">
            <a:avLst/>
          </a:prstGeom>
          <a:ln w="0">
            <a:noFill/>
          </a:ln>
        </p:spPr>
      </p:pic>
      <p:sp>
        <p:nvSpPr>
          <p:cNvPr id="329" name="Google Shape;396;p34"/>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Minimum Range (Blind Zone)</a:t>
            </a:r>
            <a:endParaRPr lang="en-NZ" sz="2400" b="0" strike="noStrike" spc="-1">
              <a:latin typeface="Arial"/>
            </a:endParaRPr>
          </a:p>
        </p:txBody>
      </p:sp>
      <p:sp>
        <p:nvSpPr>
          <p:cNvPr id="330" name="Google Shape;397;p34"/>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31" name="Google Shape;398;p34"/>
          <p:cNvSpPr/>
          <p:nvPr/>
        </p:nvSpPr>
        <p:spPr>
          <a:xfrm>
            <a:off x="781200" y="32731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Receiver is Off</a:t>
            </a:r>
            <a:endParaRPr lang="en-NZ" sz="1410" b="0" strike="noStrike" spc="-1">
              <a:latin typeface="Arial"/>
            </a:endParaRPr>
          </a:p>
        </p:txBody>
      </p:sp>
      <p:sp>
        <p:nvSpPr>
          <p:cNvPr id="332" name="Google Shape;399;p34"/>
          <p:cNvSpPr/>
          <p:nvPr/>
        </p:nvSpPr>
        <p:spPr>
          <a:xfrm>
            <a:off x="781200" y="36824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While transmitting the pulse, the receiver is disconnected to prevent damage.</a:t>
            </a:r>
            <a:endParaRPr lang="en-NZ" sz="1500" b="0" strike="noStrike" spc="-1">
              <a:latin typeface="Arial"/>
            </a:endParaRPr>
          </a:p>
        </p:txBody>
      </p:sp>
      <p:sp>
        <p:nvSpPr>
          <p:cNvPr id="333" name="Google Shape;400;p34"/>
          <p:cNvSpPr/>
          <p:nvPr/>
        </p:nvSpPr>
        <p:spPr>
          <a:xfrm>
            <a:off x="781200" y="4158720"/>
            <a:ext cx="106293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This creates a "Blind Zone" around the radar. Any target close enough to return an echo before the pulse finishes cannot be seen.</a:t>
            </a:r>
            <a:endParaRPr lang="en-NZ" sz="1500" b="0" strike="noStrike" spc="-1">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4" name="Google Shape;405;p35" descr="image.png"/>
          <p:cNvPicPr/>
          <p:nvPr/>
        </p:nvPicPr>
        <p:blipFill>
          <a:blip r:embed="rId2"/>
          <a:stretch/>
        </p:blipFill>
        <p:spPr>
          <a:xfrm>
            <a:off x="0" y="0"/>
            <a:ext cx="12191400" cy="6857280"/>
          </a:xfrm>
          <a:prstGeom prst="rect">
            <a:avLst/>
          </a:prstGeom>
          <a:ln w="0">
            <a:noFill/>
          </a:ln>
        </p:spPr>
      </p:pic>
      <p:pic>
        <p:nvPicPr>
          <p:cNvPr id="335" name="Google Shape;406;p35" descr="image.png"/>
          <p:cNvPicPr/>
          <p:nvPr/>
        </p:nvPicPr>
        <p:blipFill>
          <a:blip r:embed="rId3"/>
          <a:stretch/>
        </p:blipFill>
        <p:spPr>
          <a:xfrm>
            <a:off x="581040" y="1864800"/>
            <a:ext cx="5323680" cy="4285440"/>
          </a:xfrm>
          <a:prstGeom prst="rect">
            <a:avLst/>
          </a:prstGeom>
          <a:ln w="0">
            <a:noFill/>
          </a:ln>
        </p:spPr>
      </p:pic>
      <p:pic>
        <p:nvPicPr>
          <p:cNvPr id="336" name="Google Shape;407;p35" descr="image.png"/>
          <p:cNvPicPr/>
          <p:nvPr/>
        </p:nvPicPr>
        <p:blipFill>
          <a:blip r:embed="rId4"/>
          <a:stretch/>
        </p:blipFill>
        <p:spPr>
          <a:xfrm>
            <a:off x="9360" y="9360"/>
            <a:ext cx="12172320" cy="266040"/>
          </a:xfrm>
          <a:prstGeom prst="rect">
            <a:avLst/>
          </a:prstGeom>
          <a:ln w="0">
            <a:noFill/>
          </a:ln>
        </p:spPr>
      </p:pic>
      <p:pic>
        <p:nvPicPr>
          <p:cNvPr id="337" name="Google Shape;408;p35" descr="image.png"/>
          <p:cNvPicPr/>
          <p:nvPr/>
        </p:nvPicPr>
        <p:blipFill>
          <a:blip r:embed="rId4"/>
          <a:stretch/>
        </p:blipFill>
        <p:spPr>
          <a:xfrm>
            <a:off x="9360" y="6581880"/>
            <a:ext cx="12172320" cy="266040"/>
          </a:xfrm>
          <a:prstGeom prst="rect">
            <a:avLst/>
          </a:prstGeom>
          <a:ln w="0">
            <a:noFill/>
          </a:ln>
        </p:spPr>
      </p:pic>
      <p:sp>
        <p:nvSpPr>
          <p:cNvPr id="338" name="Google Shape;409;p35"/>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Range Gating</a:t>
            </a:r>
            <a:endParaRPr lang="en-NZ" sz="2400" b="0" strike="noStrike" spc="-1">
              <a:latin typeface="Arial"/>
            </a:endParaRPr>
          </a:p>
        </p:txBody>
      </p:sp>
      <p:sp>
        <p:nvSpPr>
          <p:cNvPr id="339" name="Google Shape;410;p35"/>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340" name="Google Shape;411;p35" descr="image.png"/>
          <p:cNvPicPr/>
          <p:nvPr/>
        </p:nvPicPr>
        <p:blipFill>
          <a:blip r:embed="rId5"/>
          <a:stretch/>
        </p:blipFill>
        <p:spPr>
          <a:xfrm>
            <a:off x="590400" y="1874160"/>
            <a:ext cx="5304600" cy="4266360"/>
          </a:xfrm>
          <a:prstGeom prst="rect">
            <a:avLst/>
          </a:prstGeom>
          <a:ln w="0">
            <a:noFill/>
          </a:ln>
        </p:spPr>
      </p:pic>
      <p:sp>
        <p:nvSpPr>
          <p:cNvPr id="341" name="Google Shape;412;p35"/>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Slicing Time</a:t>
            </a:r>
            <a:endParaRPr lang="en-NZ" sz="1410" b="0" strike="noStrike" spc="-1">
              <a:latin typeface="Arial"/>
            </a:endParaRPr>
          </a:p>
        </p:txBody>
      </p:sp>
      <p:sp>
        <p:nvSpPr>
          <p:cNvPr id="342" name="Google Shape;413;p35"/>
          <p:cNvSpPr/>
          <p:nvPr/>
        </p:nvSpPr>
        <p:spPr>
          <a:xfrm>
            <a:off x="628668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receiver chops the listening time into small buckets called </a:t>
            </a:r>
            <a:r>
              <a:rPr lang="en-US" sz="1500" b="1" strike="noStrike" spc="-1">
                <a:solidFill>
                  <a:srgbClr val="CBD5E1"/>
                </a:solidFill>
                <a:latin typeface="Inter"/>
                <a:ea typeface="Inter"/>
              </a:rPr>
              <a:t>Range Gates</a:t>
            </a:r>
            <a:r>
              <a:rPr lang="en-US" sz="1500" b="0" strike="noStrike" spc="-1">
                <a:solidFill>
                  <a:srgbClr val="CBD5E1"/>
                </a:solidFill>
                <a:latin typeface="Inter"/>
                <a:ea typeface="Inter"/>
              </a:rPr>
              <a:t>.</a:t>
            </a:r>
            <a:endParaRPr lang="en-NZ" sz="1500" b="0" strike="noStrike" spc="-1">
              <a:latin typeface="Arial"/>
            </a:endParaRPr>
          </a:p>
        </p:txBody>
      </p:sp>
      <p:sp>
        <p:nvSpPr>
          <p:cNvPr id="343" name="Google Shape;414;p35"/>
          <p:cNvSpPr/>
          <p:nvPr/>
        </p:nvSpPr>
        <p:spPr>
          <a:xfrm>
            <a:off x="628668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If an echo falls into "Gate #50", we know exactly how far away it is. This allows the processor to ignore noise from all other gates.</a:t>
            </a:r>
            <a:endParaRPr lang="en-NZ" sz="1500" b="0" strike="noStrike" spc="-1">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4" name="Google Shape;419;p36" descr="image.png"/>
          <p:cNvPicPr/>
          <p:nvPr/>
        </p:nvPicPr>
        <p:blipFill>
          <a:blip r:embed="rId2"/>
          <a:stretch/>
        </p:blipFill>
        <p:spPr>
          <a:xfrm>
            <a:off x="0" y="0"/>
            <a:ext cx="12191400" cy="6857280"/>
          </a:xfrm>
          <a:prstGeom prst="rect">
            <a:avLst/>
          </a:prstGeom>
          <a:ln w="0">
            <a:noFill/>
          </a:ln>
        </p:spPr>
      </p:pic>
      <p:pic>
        <p:nvPicPr>
          <p:cNvPr id="345" name="Google Shape;420;p36" descr="image.png"/>
          <p:cNvPicPr/>
          <p:nvPr/>
        </p:nvPicPr>
        <p:blipFill>
          <a:blip r:embed="rId3"/>
          <a:stretch/>
        </p:blipFill>
        <p:spPr>
          <a:xfrm>
            <a:off x="581040" y="3037680"/>
            <a:ext cx="11029320" cy="1939680"/>
          </a:xfrm>
          <a:prstGeom prst="rect">
            <a:avLst/>
          </a:prstGeom>
          <a:ln w="0">
            <a:noFill/>
          </a:ln>
        </p:spPr>
      </p:pic>
      <p:pic>
        <p:nvPicPr>
          <p:cNvPr id="346" name="Google Shape;421;p36" descr="image.png"/>
          <p:cNvPicPr/>
          <p:nvPr/>
        </p:nvPicPr>
        <p:blipFill>
          <a:blip r:embed="rId4"/>
          <a:stretch/>
        </p:blipFill>
        <p:spPr>
          <a:xfrm>
            <a:off x="9360" y="9360"/>
            <a:ext cx="12172320" cy="266040"/>
          </a:xfrm>
          <a:prstGeom prst="rect">
            <a:avLst/>
          </a:prstGeom>
          <a:ln w="0">
            <a:noFill/>
          </a:ln>
        </p:spPr>
      </p:pic>
      <p:pic>
        <p:nvPicPr>
          <p:cNvPr id="347" name="Google Shape;422;p36" descr="image.png"/>
          <p:cNvPicPr/>
          <p:nvPr/>
        </p:nvPicPr>
        <p:blipFill>
          <a:blip r:embed="rId4"/>
          <a:stretch/>
        </p:blipFill>
        <p:spPr>
          <a:xfrm>
            <a:off x="9360" y="6581880"/>
            <a:ext cx="12172320" cy="266040"/>
          </a:xfrm>
          <a:prstGeom prst="rect">
            <a:avLst/>
          </a:prstGeom>
          <a:ln w="0">
            <a:noFill/>
          </a:ln>
        </p:spPr>
      </p:pic>
      <p:sp>
        <p:nvSpPr>
          <p:cNvPr id="348" name="Google Shape;423;p36"/>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Antenna Gain</a:t>
            </a:r>
            <a:endParaRPr lang="en-NZ" sz="2400" b="0" strike="noStrike" spc="-1">
              <a:latin typeface="Arial"/>
            </a:endParaRPr>
          </a:p>
        </p:txBody>
      </p:sp>
      <p:sp>
        <p:nvSpPr>
          <p:cNvPr id="349" name="Google Shape;424;p36"/>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50" name="Google Shape;425;p36"/>
          <p:cNvSpPr/>
          <p:nvPr/>
        </p:nvSpPr>
        <p:spPr>
          <a:xfrm>
            <a:off x="781200" y="341604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Focusing the Energy</a:t>
            </a:r>
            <a:endParaRPr lang="en-NZ" sz="1410" b="0" strike="noStrike" spc="-1">
              <a:latin typeface="Arial"/>
            </a:endParaRPr>
          </a:p>
        </p:txBody>
      </p:sp>
      <p:sp>
        <p:nvSpPr>
          <p:cNvPr id="351" name="Google Shape;426;p36"/>
          <p:cNvSpPr/>
          <p:nvPr/>
        </p:nvSpPr>
        <p:spPr>
          <a:xfrm>
            <a:off x="781200" y="382536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An isotropic antenna radiates everywhere (like a candle). A radar antenna focuses energy (like a flashlight).</a:t>
            </a:r>
            <a:endParaRPr lang="en-NZ" sz="1500" b="0" strike="noStrike" spc="-1">
              <a:latin typeface="Arial"/>
            </a:endParaRPr>
          </a:p>
        </p:txBody>
      </p:sp>
      <p:sp>
        <p:nvSpPr>
          <p:cNvPr id="352" name="Google Shape;427;p36"/>
          <p:cNvSpPr/>
          <p:nvPr/>
        </p:nvSpPr>
        <p:spPr>
          <a:xfrm>
            <a:off x="781200" y="43016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Gain</a:t>
            </a:r>
            <a:r>
              <a:rPr lang="en-US" sz="1500" b="0" strike="noStrike" spc="-1">
                <a:solidFill>
                  <a:srgbClr val="CBD5E1"/>
                </a:solidFill>
                <a:latin typeface="Inter"/>
                <a:ea typeface="Inter"/>
              </a:rPr>
              <a:t> is the ratio of focused power vs isotropic power. High gain = longer range.</a:t>
            </a:r>
            <a:endParaRPr lang="en-NZ" sz="1500" b="0" strike="noStrike" spc="-1">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3" name="Google Shape;432;p37" descr="image.png"/>
          <p:cNvPicPr/>
          <p:nvPr/>
        </p:nvPicPr>
        <p:blipFill>
          <a:blip r:embed="rId2"/>
          <a:stretch/>
        </p:blipFill>
        <p:spPr>
          <a:xfrm>
            <a:off x="0" y="0"/>
            <a:ext cx="12191400" cy="6857280"/>
          </a:xfrm>
          <a:prstGeom prst="rect">
            <a:avLst/>
          </a:prstGeom>
          <a:ln w="0">
            <a:noFill/>
          </a:ln>
        </p:spPr>
      </p:pic>
      <p:pic>
        <p:nvPicPr>
          <p:cNvPr id="354" name="Google Shape;433;p37" descr="image.png"/>
          <p:cNvPicPr/>
          <p:nvPr/>
        </p:nvPicPr>
        <p:blipFill>
          <a:blip r:embed="rId3"/>
          <a:stretch/>
        </p:blipFill>
        <p:spPr>
          <a:xfrm>
            <a:off x="581040" y="2894760"/>
            <a:ext cx="11029320" cy="2225520"/>
          </a:xfrm>
          <a:prstGeom prst="rect">
            <a:avLst/>
          </a:prstGeom>
          <a:ln w="0">
            <a:noFill/>
          </a:ln>
        </p:spPr>
      </p:pic>
      <p:pic>
        <p:nvPicPr>
          <p:cNvPr id="355" name="Google Shape;434;p37" descr="image.png"/>
          <p:cNvPicPr/>
          <p:nvPr/>
        </p:nvPicPr>
        <p:blipFill>
          <a:blip r:embed="rId4"/>
          <a:stretch/>
        </p:blipFill>
        <p:spPr>
          <a:xfrm>
            <a:off x="9360" y="9360"/>
            <a:ext cx="12172320" cy="266040"/>
          </a:xfrm>
          <a:prstGeom prst="rect">
            <a:avLst/>
          </a:prstGeom>
          <a:ln w="0">
            <a:noFill/>
          </a:ln>
        </p:spPr>
      </p:pic>
      <p:pic>
        <p:nvPicPr>
          <p:cNvPr id="356" name="Google Shape;435;p37" descr="image.png"/>
          <p:cNvPicPr/>
          <p:nvPr/>
        </p:nvPicPr>
        <p:blipFill>
          <a:blip r:embed="rId4"/>
          <a:stretch/>
        </p:blipFill>
        <p:spPr>
          <a:xfrm>
            <a:off x="9360" y="6581880"/>
            <a:ext cx="12172320" cy="266040"/>
          </a:xfrm>
          <a:prstGeom prst="rect">
            <a:avLst/>
          </a:prstGeom>
          <a:ln w="0">
            <a:noFill/>
          </a:ln>
        </p:spPr>
      </p:pic>
      <p:sp>
        <p:nvSpPr>
          <p:cNvPr id="357" name="Google Shape;436;p37"/>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Azimuth Measurement</a:t>
            </a:r>
            <a:endParaRPr lang="en-NZ" sz="2400" b="0" strike="noStrike" spc="-1">
              <a:latin typeface="Arial"/>
            </a:endParaRPr>
          </a:p>
        </p:txBody>
      </p:sp>
      <p:sp>
        <p:nvSpPr>
          <p:cNvPr id="358" name="Google Shape;437;p37"/>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59" name="Google Shape;438;p37"/>
          <p:cNvSpPr/>
          <p:nvPr/>
        </p:nvSpPr>
        <p:spPr>
          <a:xfrm>
            <a:off x="781200" y="32731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Scanning</a:t>
            </a:r>
            <a:endParaRPr lang="en-NZ" sz="1410" b="0" strike="noStrike" spc="-1">
              <a:latin typeface="Arial"/>
            </a:endParaRPr>
          </a:p>
        </p:txBody>
      </p:sp>
      <p:sp>
        <p:nvSpPr>
          <p:cNvPr id="360" name="Google Shape;439;p37"/>
          <p:cNvSpPr/>
          <p:nvPr/>
        </p:nvSpPr>
        <p:spPr>
          <a:xfrm>
            <a:off x="781200" y="36824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Traditional radars rotate 360 degrees.</a:t>
            </a:r>
            <a:endParaRPr lang="en-NZ" sz="1500" b="0" strike="noStrike" spc="-1">
              <a:latin typeface="Arial"/>
            </a:endParaRPr>
          </a:p>
        </p:txBody>
      </p:sp>
      <p:sp>
        <p:nvSpPr>
          <p:cNvPr id="361" name="Google Shape;440;p37"/>
          <p:cNvSpPr/>
          <p:nvPr/>
        </p:nvSpPr>
        <p:spPr>
          <a:xfrm>
            <a:off x="781200" y="4158720"/>
            <a:ext cx="106293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target's direction (Azimuth) is determined by the direction the antenna is pointing at the exact moment the echo is received.</a:t>
            </a:r>
            <a:endParaRPr lang="en-NZ" sz="1500" b="0" strike="noStrike" spc="-1">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2" name="Google Shape;445;p38" descr="image.png"/>
          <p:cNvPicPr/>
          <p:nvPr/>
        </p:nvPicPr>
        <p:blipFill>
          <a:blip r:embed="rId2"/>
          <a:stretch/>
        </p:blipFill>
        <p:spPr>
          <a:xfrm>
            <a:off x="0" y="0"/>
            <a:ext cx="12191400" cy="6857280"/>
          </a:xfrm>
          <a:prstGeom prst="rect">
            <a:avLst/>
          </a:prstGeom>
          <a:ln w="0">
            <a:noFill/>
          </a:ln>
        </p:spPr>
      </p:pic>
      <p:pic>
        <p:nvPicPr>
          <p:cNvPr id="363" name="Google Shape;446;p38" descr="image.png"/>
          <p:cNvPicPr/>
          <p:nvPr/>
        </p:nvPicPr>
        <p:blipFill>
          <a:blip r:embed="rId3"/>
          <a:stretch/>
        </p:blipFill>
        <p:spPr>
          <a:xfrm>
            <a:off x="6286680" y="1864800"/>
            <a:ext cx="5323680" cy="4285440"/>
          </a:xfrm>
          <a:prstGeom prst="rect">
            <a:avLst/>
          </a:prstGeom>
          <a:ln w="0">
            <a:noFill/>
          </a:ln>
        </p:spPr>
      </p:pic>
      <p:pic>
        <p:nvPicPr>
          <p:cNvPr id="364" name="Google Shape;447;p38" descr="image.png"/>
          <p:cNvPicPr/>
          <p:nvPr/>
        </p:nvPicPr>
        <p:blipFill>
          <a:blip r:embed="rId4"/>
          <a:stretch/>
        </p:blipFill>
        <p:spPr>
          <a:xfrm>
            <a:off x="9360" y="9360"/>
            <a:ext cx="12172320" cy="266040"/>
          </a:xfrm>
          <a:prstGeom prst="rect">
            <a:avLst/>
          </a:prstGeom>
          <a:ln w="0">
            <a:noFill/>
          </a:ln>
        </p:spPr>
      </p:pic>
      <p:pic>
        <p:nvPicPr>
          <p:cNvPr id="365" name="Google Shape;448;p38" descr="image.png"/>
          <p:cNvPicPr/>
          <p:nvPr/>
        </p:nvPicPr>
        <p:blipFill>
          <a:blip r:embed="rId4"/>
          <a:stretch/>
        </p:blipFill>
        <p:spPr>
          <a:xfrm>
            <a:off x="9360" y="6581880"/>
            <a:ext cx="12172320" cy="266040"/>
          </a:xfrm>
          <a:prstGeom prst="rect">
            <a:avLst/>
          </a:prstGeom>
          <a:ln w="0">
            <a:noFill/>
          </a:ln>
        </p:spPr>
      </p:pic>
      <p:sp>
        <p:nvSpPr>
          <p:cNvPr id="366" name="Google Shape;449;p38"/>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Angular Resolution (Beamwidth)</a:t>
            </a:r>
            <a:endParaRPr lang="en-NZ" sz="2400" b="0" strike="noStrike" spc="-1">
              <a:latin typeface="Arial"/>
            </a:endParaRPr>
          </a:p>
        </p:txBody>
      </p:sp>
      <p:sp>
        <p:nvSpPr>
          <p:cNvPr id="367" name="Google Shape;450;p38"/>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68" name="Google Shape;451;p38"/>
          <p:cNvSpPr/>
          <p:nvPr/>
        </p:nvSpPr>
        <p:spPr>
          <a:xfrm>
            <a:off x="58104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Separating Targets by Angle</a:t>
            </a:r>
            <a:endParaRPr lang="en-NZ" sz="1410" b="0" strike="noStrike" spc="-1">
              <a:latin typeface="Arial"/>
            </a:endParaRPr>
          </a:p>
        </p:txBody>
      </p:sp>
      <p:sp>
        <p:nvSpPr>
          <p:cNvPr id="369" name="Google Shape;452;p38"/>
          <p:cNvSpPr/>
          <p:nvPr/>
        </p:nvSpPr>
        <p:spPr>
          <a:xfrm>
            <a:off x="58104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If the radar beam is wide, two planes flying side-by-side will be illuminated simultaneously.</a:t>
            </a:r>
            <a:endParaRPr lang="en-NZ" sz="1500" b="0" strike="noStrike" spc="-1">
              <a:latin typeface="Arial"/>
            </a:endParaRPr>
          </a:p>
        </p:txBody>
      </p:sp>
      <p:sp>
        <p:nvSpPr>
          <p:cNvPr id="370" name="Google Shape;453;p38"/>
          <p:cNvSpPr/>
          <p:nvPr/>
        </p:nvSpPr>
        <p:spPr>
          <a:xfrm>
            <a:off x="58104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radar will see one giant "blob." To distinguish them, the beamwidth must be narrower than the gap between the planes.</a:t>
            </a:r>
            <a:endParaRPr lang="en-NZ" sz="1500" b="0" strike="noStrike" spc="-1">
              <a:latin typeface="Arial"/>
            </a:endParaRPr>
          </a:p>
        </p:txBody>
      </p:sp>
      <p:pic>
        <p:nvPicPr>
          <p:cNvPr id="371" name="Google Shape;454;p38"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2" name="Google Shape;459;p39" descr="image.png"/>
          <p:cNvPicPr/>
          <p:nvPr/>
        </p:nvPicPr>
        <p:blipFill>
          <a:blip r:embed="rId2"/>
          <a:stretch/>
        </p:blipFill>
        <p:spPr>
          <a:xfrm>
            <a:off x="0" y="0"/>
            <a:ext cx="12191400" cy="6857280"/>
          </a:xfrm>
          <a:prstGeom prst="rect">
            <a:avLst/>
          </a:prstGeom>
          <a:ln w="0">
            <a:noFill/>
          </a:ln>
        </p:spPr>
      </p:pic>
      <p:pic>
        <p:nvPicPr>
          <p:cNvPr id="373" name="Google Shape;460;p39" descr="image.png"/>
          <p:cNvPicPr/>
          <p:nvPr/>
        </p:nvPicPr>
        <p:blipFill>
          <a:blip r:embed="rId3"/>
          <a:stretch/>
        </p:blipFill>
        <p:spPr>
          <a:xfrm>
            <a:off x="581040" y="1864800"/>
            <a:ext cx="5323680" cy="4285440"/>
          </a:xfrm>
          <a:prstGeom prst="rect">
            <a:avLst/>
          </a:prstGeom>
          <a:ln w="0">
            <a:noFill/>
          </a:ln>
        </p:spPr>
      </p:pic>
      <p:pic>
        <p:nvPicPr>
          <p:cNvPr id="374" name="Google Shape;461;p39" descr="image.png"/>
          <p:cNvPicPr/>
          <p:nvPr/>
        </p:nvPicPr>
        <p:blipFill>
          <a:blip r:embed="rId4"/>
          <a:stretch/>
        </p:blipFill>
        <p:spPr>
          <a:xfrm>
            <a:off x="9360" y="9360"/>
            <a:ext cx="12172320" cy="266040"/>
          </a:xfrm>
          <a:prstGeom prst="rect">
            <a:avLst/>
          </a:prstGeom>
          <a:ln w="0">
            <a:noFill/>
          </a:ln>
        </p:spPr>
      </p:pic>
      <p:pic>
        <p:nvPicPr>
          <p:cNvPr id="375" name="Google Shape;462;p39" descr="image.png"/>
          <p:cNvPicPr/>
          <p:nvPr/>
        </p:nvPicPr>
        <p:blipFill>
          <a:blip r:embed="rId4"/>
          <a:stretch/>
        </p:blipFill>
        <p:spPr>
          <a:xfrm>
            <a:off x="9360" y="6581880"/>
            <a:ext cx="12172320" cy="266040"/>
          </a:xfrm>
          <a:prstGeom prst="rect">
            <a:avLst/>
          </a:prstGeom>
          <a:ln w="0">
            <a:noFill/>
          </a:ln>
        </p:spPr>
      </p:pic>
      <p:sp>
        <p:nvSpPr>
          <p:cNvPr id="376" name="Google Shape;463;p39"/>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Antenna Sidelobes</a:t>
            </a:r>
            <a:endParaRPr lang="en-NZ" sz="2400" b="0" strike="noStrike" spc="-1">
              <a:latin typeface="Arial"/>
            </a:endParaRPr>
          </a:p>
        </p:txBody>
      </p:sp>
      <p:sp>
        <p:nvSpPr>
          <p:cNvPr id="377" name="Google Shape;464;p39"/>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378" name="Google Shape;465;p39" descr="image.png"/>
          <p:cNvPicPr/>
          <p:nvPr/>
        </p:nvPicPr>
        <p:blipFill>
          <a:blip r:embed="rId5"/>
          <a:stretch/>
        </p:blipFill>
        <p:spPr>
          <a:xfrm>
            <a:off x="590400" y="1874160"/>
            <a:ext cx="5304600" cy="4266360"/>
          </a:xfrm>
          <a:prstGeom prst="rect">
            <a:avLst/>
          </a:prstGeom>
          <a:ln w="0">
            <a:noFill/>
          </a:ln>
        </p:spPr>
      </p:pic>
      <p:sp>
        <p:nvSpPr>
          <p:cNvPr id="379" name="Google Shape;466;p39"/>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Energy Leaks</a:t>
            </a:r>
            <a:endParaRPr lang="en-NZ" sz="1410" b="0" strike="noStrike" spc="-1">
              <a:latin typeface="Arial"/>
            </a:endParaRPr>
          </a:p>
        </p:txBody>
      </p:sp>
      <p:sp>
        <p:nvSpPr>
          <p:cNvPr id="380" name="Google Shape;467;p39"/>
          <p:cNvSpPr/>
          <p:nvPr/>
        </p:nvSpPr>
        <p:spPr>
          <a:xfrm>
            <a:off x="628668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Physics dictates that you cannot have a perfect beam. Some energy leaks out the sides (Sidelobes).</a:t>
            </a:r>
            <a:endParaRPr lang="en-NZ" sz="1500" b="0" strike="noStrike" spc="-1">
              <a:latin typeface="Arial"/>
            </a:endParaRPr>
          </a:p>
        </p:txBody>
      </p:sp>
      <p:sp>
        <p:nvSpPr>
          <p:cNvPr id="381" name="Google Shape;468;p39"/>
          <p:cNvSpPr/>
          <p:nvPr/>
        </p:nvSpPr>
        <p:spPr>
          <a:xfrm>
            <a:off x="628668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 strong target in a sidelobe can be mistaken for a target in the main beam, creating "Ghost Targets" in the wrong direction.</a:t>
            </a:r>
            <a:endParaRPr lang="en-NZ" sz="1500" b="0" strike="noStrike" spc="-1">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2" name="Google Shape;473;p40" descr="image.png"/>
          <p:cNvPicPr/>
          <p:nvPr/>
        </p:nvPicPr>
        <p:blipFill>
          <a:blip r:embed="rId2"/>
          <a:stretch/>
        </p:blipFill>
        <p:spPr>
          <a:xfrm>
            <a:off x="-9720" y="9360"/>
            <a:ext cx="12191400" cy="6857280"/>
          </a:xfrm>
          <a:prstGeom prst="rect">
            <a:avLst/>
          </a:prstGeom>
          <a:ln w="0">
            <a:noFill/>
          </a:ln>
        </p:spPr>
      </p:pic>
      <p:pic>
        <p:nvPicPr>
          <p:cNvPr id="383" name="Google Shape;475;p40" descr="image.png"/>
          <p:cNvPicPr/>
          <p:nvPr/>
        </p:nvPicPr>
        <p:blipFill>
          <a:blip r:embed="rId3"/>
          <a:stretch/>
        </p:blipFill>
        <p:spPr>
          <a:xfrm>
            <a:off x="9360" y="9360"/>
            <a:ext cx="12172320" cy="266040"/>
          </a:xfrm>
          <a:prstGeom prst="rect">
            <a:avLst/>
          </a:prstGeom>
          <a:ln w="0">
            <a:noFill/>
          </a:ln>
        </p:spPr>
      </p:pic>
      <p:pic>
        <p:nvPicPr>
          <p:cNvPr id="384" name="Google Shape;476;p40" descr="image.png"/>
          <p:cNvPicPr/>
          <p:nvPr/>
        </p:nvPicPr>
        <p:blipFill>
          <a:blip r:embed="rId3"/>
          <a:stretch/>
        </p:blipFill>
        <p:spPr>
          <a:xfrm>
            <a:off x="9360" y="6581880"/>
            <a:ext cx="12172320" cy="266040"/>
          </a:xfrm>
          <a:prstGeom prst="rect">
            <a:avLst/>
          </a:prstGeom>
          <a:ln w="0">
            <a:noFill/>
          </a:ln>
        </p:spPr>
      </p:pic>
      <p:sp>
        <p:nvSpPr>
          <p:cNvPr id="385" name="Google Shape;477;p40"/>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Cone of Silence</a:t>
            </a:r>
            <a:endParaRPr lang="en-NZ" sz="2400" b="0" strike="noStrike" spc="-1">
              <a:latin typeface="Arial"/>
            </a:endParaRPr>
          </a:p>
        </p:txBody>
      </p:sp>
      <p:sp>
        <p:nvSpPr>
          <p:cNvPr id="386" name="Google Shape;478;p40"/>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87" name="Google Shape;479;p40"/>
          <p:cNvSpPr/>
          <p:nvPr/>
        </p:nvSpPr>
        <p:spPr>
          <a:xfrm>
            <a:off x="58104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Overhead Blind Spot</a:t>
            </a:r>
            <a:endParaRPr lang="en-NZ" sz="1410" b="0" strike="noStrike" spc="-1">
              <a:latin typeface="Arial"/>
            </a:endParaRPr>
          </a:p>
        </p:txBody>
      </p:sp>
      <p:sp>
        <p:nvSpPr>
          <p:cNvPr id="388" name="Google Shape;480;p40"/>
          <p:cNvSpPr/>
          <p:nvPr/>
        </p:nvSpPr>
        <p:spPr>
          <a:xfrm>
            <a:off x="58104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Radars scan the horizon. They physically cannot look straight up.</a:t>
            </a:r>
            <a:endParaRPr lang="en-NZ" sz="1500" b="0" strike="noStrike" spc="-1">
              <a:latin typeface="Arial"/>
            </a:endParaRPr>
          </a:p>
        </p:txBody>
      </p:sp>
      <p:sp>
        <p:nvSpPr>
          <p:cNvPr id="389" name="Google Shape;481;p40"/>
          <p:cNvSpPr/>
          <p:nvPr/>
        </p:nvSpPr>
        <p:spPr>
          <a:xfrm>
            <a:off x="58104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This creates an inverted cone of blindness directly above the radar site. Aircraft flying directly overhead will disappear from the scope briefly.</a:t>
            </a:r>
            <a:endParaRPr lang="en-NZ" sz="1500" b="0" strike="noStrike" spc="-1">
              <a:latin typeface="Arial"/>
            </a:endParaRPr>
          </a:p>
        </p:txBody>
      </p:sp>
      <p:pic>
        <p:nvPicPr>
          <p:cNvPr id="390" name="Picture 389"/>
          <p:cNvPicPr/>
          <p:nvPr/>
        </p:nvPicPr>
        <p:blipFill>
          <a:blip r:embed="rId4"/>
          <a:stretch/>
        </p:blipFill>
        <p:spPr>
          <a:xfrm>
            <a:off x="7200000" y="1530360"/>
            <a:ext cx="3780000" cy="1889640"/>
          </a:xfrm>
          <a:prstGeom prst="rect">
            <a:avLst/>
          </a:prstGeom>
          <a:ln w="0">
            <a:noFill/>
          </a:ln>
        </p:spPr>
      </p:pic>
      <p:pic>
        <p:nvPicPr>
          <p:cNvPr id="391" name="Picture 390"/>
          <p:cNvPicPr/>
          <p:nvPr/>
        </p:nvPicPr>
        <p:blipFill>
          <a:blip r:embed="rId5"/>
          <a:stretch/>
        </p:blipFill>
        <p:spPr>
          <a:xfrm>
            <a:off x="7200000" y="3770280"/>
            <a:ext cx="3780000" cy="1889640"/>
          </a:xfrm>
          <a:prstGeom prst="rect">
            <a:avLst/>
          </a:prstGeom>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2" name="Google Shape;487;p41" descr="image.png"/>
          <p:cNvPicPr/>
          <p:nvPr/>
        </p:nvPicPr>
        <p:blipFill>
          <a:blip r:embed="rId2"/>
          <a:stretch/>
        </p:blipFill>
        <p:spPr>
          <a:xfrm>
            <a:off x="0" y="0"/>
            <a:ext cx="12191400" cy="6857280"/>
          </a:xfrm>
          <a:prstGeom prst="rect">
            <a:avLst/>
          </a:prstGeom>
          <a:ln w="0">
            <a:noFill/>
          </a:ln>
        </p:spPr>
      </p:pic>
      <p:pic>
        <p:nvPicPr>
          <p:cNvPr id="393" name="Google Shape;488;p41" descr="image.png"/>
          <p:cNvPicPr/>
          <p:nvPr/>
        </p:nvPicPr>
        <p:blipFill>
          <a:blip r:embed="rId3"/>
          <a:stretch/>
        </p:blipFill>
        <p:spPr>
          <a:xfrm>
            <a:off x="581040" y="3037680"/>
            <a:ext cx="11029320" cy="1939680"/>
          </a:xfrm>
          <a:prstGeom prst="rect">
            <a:avLst/>
          </a:prstGeom>
          <a:ln w="0">
            <a:noFill/>
          </a:ln>
        </p:spPr>
      </p:pic>
      <p:pic>
        <p:nvPicPr>
          <p:cNvPr id="394" name="Google Shape;489;p41" descr="image.png"/>
          <p:cNvPicPr/>
          <p:nvPr/>
        </p:nvPicPr>
        <p:blipFill>
          <a:blip r:embed="rId4"/>
          <a:stretch/>
        </p:blipFill>
        <p:spPr>
          <a:xfrm>
            <a:off x="9360" y="9360"/>
            <a:ext cx="12172320" cy="266040"/>
          </a:xfrm>
          <a:prstGeom prst="rect">
            <a:avLst/>
          </a:prstGeom>
          <a:ln w="0">
            <a:noFill/>
          </a:ln>
        </p:spPr>
      </p:pic>
      <p:pic>
        <p:nvPicPr>
          <p:cNvPr id="395" name="Google Shape;490;p41" descr="image.png"/>
          <p:cNvPicPr/>
          <p:nvPr/>
        </p:nvPicPr>
        <p:blipFill>
          <a:blip r:embed="rId4"/>
          <a:stretch/>
        </p:blipFill>
        <p:spPr>
          <a:xfrm>
            <a:off x="9360" y="6581880"/>
            <a:ext cx="12172320" cy="266040"/>
          </a:xfrm>
          <a:prstGeom prst="rect">
            <a:avLst/>
          </a:prstGeom>
          <a:ln w="0">
            <a:noFill/>
          </a:ln>
        </p:spPr>
      </p:pic>
      <p:sp>
        <p:nvSpPr>
          <p:cNvPr id="396" name="Google Shape;491;p41"/>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3D Radar (Elevation)</a:t>
            </a:r>
            <a:endParaRPr lang="en-NZ" sz="2400" b="0" strike="noStrike" spc="-1">
              <a:latin typeface="Arial"/>
            </a:endParaRPr>
          </a:p>
        </p:txBody>
      </p:sp>
      <p:sp>
        <p:nvSpPr>
          <p:cNvPr id="397" name="Google Shape;492;p41"/>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398" name="Google Shape;493;p41"/>
          <p:cNvSpPr/>
          <p:nvPr/>
        </p:nvSpPr>
        <p:spPr>
          <a:xfrm>
            <a:off x="781200" y="341604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Finding Height</a:t>
            </a:r>
            <a:endParaRPr lang="en-NZ" sz="1410" b="0" strike="noStrike" spc="-1">
              <a:latin typeface="Arial"/>
            </a:endParaRPr>
          </a:p>
        </p:txBody>
      </p:sp>
      <p:sp>
        <p:nvSpPr>
          <p:cNvPr id="399" name="Google Shape;494;p41"/>
          <p:cNvSpPr/>
          <p:nvPr/>
        </p:nvSpPr>
        <p:spPr>
          <a:xfrm>
            <a:off x="781200" y="382536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2D radars (like airport surveillance) only give Range and Direction.</a:t>
            </a:r>
            <a:endParaRPr lang="en-NZ" sz="1500" b="0" strike="noStrike" spc="-1">
              <a:latin typeface="Arial"/>
            </a:endParaRPr>
          </a:p>
        </p:txBody>
      </p:sp>
      <p:sp>
        <p:nvSpPr>
          <p:cNvPr id="400" name="Google Shape;495;p41"/>
          <p:cNvSpPr/>
          <p:nvPr/>
        </p:nvSpPr>
        <p:spPr>
          <a:xfrm>
            <a:off x="781200" y="43016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3D radars (Military/Weather) stack multiple beams vertically or steer the beam up/down to measure altitude.</a:t>
            </a:r>
            <a:endParaRPr lang="en-NZ" sz="1500" b="0" strike="noStrike" spc="-1">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1" name="Google Shape;500;p42" descr="image.png"/>
          <p:cNvPicPr/>
          <p:nvPr/>
        </p:nvPicPr>
        <p:blipFill>
          <a:blip r:embed="rId2"/>
          <a:stretch/>
        </p:blipFill>
        <p:spPr>
          <a:xfrm>
            <a:off x="0" y="0"/>
            <a:ext cx="12191400" cy="6857280"/>
          </a:xfrm>
          <a:prstGeom prst="rect">
            <a:avLst/>
          </a:prstGeom>
          <a:ln w="0">
            <a:noFill/>
          </a:ln>
        </p:spPr>
      </p:pic>
      <p:pic>
        <p:nvPicPr>
          <p:cNvPr id="402" name="Google Shape;501;p42" descr="image.png"/>
          <p:cNvPicPr/>
          <p:nvPr/>
        </p:nvPicPr>
        <p:blipFill>
          <a:blip r:embed="rId3"/>
          <a:stretch/>
        </p:blipFill>
        <p:spPr>
          <a:xfrm>
            <a:off x="6286680" y="1864800"/>
            <a:ext cx="5323680" cy="4285440"/>
          </a:xfrm>
          <a:prstGeom prst="rect">
            <a:avLst/>
          </a:prstGeom>
          <a:ln w="0">
            <a:noFill/>
          </a:ln>
        </p:spPr>
      </p:pic>
      <p:pic>
        <p:nvPicPr>
          <p:cNvPr id="403" name="Google Shape;502;p42" descr="image.png"/>
          <p:cNvPicPr/>
          <p:nvPr/>
        </p:nvPicPr>
        <p:blipFill>
          <a:blip r:embed="rId4"/>
          <a:stretch/>
        </p:blipFill>
        <p:spPr>
          <a:xfrm>
            <a:off x="9360" y="9360"/>
            <a:ext cx="12172320" cy="266040"/>
          </a:xfrm>
          <a:prstGeom prst="rect">
            <a:avLst/>
          </a:prstGeom>
          <a:ln w="0">
            <a:noFill/>
          </a:ln>
        </p:spPr>
      </p:pic>
      <p:pic>
        <p:nvPicPr>
          <p:cNvPr id="404" name="Google Shape;503;p42" descr="image.png"/>
          <p:cNvPicPr/>
          <p:nvPr/>
        </p:nvPicPr>
        <p:blipFill>
          <a:blip r:embed="rId4"/>
          <a:stretch/>
        </p:blipFill>
        <p:spPr>
          <a:xfrm>
            <a:off x="9360" y="6581880"/>
            <a:ext cx="12172320" cy="266040"/>
          </a:xfrm>
          <a:prstGeom prst="rect">
            <a:avLst/>
          </a:prstGeom>
          <a:ln w="0">
            <a:noFill/>
          </a:ln>
        </p:spPr>
      </p:pic>
      <p:sp>
        <p:nvSpPr>
          <p:cNvPr id="405" name="Google Shape;504;p42"/>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Line of Sight</a:t>
            </a:r>
            <a:endParaRPr lang="en-NZ" sz="2400" b="0" strike="noStrike" spc="-1">
              <a:latin typeface="Arial"/>
            </a:endParaRPr>
          </a:p>
        </p:txBody>
      </p:sp>
      <p:sp>
        <p:nvSpPr>
          <p:cNvPr id="406" name="Google Shape;505;p42"/>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07" name="Google Shape;506;p42"/>
          <p:cNvSpPr/>
          <p:nvPr/>
        </p:nvSpPr>
        <p:spPr>
          <a:xfrm>
            <a:off x="58104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Earth Curvature</a:t>
            </a:r>
            <a:endParaRPr lang="en-NZ" sz="1410" b="0" strike="noStrike" spc="-1">
              <a:latin typeface="Arial"/>
            </a:endParaRPr>
          </a:p>
        </p:txBody>
      </p:sp>
      <p:sp>
        <p:nvSpPr>
          <p:cNvPr id="408" name="Google Shape;507;p42"/>
          <p:cNvSpPr/>
          <p:nvPr/>
        </p:nvSpPr>
        <p:spPr>
          <a:xfrm>
            <a:off x="581040" y="353988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 beams travel in straight lines. The Earth is curved.</a:t>
            </a:r>
            <a:endParaRPr lang="en-NZ" sz="1500" b="0" strike="noStrike" spc="-1">
              <a:latin typeface="Arial"/>
            </a:endParaRPr>
          </a:p>
        </p:txBody>
      </p:sp>
      <p:sp>
        <p:nvSpPr>
          <p:cNvPr id="409" name="Google Shape;508;p42"/>
          <p:cNvSpPr/>
          <p:nvPr/>
        </p:nvSpPr>
        <p:spPr>
          <a:xfrm>
            <a:off x="581040" y="401580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At 100 miles away, the earth curves significantly. Low-flying aircraft can hide "under the radar horizon," invisible to the radar.</a:t>
            </a:r>
            <a:endParaRPr lang="en-NZ" sz="1500" b="0" strike="noStrike" spc="-1">
              <a:latin typeface="Arial"/>
            </a:endParaRPr>
          </a:p>
        </p:txBody>
      </p:sp>
      <p:pic>
        <p:nvPicPr>
          <p:cNvPr id="410" name="Google Shape;509;p42"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oogle Shape;514;p43" descr="image.png"/>
          <p:cNvPicPr/>
          <p:nvPr/>
        </p:nvPicPr>
        <p:blipFill>
          <a:blip r:embed="rId2"/>
          <a:stretch/>
        </p:blipFill>
        <p:spPr>
          <a:xfrm>
            <a:off x="0" y="0"/>
            <a:ext cx="12191400" cy="6857280"/>
          </a:xfrm>
          <a:prstGeom prst="rect">
            <a:avLst/>
          </a:prstGeom>
          <a:ln w="0">
            <a:noFill/>
          </a:ln>
        </p:spPr>
      </p:pic>
      <p:pic>
        <p:nvPicPr>
          <p:cNvPr id="412" name="Google Shape;515;p43" descr="image.png"/>
          <p:cNvPicPr/>
          <p:nvPr/>
        </p:nvPicPr>
        <p:blipFill>
          <a:blip r:embed="rId3"/>
          <a:stretch/>
        </p:blipFill>
        <p:spPr>
          <a:xfrm>
            <a:off x="581040" y="1864800"/>
            <a:ext cx="5323680" cy="4285440"/>
          </a:xfrm>
          <a:prstGeom prst="rect">
            <a:avLst/>
          </a:prstGeom>
          <a:ln w="0">
            <a:noFill/>
          </a:ln>
        </p:spPr>
      </p:pic>
      <p:pic>
        <p:nvPicPr>
          <p:cNvPr id="413" name="Google Shape;516;p43" descr="image.png"/>
          <p:cNvPicPr/>
          <p:nvPr/>
        </p:nvPicPr>
        <p:blipFill>
          <a:blip r:embed="rId4"/>
          <a:stretch/>
        </p:blipFill>
        <p:spPr>
          <a:xfrm>
            <a:off x="9360" y="9360"/>
            <a:ext cx="12172320" cy="266040"/>
          </a:xfrm>
          <a:prstGeom prst="rect">
            <a:avLst/>
          </a:prstGeom>
          <a:ln w="0">
            <a:noFill/>
          </a:ln>
        </p:spPr>
      </p:pic>
      <p:pic>
        <p:nvPicPr>
          <p:cNvPr id="414" name="Google Shape;517;p43" descr="image.png"/>
          <p:cNvPicPr/>
          <p:nvPr/>
        </p:nvPicPr>
        <p:blipFill>
          <a:blip r:embed="rId4"/>
          <a:stretch/>
        </p:blipFill>
        <p:spPr>
          <a:xfrm>
            <a:off x="9360" y="6581880"/>
            <a:ext cx="12172320" cy="266040"/>
          </a:xfrm>
          <a:prstGeom prst="rect">
            <a:avLst/>
          </a:prstGeom>
          <a:ln w="0">
            <a:noFill/>
          </a:ln>
        </p:spPr>
      </p:pic>
      <p:sp>
        <p:nvSpPr>
          <p:cNvPr id="415" name="Google Shape;518;p43"/>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Terrain Masking</a:t>
            </a:r>
            <a:endParaRPr lang="en-NZ" sz="2400" b="0" strike="noStrike" spc="-1">
              <a:latin typeface="Arial"/>
            </a:endParaRPr>
          </a:p>
        </p:txBody>
      </p:sp>
      <p:sp>
        <p:nvSpPr>
          <p:cNvPr id="416" name="Google Shape;519;p43"/>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417" name="Google Shape;520;p43" descr="image.png"/>
          <p:cNvPicPr/>
          <p:nvPr/>
        </p:nvPicPr>
        <p:blipFill>
          <a:blip r:embed="rId5"/>
          <a:stretch/>
        </p:blipFill>
        <p:spPr>
          <a:xfrm>
            <a:off x="590400" y="1874160"/>
            <a:ext cx="5304600" cy="4266360"/>
          </a:xfrm>
          <a:prstGeom prst="rect">
            <a:avLst/>
          </a:prstGeom>
          <a:ln w="0">
            <a:noFill/>
          </a:ln>
        </p:spPr>
      </p:pic>
      <p:sp>
        <p:nvSpPr>
          <p:cNvPr id="418" name="Google Shape;521;p43"/>
          <p:cNvSpPr/>
          <p:nvPr/>
        </p:nvSpPr>
        <p:spPr>
          <a:xfrm>
            <a:off x="628668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Shadow Zones</a:t>
            </a:r>
            <a:endParaRPr lang="en-NZ" sz="1410" b="0" strike="noStrike" spc="-1">
              <a:latin typeface="Arial"/>
            </a:endParaRPr>
          </a:p>
        </p:txBody>
      </p:sp>
      <p:sp>
        <p:nvSpPr>
          <p:cNvPr id="419" name="Google Shape;522;p43"/>
          <p:cNvSpPr/>
          <p:nvPr/>
        </p:nvSpPr>
        <p:spPr>
          <a:xfrm>
            <a:off x="6286680" y="353988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 beams cannot pass through mountains.</a:t>
            </a:r>
            <a:endParaRPr lang="en-NZ" sz="1500" b="0" strike="noStrike" spc="-1">
              <a:latin typeface="Arial"/>
            </a:endParaRPr>
          </a:p>
        </p:txBody>
      </p:sp>
      <p:sp>
        <p:nvSpPr>
          <p:cNvPr id="420" name="Google Shape;523;p43"/>
          <p:cNvSpPr/>
          <p:nvPr/>
        </p:nvSpPr>
        <p:spPr>
          <a:xfrm>
            <a:off x="6286680" y="401580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Any airspace behind a mountain range is a "Shadow Zone." Military pilots use this "Terrain Masking" to fly undetected.</a:t>
            </a:r>
            <a:endParaRPr lang="en-NZ" sz="1500" b="0" strike="noStrike" spc="-1">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 name="Google Shape;528;p44" descr="image.png"/>
          <p:cNvPicPr/>
          <p:nvPr/>
        </p:nvPicPr>
        <p:blipFill>
          <a:blip r:embed="rId2"/>
          <a:stretch/>
        </p:blipFill>
        <p:spPr>
          <a:xfrm>
            <a:off x="0" y="0"/>
            <a:ext cx="12191400" cy="6857280"/>
          </a:xfrm>
          <a:prstGeom prst="rect">
            <a:avLst/>
          </a:prstGeom>
          <a:ln w="0">
            <a:noFill/>
          </a:ln>
        </p:spPr>
      </p:pic>
      <p:pic>
        <p:nvPicPr>
          <p:cNvPr id="422" name="Google Shape;529;p44" descr="image.png"/>
          <p:cNvPicPr/>
          <p:nvPr/>
        </p:nvPicPr>
        <p:blipFill>
          <a:blip r:embed="rId3"/>
          <a:stretch/>
        </p:blipFill>
        <p:spPr>
          <a:xfrm>
            <a:off x="581040" y="1864800"/>
            <a:ext cx="5323680" cy="4285440"/>
          </a:xfrm>
          <a:prstGeom prst="rect">
            <a:avLst/>
          </a:prstGeom>
          <a:ln w="0">
            <a:noFill/>
          </a:ln>
        </p:spPr>
      </p:pic>
      <p:pic>
        <p:nvPicPr>
          <p:cNvPr id="423" name="Google Shape;530;p44" descr="image.png"/>
          <p:cNvPicPr/>
          <p:nvPr/>
        </p:nvPicPr>
        <p:blipFill>
          <a:blip r:embed="rId4"/>
          <a:stretch/>
        </p:blipFill>
        <p:spPr>
          <a:xfrm>
            <a:off x="9360" y="9360"/>
            <a:ext cx="12172320" cy="266040"/>
          </a:xfrm>
          <a:prstGeom prst="rect">
            <a:avLst/>
          </a:prstGeom>
          <a:ln w="0">
            <a:noFill/>
          </a:ln>
        </p:spPr>
      </p:pic>
      <p:pic>
        <p:nvPicPr>
          <p:cNvPr id="424" name="Google Shape;531;p44" descr="image.png"/>
          <p:cNvPicPr/>
          <p:nvPr/>
        </p:nvPicPr>
        <p:blipFill>
          <a:blip r:embed="rId4"/>
          <a:stretch/>
        </p:blipFill>
        <p:spPr>
          <a:xfrm>
            <a:off x="9360" y="6581880"/>
            <a:ext cx="12172320" cy="266040"/>
          </a:xfrm>
          <a:prstGeom prst="rect">
            <a:avLst/>
          </a:prstGeom>
          <a:ln w="0">
            <a:noFill/>
          </a:ln>
        </p:spPr>
      </p:pic>
      <p:sp>
        <p:nvSpPr>
          <p:cNvPr id="425" name="Google Shape;532;p44"/>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Multipath Effect</a:t>
            </a:r>
            <a:endParaRPr lang="en-NZ" sz="2400" b="0" strike="noStrike" spc="-1">
              <a:latin typeface="Arial"/>
            </a:endParaRPr>
          </a:p>
        </p:txBody>
      </p:sp>
      <p:sp>
        <p:nvSpPr>
          <p:cNvPr id="426" name="Google Shape;533;p44"/>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427" name="Google Shape;534;p44" descr="image.png"/>
          <p:cNvPicPr/>
          <p:nvPr/>
        </p:nvPicPr>
        <p:blipFill>
          <a:blip r:embed="rId5"/>
          <a:stretch/>
        </p:blipFill>
        <p:spPr>
          <a:xfrm>
            <a:off x="590400" y="1874160"/>
            <a:ext cx="5304600" cy="4266360"/>
          </a:xfrm>
          <a:prstGeom prst="rect">
            <a:avLst/>
          </a:prstGeom>
          <a:ln w="0">
            <a:noFill/>
          </a:ln>
        </p:spPr>
      </p:pic>
      <p:sp>
        <p:nvSpPr>
          <p:cNvPr id="428" name="Google Shape;535;p44"/>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Ghost Below</a:t>
            </a:r>
            <a:endParaRPr lang="en-NZ" sz="1410" b="0" strike="noStrike" spc="-1">
              <a:latin typeface="Arial"/>
            </a:endParaRPr>
          </a:p>
        </p:txBody>
      </p:sp>
      <p:sp>
        <p:nvSpPr>
          <p:cNvPr id="429" name="Google Shape;536;p44"/>
          <p:cNvSpPr/>
          <p:nvPr/>
        </p:nvSpPr>
        <p:spPr>
          <a:xfrm>
            <a:off x="628668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Radar beams can bounce off the sea or flat ground before hitting the target.</a:t>
            </a:r>
            <a:endParaRPr lang="en-NZ" sz="1500" b="0" strike="noStrike" spc="-1">
              <a:latin typeface="Arial"/>
            </a:endParaRPr>
          </a:p>
        </p:txBody>
      </p:sp>
      <p:sp>
        <p:nvSpPr>
          <p:cNvPr id="430" name="Google Shape;537;p44"/>
          <p:cNvSpPr/>
          <p:nvPr/>
        </p:nvSpPr>
        <p:spPr>
          <a:xfrm>
            <a:off x="628668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radar sees two returns: the direct path and the longer "bounce" path. This confuses the altitude calculation, causing the target to jitter.</a:t>
            </a:r>
            <a:endParaRPr lang="en-NZ" sz="15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1" name="Google Shape;542;p45" descr="image.png"/>
          <p:cNvPicPr/>
          <p:nvPr/>
        </p:nvPicPr>
        <p:blipFill>
          <a:blip r:embed="rId2"/>
          <a:stretch/>
        </p:blipFill>
        <p:spPr>
          <a:xfrm>
            <a:off x="0" y="0"/>
            <a:ext cx="12191400" cy="6857280"/>
          </a:xfrm>
          <a:prstGeom prst="rect">
            <a:avLst/>
          </a:prstGeom>
          <a:ln w="0">
            <a:noFill/>
          </a:ln>
        </p:spPr>
      </p:pic>
      <p:pic>
        <p:nvPicPr>
          <p:cNvPr id="432" name="Google Shape;543;p45" descr="image.png"/>
          <p:cNvPicPr/>
          <p:nvPr/>
        </p:nvPicPr>
        <p:blipFill>
          <a:blip r:embed="rId3"/>
          <a:stretch/>
        </p:blipFill>
        <p:spPr>
          <a:xfrm>
            <a:off x="581040" y="1864800"/>
            <a:ext cx="5323680" cy="4285440"/>
          </a:xfrm>
          <a:prstGeom prst="rect">
            <a:avLst/>
          </a:prstGeom>
          <a:ln w="0">
            <a:noFill/>
          </a:ln>
        </p:spPr>
      </p:pic>
      <p:pic>
        <p:nvPicPr>
          <p:cNvPr id="433" name="Google Shape;544;p45" descr="image.png"/>
          <p:cNvPicPr/>
          <p:nvPr/>
        </p:nvPicPr>
        <p:blipFill>
          <a:blip r:embed="rId4"/>
          <a:stretch/>
        </p:blipFill>
        <p:spPr>
          <a:xfrm>
            <a:off x="9360" y="9360"/>
            <a:ext cx="12172320" cy="266040"/>
          </a:xfrm>
          <a:prstGeom prst="rect">
            <a:avLst/>
          </a:prstGeom>
          <a:ln w="0">
            <a:noFill/>
          </a:ln>
        </p:spPr>
      </p:pic>
      <p:pic>
        <p:nvPicPr>
          <p:cNvPr id="434" name="Google Shape;545;p45" descr="image.png"/>
          <p:cNvPicPr/>
          <p:nvPr/>
        </p:nvPicPr>
        <p:blipFill>
          <a:blip r:embed="rId4"/>
          <a:stretch/>
        </p:blipFill>
        <p:spPr>
          <a:xfrm>
            <a:off x="9360" y="6581880"/>
            <a:ext cx="12172320" cy="266040"/>
          </a:xfrm>
          <a:prstGeom prst="rect">
            <a:avLst/>
          </a:prstGeom>
          <a:ln w="0">
            <a:noFill/>
          </a:ln>
        </p:spPr>
      </p:pic>
      <p:sp>
        <p:nvSpPr>
          <p:cNvPr id="435" name="Google Shape;546;p45"/>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Ionosphere Scattering (OTHR)</a:t>
            </a:r>
            <a:endParaRPr lang="en-NZ" sz="2400" b="0" strike="noStrike" spc="-1">
              <a:latin typeface="Arial"/>
            </a:endParaRPr>
          </a:p>
        </p:txBody>
      </p:sp>
      <p:sp>
        <p:nvSpPr>
          <p:cNvPr id="436" name="Google Shape;547;p45"/>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437" name="Google Shape;548;p45" descr="image.png"/>
          <p:cNvPicPr/>
          <p:nvPr/>
        </p:nvPicPr>
        <p:blipFill>
          <a:blip r:embed="rId5"/>
          <a:stretch/>
        </p:blipFill>
        <p:spPr>
          <a:xfrm>
            <a:off x="590400" y="1874160"/>
            <a:ext cx="5304600" cy="4266360"/>
          </a:xfrm>
          <a:prstGeom prst="rect">
            <a:avLst/>
          </a:prstGeom>
          <a:ln w="0">
            <a:noFill/>
          </a:ln>
        </p:spPr>
      </p:pic>
      <p:sp>
        <p:nvSpPr>
          <p:cNvPr id="438" name="Google Shape;549;p45"/>
          <p:cNvSpPr/>
          <p:nvPr/>
        </p:nvSpPr>
        <p:spPr>
          <a:xfrm>
            <a:off x="628668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Skywave Radar</a:t>
            </a:r>
            <a:endParaRPr lang="en-NZ" sz="1410" b="0" strike="noStrike" spc="-1">
              <a:latin typeface="Arial"/>
            </a:endParaRPr>
          </a:p>
        </p:txBody>
      </p:sp>
      <p:sp>
        <p:nvSpPr>
          <p:cNvPr id="439" name="Google Shape;550;p45"/>
          <p:cNvSpPr/>
          <p:nvPr/>
        </p:nvSpPr>
        <p:spPr>
          <a:xfrm>
            <a:off x="628668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High Frequency (HF) waves can bounce off the Ionosphere layer in the atmosphere.</a:t>
            </a:r>
            <a:endParaRPr lang="en-NZ" sz="1500" b="0" strike="noStrike" spc="-1">
              <a:latin typeface="Arial"/>
            </a:endParaRPr>
          </a:p>
        </p:txBody>
      </p:sp>
      <p:sp>
        <p:nvSpPr>
          <p:cNvPr id="440" name="Google Shape;551;p45"/>
          <p:cNvSpPr/>
          <p:nvPr/>
        </p:nvSpPr>
        <p:spPr>
          <a:xfrm>
            <a:off x="628668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This allows Over-The-Horizon Radar (OTHR) to see thousands of miles, detecting targets beyond the curvature of the Earth.</a:t>
            </a:r>
            <a:endParaRPr lang="en-NZ" sz="1500" b="0" strike="noStrike" spc="-1">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1" name="Google Shape;556;p46" descr="image.png"/>
          <p:cNvPicPr/>
          <p:nvPr/>
        </p:nvPicPr>
        <p:blipFill>
          <a:blip r:embed="rId2"/>
          <a:stretch/>
        </p:blipFill>
        <p:spPr>
          <a:xfrm>
            <a:off x="0" y="0"/>
            <a:ext cx="12191400" cy="6857280"/>
          </a:xfrm>
          <a:prstGeom prst="rect">
            <a:avLst/>
          </a:prstGeom>
          <a:ln w="0">
            <a:noFill/>
          </a:ln>
        </p:spPr>
      </p:pic>
      <p:pic>
        <p:nvPicPr>
          <p:cNvPr id="442" name="Google Shape;557;p46" descr="image.png"/>
          <p:cNvPicPr/>
          <p:nvPr/>
        </p:nvPicPr>
        <p:blipFill>
          <a:blip r:embed="rId3"/>
          <a:stretch/>
        </p:blipFill>
        <p:spPr>
          <a:xfrm>
            <a:off x="581040" y="3132720"/>
            <a:ext cx="3548880" cy="1749240"/>
          </a:xfrm>
          <a:prstGeom prst="rect">
            <a:avLst/>
          </a:prstGeom>
          <a:ln w="0">
            <a:noFill/>
          </a:ln>
        </p:spPr>
      </p:pic>
      <p:pic>
        <p:nvPicPr>
          <p:cNvPr id="443" name="Google Shape;558;p46" descr="image.png"/>
          <p:cNvPicPr/>
          <p:nvPr/>
        </p:nvPicPr>
        <p:blipFill>
          <a:blip r:embed="rId4"/>
          <a:stretch/>
        </p:blipFill>
        <p:spPr>
          <a:xfrm>
            <a:off x="4321080" y="3132720"/>
            <a:ext cx="3548880" cy="1749240"/>
          </a:xfrm>
          <a:prstGeom prst="rect">
            <a:avLst/>
          </a:prstGeom>
          <a:ln w="0">
            <a:noFill/>
          </a:ln>
        </p:spPr>
      </p:pic>
      <p:pic>
        <p:nvPicPr>
          <p:cNvPr id="444" name="Google Shape;559;p46" descr="image.png"/>
          <p:cNvPicPr/>
          <p:nvPr/>
        </p:nvPicPr>
        <p:blipFill>
          <a:blip r:embed="rId5"/>
          <a:stretch/>
        </p:blipFill>
        <p:spPr>
          <a:xfrm>
            <a:off x="8061120" y="3132720"/>
            <a:ext cx="3548880" cy="1749240"/>
          </a:xfrm>
          <a:prstGeom prst="rect">
            <a:avLst/>
          </a:prstGeom>
          <a:ln w="0">
            <a:noFill/>
          </a:ln>
        </p:spPr>
      </p:pic>
      <p:pic>
        <p:nvPicPr>
          <p:cNvPr id="445" name="Google Shape;560;p46" descr="image.png"/>
          <p:cNvPicPr/>
          <p:nvPr/>
        </p:nvPicPr>
        <p:blipFill>
          <a:blip r:embed="rId6"/>
          <a:stretch/>
        </p:blipFill>
        <p:spPr>
          <a:xfrm>
            <a:off x="9360" y="9360"/>
            <a:ext cx="12172320" cy="266040"/>
          </a:xfrm>
          <a:prstGeom prst="rect">
            <a:avLst/>
          </a:prstGeom>
          <a:ln w="0">
            <a:noFill/>
          </a:ln>
        </p:spPr>
      </p:pic>
      <p:pic>
        <p:nvPicPr>
          <p:cNvPr id="446" name="Google Shape;561;p46" descr="image.png"/>
          <p:cNvPicPr/>
          <p:nvPr/>
        </p:nvPicPr>
        <p:blipFill>
          <a:blip r:embed="rId6"/>
          <a:stretch/>
        </p:blipFill>
        <p:spPr>
          <a:xfrm>
            <a:off x="9360" y="6581880"/>
            <a:ext cx="12172320" cy="266040"/>
          </a:xfrm>
          <a:prstGeom prst="rect">
            <a:avLst/>
          </a:prstGeom>
          <a:ln w="0">
            <a:noFill/>
          </a:ln>
        </p:spPr>
      </p:pic>
      <p:sp>
        <p:nvSpPr>
          <p:cNvPr id="447" name="Google Shape;562;p46"/>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Radar Clutter</a:t>
            </a:r>
            <a:endParaRPr lang="en-NZ" sz="2400" b="0" strike="noStrike" spc="-1">
              <a:latin typeface="Arial"/>
            </a:endParaRPr>
          </a:p>
        </p:txBody>
      </p:sp>
      <p:sp>
        <p:nvSpPr>
          <p:cNvPr id="448" name="Google Shape;563;p46"/>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49" name="Google Shape;564;p46"/>
          <p:cNvSpPr/>
          <p:nvPr/>
        </p:nvSpPr>
        <p:spPr>
          <a:xfrm>
            <a:off x="78120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Ground Clutter</a:t>
            </a:r>
            <a:endParaRPr lang="en-NZ" sz="1410" b="0" strike="noStrike" spc="-1">
              <a:latin typeface="Arial"/>
            </a:endParaRPr>
          </a:p>
        </p:txBody>
      </p:sp>
      <p:sp>
        <p:nvSpPr>
          <p:cNvPr id="450" name="Google Shape;565;p46"/>
          <p:cNvSpPr/>
          <p:nvPr/>
        </p:nvSpPr>
        <p:spPr>
          <a:xfrm>
            <a:off x="78120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Reflections from buildings, mountains, and trees.</a:t>
            </a:r>
            <a:endParaRPr lang="en-NZ" sz="1500" b="0" strike="noStrike" spc="-1">
              <a:latin typeface="Arial"/>
            </a:endParaRPr>
          </a:p>
        </p:txBody>
      </p:sp>
      <p:sp>
        <p:nvSpPr>
          <p:cNvPr id="451" name="Google Shape;566;p46"/>
          <p:cNvSpPr/>
          <p:nvPr/>
        </p:nvSpPr>
        <p:spPr>
          <a:xfrm>
            <a:off x="452124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Sea Clutter</a:t>
            </a:r>
            <a:endParaRPr lang="en-NZ" sz="1410" b="0" strike="noStrike" spc="-1">
              <a:latin typeface="Arial"/>
            </a:endParaRPr>
          </a:p>
        </p:txBody>
      </p:sp>
      <p:sp>
        <p:nvSpPr>
          <p:cNvPr id="452" name="Google Shape;567;p46"/>
          <p:cNvSpPr/>
          <p:nvPr/>
        </p:nvSpPr>
        <p:spPr>
          <a:xfrm>
            <a:off x="452124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Reflections from waves (Sea State).</a:t>
            </a:r>
            <a:endParaRPr lang="en-NZ" sz="1500" b="0" strike="noStrike" spc="-1">
              <a:latin typeface="Arial"/>
            </a:endParaRPr>
          </a:p>
        </p:txBody>
      </p:sp>
      <p:sp>
        <p:nvSpPr>
          <p:cNvPr id="453" name="Google Shape;568;p46"/>
          <p:cNvSpPr/>
          <p:nvPr/>
        </p:nvSpPr>
        <p:spPr>
          <a:xfrm>
            <a:off x="826128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Volume Clutter</a:t>
            </a:r>
            <a:endParaRPr lang="en-NZ" sz="1410" b="0" strike="noStrike" spc="-1">
              <a:latin typeface="Arial"/>
            </a:endParaRPr>
          </a:p>
        </p:txBody>
      </p:sp>
      <p:sp>
        <p:nvSpPr>
          <p:cNvPr id="454" name="Google Shape;569;p46"/>
          <p:cNvSpPr/>
          <p:nvPr/>
        </p:nvSpPr>
        <p:spPr>
          <a:xfrm>
            <a:off x="826128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Reflections from rain, hail, or chaff.</a:t>
            </a:r>
            <a:endParaRPr lang="en-NZ" sz="1500" b="0" strike="noStrike" spc="-1">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5" name="Google Shape;574;p47" descr="image.png"/>
          <p:cNvPicPr/>
          <p:nvPr/>
        </p:nvPicPr>
        <p:blipFill>
          <a:blip r:embed="rId2"/>
          <a:stretch/>
        </p:blipFill>
        <p:spPr>
          <a:xfrm>
            <a:off x="0" y="0"/>
            <a:ext cx="12191400" cy="6857280"/>
          </a:xfrm>
          <a:prstGeom prst="rect">
            <a:avLst/>
          </a:prstGeom>
          <a:ln w="0">
            <a:noFill/>
          </a:ln>
        </p:spPr>
      </p:pic>
      <p:pic>
        <p:nvPicPr>
          <p:cNvPr id="456" name="Google Shape;575;p47" descr="image.png"/>
          <p:cNvPicPr/>
          <p:nvPr/>
        </p:nvPicPr>
        <p:blipFill>
          <a:blip r:embed="rId3"/>
          <a:stretch/>
        </p:blipFill>
        <p:spPr>
          <a:xfrm>
            <a:off x="581040" y="3037680"/>
            <a:ext cx="11029320" cy="1939680"/>
          </a:xfrm>
          <a:prstGeom prst="rect">
            <a:avLst/>
          </a:prstGeom>
          <a:ln w="0">
            <a:noFill/>
          </a:ln>
        </p:spPr>
      </p:pic>
      <p:pic>
        <p:nvPicPr>
          <p:cNvPr id="457" name="Google Shape;576;p47" descr="image.png"/>
          <p:cNvPicPr/>
          <p:nvPr/>
        </p:nvPicPr>
        <p:blipFill>
          <a:blip r:embed="rId4"/>
          <a:stretch/>
        </p:blipFill>
        <p:spPr>
          <a:xfrm>
            <a:off x="9360" y="9360"/>
            <a:ext cx="12172320" cy="266040"/>
          </a:xfrm>
          <a:prstGeom prst="rect">
            <a:avLst/>
          </a:prstGeom>
          <a:ln w="0">
            <a:noFill/>
          </a:ln>
        </p:spPr>
      </p:pic>
      <p:pic>
        <p:nvPicPr>
          <p:cNvPr id="458" name="Google Shape;577;p47" descr="image.png"/>
          <p:cNvPicPr/>
          <p:nvPr/>
        </p:nvPicPr>
        <p:blipFill>
          <a:blip r:embed="rId4"/>
          <a:stretch/>
        </p:blipFill>
        <p:spPr>
          <a:xfrm>
            <a:off x="9360" y="6581880"/>
            <a:ext cx="12172320" cy="266040"/>
          </a:xfrm>
          <a:prstGeom prst="rect">
            <a:avLst/>
          </a:prstGeom>
          <a:ln w="0">
            <a:noFill/>
          </a:ln>
        </p:spPr>
      </p:pic>
      <p:sp>
        <p:nvSpPr>
          <p:cNvPr id="459" name="Google Shape;578;p47"/>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Doppler Effect</a:t>
            </a:r>
            <a:endParaRPr lang="en-NZ" sz="2400" b="0" strike="noStrike" spc="-1">
              <a:latin typeface="Arial"/>
            </a:endParaRPr>
          </a:p>
        </p:txBody>
      </p:sp>
      <p:sp>
        <p:nvSpPr>
          <p:cNvPr id="460" name="Google Shape;579;p47"/>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61" name="Google Shape;580;p47"/>
          <p:cNvSpPr/>
          <p:nvPr/>
        </p:nvSpPr>
        <p:spPr>
          <a:xfrm>
            <a:off x="781200" y="341604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Detecting Motion</a:t>
            </a:r>
            <a:endParaRPr lang="en-NZ" sz="1410" b="0" strike="noStrike" spc="-1">
              <a:latin typeface="Arial"/>
            </a:endParaRPr>
          </a:p>
        </p:txBody>
      </p:sp>
      <p:sp>
        <p:nvSpPr>
          <p:cNvPr id="462" name="Google Shape;581;p47"/>
          <p:cNvSpPr/>
          <p:nvPr/>
        </p:nvSpPr>
        <p:spPr>
          <a:xfrm>
            <a:off x="781200" y="382536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When a target moves toward the radar, the reflected frequency increases (Shift Up).</a:t>
            </a:r>
            <a:endParaRPr lang="en-NZ" sz="1500" b="0" strike="noStrike" spc="-1">
              <a:latin typeface="Arial"/>
            </a:endParaRPr>
          </a:p>
        </p:txBody>
      </p:sp>
      <p:sp>
        <p:nvSpPr>
          <p:cNvPr id="463" name="Google Shape;582;p47"/>
          <p:cNvSpPr/>
          <p:nvPr/>
        </p:nvSpPr>
        <p:spPr>
          <a:xfrm>
            <a:off x="781200" y="43016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When it moves away, the frequency decreases (Shift Down). Radar uses this to measure speed instantly.</a:t>
            </a:r>
            <a:endParaRPr lang="en-NZ" sz="1500" b="0" strike="noStrike" spc="-1">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4" name="Google Shape;587;p48" descr="image.png"/>
          <p:cNvPicPr/>
          <p:nvPr/>
        </p:nvPicPr>
        <p:blipFill>
          <a:blip r:embed="rId2"/>
          <a:stretch/>
        </p:blipFill>
        <p:spPr>
          <a:xfrm>
            <a:off x="0" y="0"/>
            <a:ext cx="12191400" cy="6857280"/>
          </a:xfrm>
          <a:prstGeom prst="rect">
            <a:avLst/>
          </a:prstGeom>
          <a:ln w="0">
            <a:noFill/>
          </a:ln>
        </p:spPr>
      </p:pic>
      <p:pic>
        <p:nvPicPr>
          <p:cNvPr id="465" name="Google Shape;588;p48" descr="image.png"/>
          <p:cNvPicPr/>
          <p:nvPr/>
        </p:nvPicPr>
        <p:blipFill>
          <a:blip r:embed="rId3"/>
          <a:stretch/>
        </p:blipFill>
        <p:spPr>
          <a:xfrm>
            <a:off x="581040" y="2894760"/>
            <a:ext cx="11029320" cy="2225520"/>
          </a:xfrm>
          <a:prstGeom prst="rect">
            <a:avLst/>
          </a:prstGeom>
          <a:ln w="0">
            <a:noFill/>
          </a:ln>
        </p:spPr>
      </p:pic>
      <p:pic>
        <p:nvPicPr>
          <p:cNvPr id="466" name="Google Shape;589;p48" descr="image.png"/>
          <p:cNvPicPr/>
          <p:nvPr/>
        </p:nvPicPr>
        <p:blipFill>
          <a:blip r:embed="rId4"/>
          <a:stretch/>
        </p:blipFill>
        <p:spPr>
          <a:xfrm>
            <a:off x="9360" y="9360"/>
            <a:ext cx="12172320" cy="266040"/>
          </a:xfrm>
          <a:prstGeom prst="rect">
            <a:avLst/>
          </a:prstGeom>
          <a:ln w="0">
            <a:noFill/>
          </a:ln>
        </p:spPr>
      </p:pic>
      <p:pic>
        <p:nvPicPr>
          <p:cNvPr id="467" name="Google Shape;590;p48" descr="image.png"/>
          <p:cNvPicPr/>
          <p:nvPr/>
        </p:nvPicPr>
        <p:blipFill>
          <a:blip r:embed="rId4"/>
          <a:stretch/>
        </p:blipFill>
        <p:spPr>
          <a:xfrm>
            <a:off x="9360" y="6581880"/>
            <a:ext cx="12172320" cy="266040"/>
          </a:xfrm>
          <a:prstGeom prst="rect">
            <a:avLst/>
          </a:prstGeom>
          <a:ln w="0">
            <a:noFill/>
          </a:ln>
        </p:spPr>
      </p:pic>
      <p:sp>
        <p:nvSpPr>
          <p:cNvPr id="468" name="Google Shape;591;p48"/>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Speed Gating (Doppler Filters)</a:t>
            </a:r>
            <a:endParaRPr lang="en-NZ" sz="2400" b="0" strike="noStrike" spc="-1">
              <a:latin typeface="Arial"/>
            </a:endParaRPr>
          </a:p>
        </p:txBody>
      </p:sp>
      <p:sp>
        <p:nvSpPr>
          <p:cNvPr id="469" name="Google Shape;592;p48"/>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70" name="Google Shape;593;p48"/>
          <p:cNvSpPr/>
          <p:nvPr/>
        </p:nvSpPr>
        <p:spPr>
          <a:xfrm>
            <a:off x="781200" y="32731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Filtering by Speed</a:t>
            </a:r>
            <a:endParaRPr lang="en-NZ" sz="1410" b="0" strike="noStrike" spc="-1">
              <a:latin typeface="Arial"/>
            </a:endParaRPr>
          </a:p>
        </p:txBody>
      </p:sp>
      <p:sp>
        <p:nvSpPr>
          <p:cNvPr id="471" name="Google Shape;594;p48"/>
          <p:cNvSpPr/>
          <p:nvPr/>
        </p:nvSpPr>
        <p:spPr>
          <a:xfrm>
            <a:off x="781200" y="36824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Returns are sorted into "Doppler Bins" based on their shift.</a:t>
            </a:r>
            <a:endParaRPr lang="en-NZ" sz="1500" b="0" strike="noStrike" spc="-1">
              <a:latin typeface="Arial"/>
            </a:endParaRPr>
          </a:p>
        </p:txBody>
      </p:sp>
      <p:sp>
        <p:nvSpPr>
          <p:cNvPr id="472" name="Google Shape;595;p48"/>
          <p:cNvSpPr/>
          <p:nvPr/>
        </p:nvSpPr>
        <p:spPr>
          <a:xfrm>
            <a:off x="781200" y="4158720"/>
            <a:ext cx="106293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Stationary objects</a:t>
            </a:r>
            <a:r>
              <a:rPr lang="en-US" sz="1500" b="0" strike="noStrike" spc="-1">
                <a:solidFill>
                  <a:srgbClr val="CBD5E1"/>
                </a:solidFill>
                <a:latin typeface="Inter"/>
                <a:ea typeface="Inter"/>
              </a:rPr>
              <a:t> (mountains) fall into the Zero-Velocity bin. </a:t>
            </a:r>
            <a:r>
              <a:rPr lang="en-US" sz="1500" b="1" strike="noStrike" spc="-1">
                <a:solidFill>
                  <a:srgbClr val="CBD5E1"/>
                </a:solidFill>
                <a:latin typeface="Inter"/>
                <a:ea typeface="Inter"/>
              </a:rPr>
              <a:t>Aircraft</a:t>
            </a:r>
            <a:r>
              <a:rPr lang="en-US" sz="1500" b="0" strike="noStrike" spc="-1">
                <a:solidFill>
                  <a:srgbClr val="CBD5E1"/>
                </a:solidFill>
                <a:latin typeface="Inter"/>
                <a:ea typeface="Inter"/>
              </a:rPr>
              <a:t> fall into High-Velocity bins. This allows us to erase the mountains electronically.</a:t>
            </a:r>
            <a:endParaRPr lang="en-NZ" sz="1500" b="0" strike="noStrike" spc="-1">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3" name="Google Shape;600;p49" descr="image.png"/>
          <p:cNvPicPr/>
          <p:nvPr/>
        </p:nvPicPr>
        <p:blipFill>
          <a:blip r:embed="rId2"/>
          <a:stretch/>
        </p:blipFill>
        <p:spPr>
          <a:xfrm>
            <a:off x="0" y="0"/>
            <a:ext cx="12191400" cy="6857280"/>
          </a:xfrm>
          <a:prstGeom prst="rect">
            <a:avLst/>
          </a:prstGeom>
          <a:ln w="0">
            <a:noFill/>
          </a:ln>
        </p:spPr>
      </p:pic>
      <p:pic>
        <p:nvPicPr>
          <p:cNvPr id="474" name="Google Shape;601;p49" descr="image.png"/>
          <p:cNvPicPr/>
          <p:nvPr/>
        </p:nvPicPr>
        <p:blipFill>
          <a:blip r:embed="rId3"/>
          <a:stretch/>
        </p:blipFill>
        <p:spPr>
          <a:xfrm>
            <a:off x="581040" y="3037680"/>
            <a:ext cx="11029320" cy="1939680"/>
          </a:xfrm>
          <a:prstGeom prst="rect">
            <a:avLst/>
          </a:prstGeom>
          <a:ln w="0">
            <a:noFill/>
          </a:ln>
        </p:spPr>
      </p:pic>
      <p:pic>
        <p:nvPicPr>
          <p:cNvPr id="475" name="Google Shape;602;p49" descr="image.png"/>
          <p:cNvPicPr/>
          <p:nvPr/>
        </p:nvPicPr>
        <p:blipFill>
          <a:blip r:embed="rId4"/>
          <a:stretch/>
        </p:blipFill>
        <p:spPr>
          <a:xfrm>
            <a:off x="9360" y="9360"/>
            <a:ext cx="12172320" cy="266040"/>
          </a:xfrm>
          <a:prstGeom prst="rect">
            <a:avLst/>
          </a:prstGeom>
          <a:ln w="0">
            <a:noFill/>
          </a:ln>
        </p:spPr>
      </p:pic>
      <p:pic>
        <p:nvPicPr>
          <p:cNvPr id="476" name="Google Shape;603;p49" descr="image.png"/>
          <p:cNvPicPr/>
          <p:nvPr/>
        </p:nvPicPr>
        <p:blipFill>
          <a:blip r:embed="rId4"/>
          <a:stretch/>
        </p:blipFill>
        <p:spPr>
          <a:xfrm>
            <a:off x="9360" y="6581880"/>
            <a:ext cx="12172320" cy="266040"/>
          </a:xfrm>
          <a:prstGeom prst="rect">
            <a:avLst/>
          </a:prstGeom>
          <a:ln w="0">
            <a:noFill/>
          </a:ln>
        </p:spPr>
      </p:pic>
      <p:sp>
        <p:nvSpPr>
          <p:cNvPr id="477" name="Google Shape;604;p49"/>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Moving Target Indication (MTI)</a:t>
            </a:r>
            <a:endParaRPr lang="en-NZ" sz="2400" b="0" strike="noStrike" spc="-1">
              <a:latin typeface="Arial"/>
            </a:endParaRPr>
          </a:p>
        </p:txBody>
      </p:sp>
      <p:sp>
        <p:nvSpPr>
          <p:cNvPr id="478" name="Google Shape;605;p49"/>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79" name="Google Shape;606;p49"/>
          <p:cNvSpPr/>
          <p:nvPr/>
        </p:nvSpPr>
        <p:spPr>
          <a:xfrm>
            <a:off x="781200" y="341604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Seeing Only Motion</a:t>
            </a:r>
            <a:endParaRPr lang="en-NZ" sz="1410" b="0" strike="noStrike" spc="-1">
              <a:latin typeface="Arial"/>
            </a:endParaRPr>
          </a:p>
        </p:txBody>
      </p:sp>
      <p:sp>
        <p:nvSpPr>
          <p:cNvPr id="480" name="Google Shape;607;p49"/>
          <p:cNvSpPr/>
          <p:nvPr/>
        </p:nvSpPr>
        <p:spPr>
          <a:xfrm>
            <a:off x="781200" y="382536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MTI radar ignores anything that isn't moving.</a:t>
            </a:r>
            <a:endParaRPr lang="en-NZ" sz="1500" b="0" strike="noStrike" spc="-1">
              <a:latin typeface="Arial"/>
            </a:endParaRPr>
          </a:p>
        </p:txBody>
      </p:sp>
      <p:sp>
        <p:nvSpPr>
          <p:cNvPr id="481" name="Google Shape;608;p49"/>
          <p:cNvSpPr/>
          <p:nvPr/>
        </p:nvSpPr>
        <p:spPr>
          <a:xfrm>
            <a:off x="781200" y="43016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The Trade-off:</a:t>
            </a:r>
            <a:r>
              <a:rPr lang="en-US" sz="1500" b="0" strike="noStrike" spc="-1">
                <a:solidFill>
                  <a:srgbClr val="CBD5E1"/>
                </a:solidFill>
                <a:latin typeface="Inter"/>
                <a:ea typeface="Inter"/>
              </a:rPr>
              <a:t> It removes clutter, but it also hides stationary targets like hovering helicopters or balloons.</a:t>
            </a:r>
            <a:endParaRPr lang="en-NZ" sz="150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2" name="Google Shape;613;p50" descr="image.png"/>
          <p:cNvPicPr/>
          <p:nvPr/>
        </p:nvPicPr>
        <p:blipFill>
          <a:blip r:embed="rId2"/>
          <a:stretch/>
        </p:blipFill>
        <p:spPr>
          <a:xfrm>
            <a:off x="0" y="0"/>
            <a:ext cx="12191400" cy="6857280"/>
          </a:xfrm>
          <a:prstGeom prst="rect">
            <a:avLst/>
          </a:prstGeom>
          <a:ln w="0">
            <a:noFill/>
          </a:ln>
        </p:spPr>
      </p:pic>
      <p:pic>
        <p:nvPicPr>
          <p:cNvPr id="483" name="Google Shape;614;p50" descr="image.png"/>
          <p:cNvPicPr/>
          <p:nvPr/>
        </p:nvPicPr>
        <p:blipFill>
          <a:blip r:embed="rId3"/>
          <a:stretch/>
        </p:blipFill>
        <p:spPr>
          <a:xfrm>
            <a:off x="6286680" y="1864800"/>
            <a:ext cx="5323680" cy="4285440"/>
          </a:xfrm>
          <a:prstGeom prst="rect">
            <a:avLst/>
          </a:prstGeom>
          <a:ln w="0">
            <a:noFill/>
          </a:ln>
        </p:spPr>
      </p:pic>
      <p:pic>
        <p:nvPicPr>
          <p:cNvPr id="484" name="Google Shape;615;p50" descr="image.png"/>
          <p:cNvPicPr/>
          <p:nvPr/>
        </p:nvPicPr>
        <p:blipFill>
          <a:blip r:embed="rId4"/>
          <a:stretch/>
        </p:blipFill>
        <p:spPr>
          <a:xfrm>
            <a:off x="9360" y="9360"/>
            <a:ext cx="12172320" cy="266040"/>
          </a:xfrm>
          <a:prstGeom prst="rect">
            <a:avLst/>
          </a:prstGeom>
          <a:ln w="0">
            <a:noFill/>
          </a:ln>
        </p:spPr>
      </p:pic>
      <p:pic>
        <p:nvPicPr>
          <p:cNvPr id="485" name="Google Shape;616;p50" descr="image.png"/>
          <p:cNvPicPr/>
          <p:nvPr/>
        </p:nvPicPr>
        <p:blipFill>
          <a:blip r:embed="rId4"/>
          <a:stretch/>
        </p:blipFill>
        <p:spPr>
          <a:xfrm>
            <a:off x="9360" y="6581880"/>
            <a:ext cx="12172320" cy="266040"/>
          </a:xfrm>
          <a:prstGeom prst="rect">
            <a:avLst/>
          </a:prstGeom>
          <a:ln w="0">
            <a:noFill/>
          </a:ln>
        </p:spPr>
      </p:pic>
      <p:sp>
        <p:nvSpPr>
          <p:cNvPr id="486" name="Google Shape;617;p50"/>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The Doppler Notch</a:t>
            </a:r>
            <a:endParaRPr lang="en-NZ" sz="2400" b="0" strike="noStrike" spc="-1">
              <a:latin typeface="Arial"/>
            </a:endParaRPr>
          </a:p>
        </p:txBody>
      </p:sp>
      <p:sp>
        <p:nvSpPr>
          <p:cNvPr id="487" name="Google Shape;618;p50"/>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88" name="Google Shape;619;p50"/>
          <p:cNvSpPr/>
          <p:nvPr/>
        </p:nvSpPr>
        <p:spPr>
          <a:xfrm>
            <a:off x="58104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Hiding in the Filter</a:t>
            </a:r>
            <a:endParaRPr lang="en-NZ" sz="1410" b="0" strike="noStrike" spc="-1">
              <a:latin typeface="Arial"/>
            </a:endParaRPr>
          </a:p>
        </p:txBody>
      </p:sp>
      <p:sp>
        <p:nvSpPr>
          <p:cNvPr id="489" name="Google Shape;620;p50"/>
          <p:cNvSpPr/>
          <p:nvPr/>
        </p:nvSpPr>
        <p:spPr>
          <a:xfrm>
            <a:off x="581040" y="353988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If an aircraft flies perfectly perpendicular (90°) to the radar, its closing speed is zero.</a:t>
            </a:r>
            <a:endParaRPr lang="en-NZ" sz="1500" b="0" strike="noStrike" spc="-1">
              <a:latin typeface="Arial"/>
            </a:endParaRPr>
          </a:p>
        </p:txBody>
      </p:sp>
      <p:sp>
        <p:nvSpPr>
          <p:cNvPr id="490" name="Google Shape;621;p50"/>
          <p:cNvSpPr/>
          <p:nvPr/>
        </p:nvSpPr>
        <p:spPr>
          <a:xfrm>
            <a:off x="581040" y="43016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Doppler filter assumes it is a mountain and hides it. Pilots call this maneuver "Notching."</a:t>
            </a:r>
            <a:endParaRPr lang="en-NZ" sz="1500" b="0" strike="noStrike" spc="-1">
              <a:latin typeface="Arial"/>
            </a:endParaRPr>
          </a:p>
        </p:txBody>
      </p:sp>
      <p:pic>
        <p:nvPicPr>
          <p:cNvPr id="491" name="Google Shape;622;p50"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2" name="Google Shape;627;p51" descr="image.png"/>
          <p:cNvPicPr/>
          <p:nvPr/>
        </p:nvPicPr>
        <p:blipFill>
          <a:blip r:embed="rId2"/>
          <a:stretch/>
        </p:blipFill>
        <p:spPr>
          <a:xfrm>
            <a:off x="0" y="0"/>
            <a:ext cx="12191400" cy="6857280"/>
          </a:xfrm>
          <a:prstGeom prst="rect">
            <a:avLst/>
          </a:prstGeom>
          <a:ln w="0">
            <a:noFill/>
          </a:ln>
        </p:spPr>
      </p:pic>
      <p:pic>
        <p:nvPicPr>
          <p:cNvPr id="493" name="Google Shape;628;p51" descr="image.png"/>
          <p:cNvPicPr/>
          <p:nvPr/>
        </p:nvPicPr>
        <p:blipFill>
          <a:blip r:embed="rId3"/>
          <a:stretch/>
        </p:blipFill>
        <p:spPr>
          <a:xfrm>
            <a:off x="581040" y="3037680"/>
            <a:ext cx="11029320" cy="1939680"/>
          </a:xfrm>
          <a:prstGeom prst="rect">
            <a:avLst/>
          </a:prstGeom>
          <a:ln w="0">
            <a:noFill/>
          </a:ln>
        </p:spPr>
      </p:pic>
      <p:pic>
        <p:nvPicPr>
          <p:cNvPr id="494" name="Google Shape;629;p51" descr="image.png"/>
          <p:cNvPicPr/>
          <p:nvPr/>
        </p:nvPicPr>
        <p:blipFill>
          <a:blip r:embed="rId4"/>
          <a:stretch/>
        </p:blipFill>
        <p:spPr>
          <a:xfrm>
            <a:off x="9360" y="9360"/>
            <a:ext cx="12172320" cy="266040"/>
          </a:xfrm>
          <a:prstGeom prst="rect">
            <a:avLst/>
          </a:prstGeom>
          <a:ln w="0">
            <a:noFill/>
          </a:ln>
        </p:spPr>
      </p:pic>
      <p:pic>
        <p:nvPicPr>
          <p:cNvPr id="495" name="Google Shape;630;p51" descr="image.png"/>
          <p:cNvPicPr/>
          <p:nvPr/>
        </p:nvPicPr>
        <p:blipFill>
          <a:blip r:embed="rId4"/>
          <a:stretch/>
        </p:blipFill>
        <p:spPr>
          <a:xfrm>
            <a:off x="9360" y="6581880"/>
            <a:ext cx="12172320" cy="266040"/>
          </a:xfrm>
          <a:prstGeom prst="rect">
            <a:avLst/>
          </a:prstGeom>
          <a:ln w="0">
            <a:noFill/>
          </a:ln>
        </p:spPr>
      </p:pic>
      <p:sp>
        <p:nvSpPr>
          <p:cNvPr id="496" name="Google Shape;631;p51"/>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Blind Speeds</a:t>
            </a:r>
            <a:endParaRPr lang="en-NZ" sz="2400" b="0" strike="noStrike" spc="-1">
              <a:latin typeface="Arial"/>
            </a:endParaRPr>
          </a:p>
        </p:txBody>
      </p:sp>
      <p:sp>
        <p:nvSpPr>
          <p:cNvPr id="497" name="Google Shape;632;p51"/>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498" name="Google Shape;633;p51"/>
          <p:cNvSpPr/>
          <p:nvPr/>
        </p:nvSpPr>
        <p:spPr>
          <a:xfrm>
            <a:off x="781200" y="341604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Sampling Errors</a:t>
            </a:r>
            <a:endParaRPr lang="en-NZ" sz="1410" b="0" strike="noStrike" spc="-1">
              <a:latin typeface="Arial"/>
            </a:endParaRPr>
          </a:p>
        </p:txBody>
      </p:sp>
      <p:sp>
        <p:nvSpPr>
          <p:cNvPr id="499" name="Google Shape;634;p51"/>
          <p:cNvSpPr/>
          <p:nvPr/>
        </p:nvSpPr>
        <p:spPr>
          <a:xfrm>
            <a:off x="781200" y="382536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Due to the pulse timing (PRF), certain specific target speeds can align perfectly with the pulse rate.</a:t>
            </a:r>
            <a:endParaRPr lang="en-NZ" sz="1500" b="0" strike="noStrike" spc="-1">
              <a:latin typeface="Arial"/>
            </a:endParaRPr>
          </a:p>
        </p:txBody>
      </p:sp>
      <p:sp>
        <p:nvSpPr>
          <p:cNvPr id="500" name="Google Shape;635;p51"/>
          <p:cNvSpPr/>
          <p:nvPr/>
        </p:nvSpPr>
        <p:spPr>
          <a:xfrm>
            <a:off x="781200" y="4301640"/>
            <a:ext cx="106293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At these speeds, the Doppler shift appears to be zero to the processor, making the target invisible.</a:t>
            </a:r>
            <a:endParaRPr lang="en-NZ" sz="1500" b="0" strike="noStrike" spc="-1">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 name="Google Shape;640;p52" descr="image.png"/>
          <p:cNvPicPr/>
          <p:nvPr/>
        </p:nvPicPr>
        <p:blipFill>
          <a:blip r:embed="rId2"/>
          <a:stretch/>
        </p:blipFill>
        <p:spPr>
          <a:xfrm>
            <a:off x="0" y="0"/>
            <a:ext cx="12191400" cy="6857280"/>
          </a:xfrm>
          <a:prstGeom prst="rect">
            <a:avLst/>
          </a:prstGeom>
          <a:ln w="0">
            <a:noFill/>
          </a:ln>
        </p:spPr>
      </p:pic>
      <p:pic>
        <p:nvPicPr>
          <p:cNvPr id="502" name="Google Shape;641;p52" descr="image.png"/>
          <p:cNvPicPr/>
          <p:nvPr/>
        </p:nvPicPr>
        <p:blipFill>
          <a:blip r:embed="rId3"/>
          <a:stretch/>
        </p:blipFill>
        <p:spPr>
          <a:xfrm>
            <a:off x="581040" y="1864800"/>
            <a:ext cx="5323680" cy="4285440"/>
          </a:xfrm>
          <a:prstGeom prst="rect">
            <a:avLst/>
          </a:prstGeom>
          <a:ln w="0">
            <a:noFill/>
          </a:ln>
        </p:spPr>
      </p:pic>
      <p:pic>
        <p:nvPicPr>
          <p:cNvPr id="503" name="Google Shape;642;p52" descr="image.png"/>
          <p:cNvPicPr/>
          <p:nvPr/>
        </p:nvPicPr>
        <p:blipFill>
          <a:blip r:embed="rId4"/>
          <a:stretch/>
        </p:blipFill>
        <p:spPr>
          <a:xfrm>
            <a:off x="9360" y="9360"/>
            <a:ext cx="12172320" cy="266040"/>
          </a:xfrm>
          <a:prstGeom prst="rect">
            <a:avLst/>
          </a:prstGeom>
          <a:ln w="0">
            <a:noFill/>
          </a:ln>
        </p:spPr>
      </p:pic>
      <p:pic>
        <p:nvPicPr>
          <p:cNvPr id="504" name="Google Shape;643;p52" descr="image.png"/>
          <p:cNvPicPr/>
          <p:nvPr/>
        </p:nvPicPr>
        <p:blipFill>
          <a:blip r:embed="rId4"/>
          <a:stretch/>
        </p:blipFill>
        <p:spPr>
          <a:xfrm>
            <a:off x="9360" y="6581880"/>
            <a:ext cx="12172320" cy="266040"/>
          </a:xfrm>
          <a:prstGeom prst="rect">
            <a:avLst/>
          </a:prstGeom>
          <a:ln w="0">
            <a:noFill/>
          </a:ln>
        </p:spPr>
      </p:pic>
      <p:sp>
        <p:nvSpPr>
          <p:cNvPr id="505" name="Google Shape;644;p52"/>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Display: A-Scope</a:t>
            </a:r>
            <a:endParaRPr lang="en-NZ" sz="2400" b="0" strike="noStrike" spc="-1">
              <a:latin typeface="Arial"/>
            </a:endParaRPr>
          </a:p>
        </p:txBody>
      </p:sp>
      <p:sp>
        <p:nvSpPr>
          <p:cNvPr id="506" name="Google Shape;645;p52"/>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507" name="Google Shape;646;p52" descr="image.png"/>
          <p:cNvPicPr/>
          <p:nvPr/>
        </p:nvPicPr>
        <p:blipFill>
          <a:blip r:embed="rId5"/>
          <a:stretch/>
        </p:blipFill>
        <p:spPr>
          <a:xfrm>
            <a:off x="590400" y="1874160"/>
            <a:ext cx="5304600" cy="4266360"/>
          </a:xfrm>
          <a:prstGeom prst="rect">
            <a:avLst/>
          </a:prstGeom>
          <a:ln w="0">
            <a:noFill/>
          </a:ln>
        </p:spPr>
      </p:pic>
      <p:sp>
        <p:nvSpPr>
          <p:cNvPr id="508" name="Google Shape;647;p52"/>
          <p:cNvSpPr/>
          <p:nvPr/>
        </p:nvSpPr>
        <p:spPr>
          <a:xfrm>
            <a:off x="6286680" y="327312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The Engineer's View</a:t>
            </a:r>
            <a:endParaRPr lang="en-NZ" sz="1410" b="0" strike="noStrike" spc="-1">
              <a:latin typeface="Arial"/>
            </a:endParaRPr>
          </a:p>
        </p:txBody>
      </p:sp>
      <p:sp>
        <p:nvSpPr>
          <p:cNvPr id="509" name="Google Shape;648;p52"/>
          <p:cNvSpPr/>
          <p:nvPr/>
        </p:nvSpPr>
        <p:spPr>
          <a:xfrm>
            <a:off x="6286680" y="36824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oldest display. X-Axis = Distance. Y-Axis = Strength.</a:t>
            </a:r>
            <a:endParaRPr lang="en-NZ" sz="1500" b="0" strike="noStrike" spc="-1">
              <a:latin typeface="Arial"/>
            </a:endParaRPr>
          </a:p>
        </p:txBody>
      </p:sp>
      <p:sp>
        <p:nvSpPr>
          <p:cNvPr id="510" name="Google Shape;649;p52"/>
          <p:cNvSpPr/>
          <p:nvPr/>
        </p:nvSpPr>
        <p:spPr>
          <a:xfrm>
            <a:off x="6286680" y="415872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Used for diagnostics and precise ranging, but offers no directional information.</a:t>
            </a:r>
            <a:endParaRPr lang="en-NZ" sz="1500" b="0" strike="noStrike" spc="-1">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1" name="Google Shape;654;p53" descr="image.png"/>
          <p:cNvPicPr/>
          <p:nvPr/>
        </p:nvPicPr>
        <p:blipFill>
          <a:blip r:embed="rId2"/>
          <a:stretch/>
        </p:blipFill>
        <p:spPr>
          <a:xfrm>
            <a:off x="0" y="0"/>
            <a:ext cx="12191400" cy="6857280"/>
          </a:xfrm>
          <a:prstGeom prst="rect">
            <a:avLst/>
          </a:prstGeom>
          <a:ln w="0">
            <a:noFill/>
          </a:ln>
        </p:spPr>
      </p:pic>
      <p:pic>
        <p:nvPicPr>
          <p:cNvPr id="512" name="Google Shape;655;p53" descr="image.png"/>
          <p:cNvPicPr/>
          <p:nvPr/>
        </p:nvPicPr>
        <p:blipFill>
          <a:blip r:embed="rId3"/>
          <a:stretch/>
        </p:blipFill>
        <p:spPr>
          <a:xfrm>
            <a:off x="6286680" y="1864800"/>
            <a:ext cx="5323680" cy="4285440"/>
          </a:xfrm>
          <a:prstGeom prst="rect">
            <a:avLst/>
          </a:prstGeom>
          <a:ln w="0">
            <a:noFill/>
          </a:ln>
        </p:spPr>
      </p:pic>
      <p:pic>
        <p:nvPicPr>
          <p:cNvPr id="513" name="Google Shape;656;p53" descr="image.png"/>
          <p:cNvPicPr/>
          <p:nvPr/>
        </p:nvPicPr>
        <p:blipFill>
          <a:blip r:embed="rId4"/>
          <a:stretch/>
        </p:blipFill>
        <p:spPr>
          <a:xfrm>
            <a:off x="9360" y="9360"/>
            <a:ext cx="12172320" cy="266040"/>
          </a:xfrm>
          <a:prstGeom prst="rect">
            <a:avLst/>
          </a:prstGeom>
          <a:ln w="0">
            <a:noFill/>
          </a:ln>
        </p:spPr>
      </p:pic>
      <p:pic>
        <p:nvPicPr>
          <p:cNvPr id="514" name="Google Shape;657;p53" descr="image.png"/>
          <p:cNvPicPr/>
          <p:nvPr/>
        </p:nvPicPr>
        <p:blipFill>
          <a:blip r:embed="rId4"/>
          <a:stretch/>
        </p:blipFill>
        <p:spPr>
          <a:xfrm>
            <a:off x="9360" y="6581880"/>
            <a:ext cx="12172320" cy="266040"/>
          </a:xfrm>
          <a:prstGeom prst="rect">
            <a:avLst/>
          </a:prstGeom>
          <a:ln w="0">
            <a:noFill/>
          </a:ln>
        </p:spPr>
      </p:pic>
      <p:sp>
        <p:nvSpPr>
          <p:cNvPr id="515" name="Google Shape;658;p53"/>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Display: PPI</a:t>
            </a:r>
            <a:endParaRPr lang="en-NZ" sz="2400" b="0" strike="noStrike" spc="-1">
              <a:latin typeface="Arial"/>
            </a:endParaRPr>
          </a:p>
        </p:txBody>
      </p:sp>
      <p:sp>
        <p:nvSpPr>
          <p:cNvPr id="516" name="Google Shape;659;p53"/>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517" name="Google Shape;660;p53"/>
          <p:cNvSpPr/>
          <p:nvPr/>
        </p:nvSpPr>
        <p:spPr>
          <a:xfrm>
            <a:off x="58104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Plan Position Indicator</a:t>
            </a:r>
            <a:endParaRPr lang="en-NZ" sz="1410" b="0" strike="noStrike" spc="-1">
              <a:latin typeface="Arial"/>
            </a:endParaRPr>
          </a:p>
        </p:txBody>
      </p:sp>
      <p:sp>
        <p:nvSpPr>
          <p:cNvPr id="518" name="Google Shape;661;p53"/>
          <p:cNvSpPr/>
          <p:nvPr/>
        </p:nvSpPr>
        <p:spPr>
          <a:xfrm>
            <a:off x="581040" y="33969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classic "Movie Radar." A map view with the radar at the center.</a:t>
            </a:r>
            <a:endParaRPr lang="en-NZ" sz="1500" b="0" strike="noStrike" spc="-1">
              <a:latin typeface="Arial"/>
            </a:endParaRPr>
          </a:p>
        </p:txBody>
      </p:sp>
      <p:sp>
        <p:nvSpPr>
          <p:cNvPr id="519" name="Google Shape;662;p53"/>
          <p:cNvSpPr/>
          <p:nvPr/>
        </p:nvSpPr>
        <p:spPr>
          <a:xfrm>
            <a:off x="581040" y="415872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 sweep rotates with the antenna, painting targets as blips. Phosphor coating keeps them visible for a few seconds.</a:t>
            </a:r>
            <a:endParaRPr lang="en-NZ" sz="1500" b="0" strike="noStrike" spc="-1">
              <a:latin typeface="Arial"/>
            </a:endParaRPr>
          </a:p>
        </p:txBody>
      </p:sp>
      <p:pic>
        <p:nvPicPr>
          <p:cNvPr id="520" name="Google Shape;663;p53"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1" name="Google Shape;668;p54" descr="image.png"/>
          <p:cNvPicPr/>
          <p:nvPr/>
        </p:nvPicPr>
        <p:blipFill>
          <a:blip r:embed="rId2"/>
          <a:stretch/>
        </p:blipFill>
        <p:spPr>
          <a:xfrm>
            <a:off x="0" y="0"/>
            <a:ext cx="12191400" cy="6857280"/>
          </a:xfrm>
          <a:prstGeom prst="rect">
            <a:avLst/>
          </a:prstGeom>
          <a:ln w="0">
            <a:noFill/>
          </a:ln>
        </p:spPr>
      </p:pic>
      <p:pic>
        <p:nvPicPr>
          <p:cNvPr id="522" name="Google Shape;669;p54" descr="image.png"/>
          <p:cNvPicPr/>
          <p:nvPr/>
        </p:nvPicPr>
        <p:blipFill>
          <a:blip r:embed="rId3"/>
          <a:stretch/>
        </p:blipFill>
        <p:spPr>
          <a:xfrm>
            <a:off x="581040" y="1864800"/>
            <a:ext cx="5323680" cy="4285440"/>
          </a:xfrm>
          <a:prstGeom prst="rect">
            <a:avLst/>
          </a:prstGeom>
          <a:ln w="0">
            <a:noFill/>
          </a:ln>
        </p:spPr>
      </p:pic>
      <p:pic>
        <p:nvPicPr>
          <p:cNvPr id="523" name="Google Shape;670;p54" descr="image.png"/>
          <p:cNvPicPr/>
          <p:nvPr/>
        </p:nvPicPr>
        <p:blipFill>
          <a:blip r:embed="rId4"/>
          <a:stretch/>
        </p:blipFill>
        <p:spPr>
          <a:xfrm>
            <a:off x="9360" y="9360"/>
            <a:ext cx="12172320" cy="266040"/>
          </a:xfrm>
          <a:prstGeom prst="rect">
            <a:avLst/>
          </a:prstGeom>
          <a:ln w="0">
            <a:noFill/>
          </a:ln>
        </p:spPr>
      </p:pic>
      <p:pic>
        <p:nvPicPr>
          <p:cNvPr id="524" name="Google Shape;671;p54" descr="image.png"/>
          <p:cNvPicPr/>
          <p:nvPr/>
        </p:nvPicPr>
        <p:blipFill>
          <a:blip r:embed="rId4"/>
          <a:stretch/>
        </p:blipFill>
        <p:spPr>
          <a:xfrm>
            <a:off x="9360" y="6581880"/>
            <a:ext cx="12172320" cy="266040"/>
          </a:xfrm>
          <a:prstGeom prst="rect">
            <a:avLst/>
          </a:prstGeom>
          <a:ln w="0">
            <a:noFill/>
          </a:ln>
        </p:spPr>
      </p:pic>
      <p:sp>
        <p:nvSpPr>
          <p:cNvPr id="525" name="Google Shape;672;p54"/>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Phased Arrays (AESA)</a:t>
            </a:r>
            <a:endParaRPr lang="en-NZ" sz="2400" b="0" strike="noStrike" spc="-1">
              <a:latin typeface="Arial"/>
            </a:endParaRPr>
          </a:p>
        </p:txBody>
      </p:sp>
      <p:sp>
        <p:nvSpPr>
          <p:cNvPr id="526" name="Google Shape;673;p54"/>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527" name="Google Shape;674;p54" descr="image.png"/>
          <p:cNvPicPr/>
          <p:nvPr/>
        </p:nvPicPr>
        <p:blipFill>
          <a:blip r:embed="rId5"/>
          <a:stretch/>
        </p:blipFill>
        <p:spPr>
          <a:xfrm>
            <a:off x="590400" y="1874160"/>
            <a:ext cx="5304600" cy="4266360"/>
          </a:xfrm>
          <a:prstGeom prst="rect">
            <a:avLst/>
          </a:prstGeom>
          <a:ln w="0">
            <a:noFill/>
          </a:ln>
        </p:spPr>
      </p:pic>
      <p:sp>
        <p:nvSpPr>
          <p:cNvPr id="528" name="Google Shape;675;p54"/>
          <p:cNvSpPr/>
          <p:nvPr/>
        </p:nvSpPr>
        <p:spPr>
          <a:xfrm>
            <a:off x="6286680" y="327312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No Moving Parts</a:t>
            </a:r>
            <a:endParaRPr lang="en-NZ" sz="1410" b="0" strike="noStrike" spc="-1">
              <a:latin typeface="Arial"/>
            </a:endParaRPr>
          </a:p>
        </p:txBody>
      </p:sp>
      <p:sp>
        <p:nvSpPr>
          <p:cNvPr id="529" name="Google Shape;676;p54"/>
          <p:cNvSpPr/>
          <p:nvPr/>
        </p:nvSpPr>
        <p:spPr>
          <a:xfrm>
            <a:off x="6286680" y="368244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Active Electronically Scanned Arrays do not spin.</a:t>
            </a:r>
            <a:endParaRPr lang="en-NZ" sz="1500" b="0" strike="noStrike" spc="-1">
              <a:latin typeface="Arial"/>
            </a:endParaRPr>
          </a:p>
        </p:txBody>
      </p:sp>
      <p:sp>
        <p:nvSpPr>
          <p:cNvPr id="530" name="Google Shape;677;p54"/>
          <p:cNvSpPr/>
          <p:nvPr/>
        </p:nvSpPr>
        <p:spPr>
          <a:xfrm>
            <a:off x="6286680" y="415872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They rely on interference patterns from thousands of tiny modules to "steer" the beam electronically.</a:t>
            </a:r>
            <a:endParaRPr lang="en-NZ" sz="1500" b="0" strike="noStrike" spc="-1">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1" name="Google Shape;682;p55" descr="image.png"/>
          <p:cNvPicPr/>
          <p:nvPr/>
        </p:nvPicPr>
        <p:blipFill>
          <a:blip r:embed="rId2"/>
          <a:stretch/>
        </p:blipFill>
        <p:spPr>
          <a:xfrm>
            <a:off x="0" y="0"/>
            <a:ext cx="12191400" cy="6857280"/>
          </a:xfrm>
          <a:prstGeom prst="rect">
            <a:avLst/>
          </a:prstGeom>
          <a:ln w="0">
            <a:noFill/>
          </a:ln>
        </p:spPr>
      </p:pic>
      <p:pic>
        <p:nvPicPr>
          <p:cNvPr id="532" name="Google Shape;683;p55" descr="image.png"/>
          <p:cNvPicPr/>
          <p:nvPr/>
        </p:nvPicPr>
        <p:blipFill>
          <a:blip r:embed="rId3"/>
          <a:stretch/>
        </p:blipFill>
        <p:spPr>
          <a:xfrm>
            <a:off x="581040" y="3132720"/>
            <a:ext cx="3548880" cy="1749240"/>
          </a:xfrm>
          <a:prstGeom prst="rect">
            <a:avLst/>
          </a:prstGeom>
          <a:ln w="0">
            <a:noFill/>
          </a:ln>
        </p:spPr>
      </p:pic>
      <p:pic>
        <p:nvPicPr>
          <p:cNvPr id="533" name="Google Shape;684;p55" descr="image.png"/>
          <p:cNvPicPr/>
          <p:nvPr/>
        </p:nvPicPr>
        <p:blipFill>
          <a:blip r:embed="rId4"/>
          <a:stretch/>
        </p:blipFill>
        <p:spPr>
          <a:xfrm>
            <a:off x="4321080" y="3132720"/>
            <a:ext cx="3548880" cy="1749240"/>
          </a:xfrm>
          <a:prstGeom prst="rect">
            <a:avLst/>
          </a:prstGeom>
          <a:ln w="0">
            <a:noFill/>
          </a:ln>
        </p:spPr>
      </p:pic>
      <p:pic>
        <p:nvPicPr>
          <p:cNvPr id="534" name="Google Shape;685;p55" descr="image.png"/>
          <p:cNvPicPr/>
          <p:nvPr/>
        </p:nvPicPr>
        <p:blipFill>
          <a:blip r:embed="rId5"/>
          <a:stretch/>
        </p:blipFill>
        <p:spPr>
          <a:xfrm>
            <a:off x="8061120" y="3132720"/>
            <a:ext cx="3548880" cy="1749240"/>
          </a:xfrm>
          <a:prstGeom prst="rect">
            <a:avLst/>
          </a:prstGeom>
          <a:ln w="0">
            <a:noFill/>
          </a:ln>
        </p:spPr>
      </p:pic>
      <p:pic>
        <p:nvPicPr>
          <p:cNvPr id="535" name="Google Shape;686;p55" descr="image.png"/>
          <p:cNvPicPr/>
          <p:nvPr/>
        </p:nvPicPr>
        <p:blipFill>
          <a:blip r:embed="rId6"/>
          <a:stretch/>
        </p:blipFill>
        <p:spPr>
          <a:xfrm>
            <a:off x="9360" y="9360"/>
            <a:ext cx="12172320" cy="266040"/>
          </a:xfrm>
          <a:prstGeom prst="rect">
            <a:avLst/>
          </a:prstGeom>
          <a:ln w="0">
            <a:noFill/>
          </a:ln>
        </p:spPr>
      </p:pic>
      <p:pic>
        <p:nvPicPr>
          <p:cNvPr id="536" name="Google Shape;687;p55" descr="image.png"/>
          <p:cNvPicPr/>
          <p:nvPr/>
        </p:nvPicPr>
        <p:blipFill>
          <a:blip r:embed="rId6"/>
          <a:stretch/>
        </p:blipFill>
        <p:spPr>
          <a:xfrm>
            <a:off x="9360" y="6581880"/>
            <a:ext cx="12172320" cy="266040"/>
          </a:xfrm>
          <a:prstGeom prst="rect">
            <a:avLst/>
          </a:prstGeom>
          <a:ln w="0">
            <a:noFill/>
          </a:ln>
        </p:spPr>
      </p:pic>
      <p:sp>
        <p:nvSpPr>
          <p:cNvPr id="537" name="Google Shape;688;p55"/>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AESA Advantages</a:t>
            </a:r>
            <a:endParaRPr lang="en-NZ" sz="2400" b="0" strike="noStrike" spc="-1">
              <a:latin typeface="Arial"/>
            </a:endParaRPr>
          </a:p>
        </p:txBody>
      </p:sp>
      <p:sp>
        <p:nvSpPr>
          <p:cNvPr id="538" name="Google Shape;689;p55"/>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539" name="Google Shape;690;p55"/>
          <p:cNvSpPr/>
          <p:nvPr/>
        </p:nvSpPr>
        <p:spPr>
          <a:xfrm>
            <a:off x="78120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Speed</a:t>
            </a:r>
            <a:endParaRPr lang="en-NZ" sz="1410" b="0" strike="noStrike" spc="-1">
              <a:latin typeface="Arial"/>
            </a:endParaRPr>
          </a:p>
        </p:txBody>
      </p:sp>
      <p:sp>
        <p:nvSpPr>
          <p:cNvPr id="540" name="Google Shape;691;p55"/>
          <p:cNvSpPr/>
          <p:nvPr/>
        </p:nvSpPr>
        <p:spPr>
          <a:xfrm>
            <a:off x="78120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Can scan the entire sky in milliseconds.</a:t>
            </a:r>
            <a:endParaRPr lang="en-NZ" sz="1500" b="0" strike="noStrike" spc="-1">
              <a:latin typeface="Arial"/>
            </a:endParaRPr>
          </a:p>
        </p:txBody>
      </p:sp>
      <p:sp>
        <p:nvSpPr>
          <p:cNvPr id="541" name="Google Shape;692;p55"/>
          <p:cNvSpPr/>
          <p:nvPr/>
        </p:nvSpPr>
        <p:spPr>
          <a:xfrm>
            <a:off x="452124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Multi-Tasking</a:t>
            </a:r>
            <a:endParaRPr lang="en-NZ" sz="1410" b="0" strike="noStrike" spc="-1">
              <a:latin typeface="Arial"/>
            </a:endParaRPr>
          </a:p>
        </p:txBody>
      </p:sp>
      <p:sp>
        <p:nvSpPr>
          <p:cNvPr id="542" name="Google Shape;693;p55"/>
          <p:cNvSpPr/>
          <p:nvPr/>
        </p:nvSpPr>
        <p:spPr>
          <a:xfrm>
            <a:off x="452124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Can track a target and scan for new ones simultaneously.</a:t>
            </a:r>
            <a:endParaRPr lang="en-NZ" sz="1500" b="0" strike="noStrike" spc="-1">
              <a:latin typeface="Arial"/>
            </a:endParaRPr>
          </a:p>
        </p:txBody>
      </p:sp>
      <p:sp>
        <p:nvSpPr>
          <p:cNvPr id="543" name="Google Shape;694;p55"/>
          <p:cNvSpPr/>
          <p:nvPr/>
        </p:nvSpPr>
        <p:spPr>
          <a:xfrm>
            <a:off x="8261280" y="351108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Reliability</a:t>
            </a:r>
            <a:endParaRPr lang="en-NZ" sz="1410" b="0" strike="noStrike" spc="-1">
              <a:latin typeface="Arial"/>
            </a:endParaRPr>
          </a:p>
        </p:txBody>
      </p:sp>
      <p:sp>
        <p:nvSpPr>
          <p:cNvPr id="544" name="Google Shape;695;p55"/>
          <p:cNvSpPr/>
          <p:nvPr/>
        </p:nvSpPr>
        <p:spPr>
          <a:xfrm>
            <a:off x="8261280" y="392076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If 10% of modules fail, the radar still works perfectly.</a:t>
            </a:r>
            <a:endParaRPr lang="en-NZ" sz="15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5" name="Google Shape;700;p56" descr="image.png"/>
          <p:cNvPicPr/>
          <p:nvPr/>
        </p:nvPicPr>
        <p:blipFill>
          <a:blip r:embed="rId2"/>
          <a:stretch/>
        </p:blipFill>
        <p:spPr>
          <a:xfrm>
            <a:off x="0" y="0"/>
            <a:ext cx="12191400" cy="6857280"/>
          </a:xfrm>
          <a:prstGeom prst="rect">
            <a:avLst/>
          </a:prstGeom>
          <a:ln w="0">
            <a:noFill/>
          </a:ln>
        </p:spPr>
      </p:pic>
      <p:pic>
        <p:nvPicPr>
          <p:cNvPr id="546" name="Google Shape;701;p56" descr="image.png"/>
          <p:cNvPicPr/>
          <p:nvPr/>
        </p:nvPicPr>
        <p:blipFill>
          <a:blip r:embed="rId3"/>
          <a:stretch/>
        </p:blipFill>
        <p:spPr>
          <a:xfrm>
            <a:off x="6286680" y="1864800"/>
            <a:ext cx="5323680" cy="4285440"/>
          </a:xfrm>
          <a:prstGeom prst="rect">
            <a:avLst/>
          </a:prstGeom>
          <a:ln w="0">
            <a:noFill/>
          </a:ln>
        </p:spPr>
      </p:pic>
      <p:pic>
        <p:nvPicPr>
          <p:cNvPr id="547" name="Google Shape;702;p56" descr="image.png"/>
          <p:cNvPicPr/>
          <p:nvPr/>
        </p:nvPicPr>
        <p:blipFill>
          <a:blip r:embed="rId4"/>
          <a:stretch/>
        </p:blipFill>
        <p:spPr>
          <a:xfrm>
            <a:off x="9360" y="9360"/>
            <a:ext cx="12172320" cy="266040"/>
          </a:xfrm>
          <a:prstGeom prst="rect">
            <a:avLst/>
          </a:prstGeom>
          <a:ln w="0">
            <a:noFill/>
          </a:ln>
        </p:spPr>
      </p:pic>
      <p:pic>
        <p:nvPicPr>
          <p:cNvPr id="548" name="Google Shape;703;p56" descr="image.png"/>
          <p:cNvPicPr/>
          <p:nvPr/>
        </p:nvPicPr>
        <p:blipFill>
          <a:blip r:embed="rId4"/>
          <a:stretch/>
        </p:blipFill>
        <p:spPr>
          <a:xfrm>
            <a:off x="9360" y="6581880"/>
            <a:ext cx="12172320" cy="266040"/>
          </a:xfrm>
          <a:prstGeom prst="rect">
            <a:avLst/>
          </a:prstGeom>
          <a:ln w="0">
            <a:noFill/>
          </a:ln>
        </p:spPr>
      </p:pic>
      <p:sp>
        <p:nvSpPr>
          <p:cNvPr id="549" name="Google Shape;704;p56"/>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Synthetic Aperture Radar (SAR)</a:t>
            </a:r>
            <a:endParaRPr lang="en-NZ" sz="2400" b="0" strike="noStrike" spc="-1">
              <a:latin typeface="Arial"/>
            </a:endParaRPr>
          </a:p>
        </p:txBody>
      </p:sp>
      <p:sp>
        <p:nvSpPr>
          <p:cNvPr id="550" name="Google Shape;705;p56"/>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551" name="Google Shape;706;p56"/>
          <p:cNvSpPr/>
          <p:nvPr/>
        </p:nvSpPr>
        <p:spPr>
          <a:xfrm>
            <a:off x="581040" y="298728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Radar Photography</a:t>
            </a:r>
            <a:endParaRPr lang="en-NZ" sz="1410" b="0" strike="noStrike" spc="-1">
              <a:latin typeface="Arial"/>
            </a:endParaRPr>
          </a:p>
        </p:txBody>
      </p:sp>
      <p:sp>
        <p:nvSpPr>
          <p:cNvPr id="552" name="Google Shape;707;p56"/>
          <p:cNvSpPr/>
          <p:nvPr/>
        </p:nvSpPr>
        <p:spPr>
          <a:xfrm>
            <a:off x="581040" y="339696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By using the motion of the aircraft to simulate a huge antenna, SAR builds up photo-quality images of the ground.</a:t>
            </a:r>
            <a:endParaRPr lang="en-NZ" sz="1500" b="0" strike="noStrike" spc="-1">
              <a:latin typeface="Arial"/>
            </a:endParaRPr>
          </a:p>
        </p:txBody>
      </p:sp>
      <p:sp>
        <p:nvSpPr>
          <p:cNvPr id="553" name="Google Shape;708;p56"/>
          <p:cNvSpPr/>
          <p:nvPr/>
        </p:nvSpPr>
        <p:spPr>
          <a:xfrm>
            <a:off x="581040" y="444456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Unlike optical cameras, SAR sees through clouds, smoke, and darkness.</a:t>
            </a:r>
            <a:endParaRPr lang="en-NZ" sz="1500" b="0" strike="noStrike" spc="-1">
              <a:latin typeface="Arial"/>
            </a:endParaRPr>
          </a:p>
        </p:txBody>
      </p:sp>
      <p:pic>
        <p:nvPicPr>
          <p:cNvPr id="554" name="Google Shape;709;p56"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55" name="Google Shape;714;p57" descr="image.png"/>
          <p:cNvPicPr/>
          <p:nvPr/>
        </p:nvPicPr>
        <p:blipFill>
          <a:blip r:embed="rId2"/>
          <a:stretch/>
        </p:blipFill>
        <p:spPr>
          <a:xfrm>
            <a:off x="0" y="0"/>
            <a:ext cx="12191400" cy="6857280"/>
          </a:xfrm>
          <a:prstGeom prst="rect">
            <a:avLst/>
          </a:prstGeom>
          <a:ln w="0">
            <a:noFill/>
          </a:ln>
        </p:spPr>
      </p:pic>
      <p:pic>
        <p:nvPicPr>
          <p:cNvPr id="556" name="Google Shape;715;p57" descr="image.png"/>
          <p:cNvPicPr/>
          <p:nvPr/>
        </p:nvPicPr>
        <p:blipFill>
          <a:blip r:embed="rId3"/>
          <a:stretch/>
        </p:blipFill>
        <p:spPr>
          <a:xfrm>
            <a:off x="581040" y="1864800"/>
            <a:ext cx="5323680" cy="4285440"/>
          </a:xfrm>
          <a:prstGeom prst="rect">
            <a:avLst/>
          </a:prstGeom>
          <a:ln w="0">
            <a:noFill/>
          </a:ln>
        </p:spPr>
      </p:pic>
      <p:pic>
        <p:nvPicPr>
          <p:cNvPr id="557" name="Google Shape;716;p57" descr="image.png"/>
          <p:cNvPicPr/>
          <p:nvPr/>
        </p:nvPicPr>
        <p:blipFill>
          <a:blip r:embed="rId4"/>
          <a:stretch/>
        </p:blipFill>
        <p:spPr>
          <a:xfrm>
            <a:off x="9360" y="9360"/>
            <a:ext cx="12172320" cy="266040"/>
          </a:xfrm>
          <a:prstGeom prst="rect">
            <a:avLst/>
          </a:prstGeom>
          <a:ln w="0">
            <a:noFill/>
          </a:ln>
        </p:spPr>
      </p:pic>
      <p:pic>
        <p:nvPicPr>
          <p:cNvPr id="558" name="Google Shape;717;p57" descr="image.png"/>
          <p:cNvPicPr/>
          <p:nvPr/>
        </p:nvPicPr>
        <p:blipFill>
          <a:blip r:embed="rId4"/>
          <a:stretch/>
        </p:blipFill>
        <p:spPr>
          <a:xfrm>
            <a:off x="9360" y="6581880"/>
            <a:ext cx="12172320" cy="266040"/>
          </a:xfrm>
          <a:prstGeom prst="rect">
            <a:avLst/>
          </a:prstGeom>
          <a:ln w="0">
            <a:noFill/>
          </a:ln>
        </p:spPr>
      </p:pic>
      <p:sp>
        <p:nvSpPr>
          <p:cNvPr id="559" name="Google Shape;718;p57"/>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Stealth Technology</a:t>
            </a:r>
            <a:endParaRPr lang="en-NZ" sz="2400" b="0" strike="noStrike" spc="-1">
              <a:latin typeface="Arial"/>
            </a:endParaRPr>
          </a:p>
        </p:txBody>
      </p:sp>
      <p:sp>
        <p:nvSpPr>
          <p:cNvPr id="560" name="Google Shape;719;p57"/>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561" name="Google Shape;720;p57" descr="image.png"/>
          <p:cNvPicPr/>
          <p:nvPr/>
        </p:nvPicPr>
        <p:blipFill>
          <a:blip r:embed="rId5"/>
          <a:stretch/>
        </p:blipFill>
        <p:spPr>
          <a:xfrm>
            <a:off x="590400" y="1874160"/>
            <a:ext cx="5304600" cy="4266360"/>
          </a:xfrm>
          <a:prstGeom prst="rect">
            <a:avLst/>
          </a:prstGeom>
          <a:ln w="0">
            <a:noFill/>
          </a:ln>
        </p:spPr>
      </p:pic>
      <p:sp>
        <p:nvSpPr>
          <p:cNvPr id="562" name="Google Shape;721;p57"/>
          <p:cNvSpPr/>
          <p:nvPr/>
        </p:nvSpPr>
        <p:spPr>
          <a:xfrm>
            <a:off x="6286680" y="320292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Defeating Radar</a:t>
            </a:r>
            <a:endParaRPr lang="en-NZ" sz="1410" b="0" strike="noStrike" spc="-1">
              <a:latin typeface="Arial"/>
            </a:endParaRPr>
          </a:p>
        </p:txBody>
      </p:sp>
      <p:sp>
        <p:nvSpPr>
          <p:cNvPr id="563" name="Google Shape;722;p57"/>
          <p:cNvSpPr/>
          <p:nvPr/>
        </p:nvSpPr>
        <p:spPr>
          <a:xfrm>
            <a:off x="6477120" y="3600360"/>
            <a:ext cx="513324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Geometry:</a:t>
            </a:r>
            <a:r>
              <a:rPr lang="en-US" sz="1500" b="0" strike="noStrike" spc="-1">
                <a:solidFill>
                  <a:srgbClr val="CBD5E1"/>
                </a:solidFill>
                <a:latin typeface="Inter"/>
                <a:ea typeface="Inter"/>
              </a:rPr>
              <a:t> Flat, angled surfaces deflect the beam </a:t>
            </a:r>
            <a:r>
              <a:rPr lang="en-US" sz="1500" b="0" i="1" strike="noStrike" spc="-1">
                <a:solidFill>
                  <a:srgbClr val="CBD5E1"/>
                </a:solidFill>
                <a:latin typeface="Inter"/>
                <a:ea typeface="Inter"/>
              </a:rPr>
              <a:t>away</a:t>
            </a:r>
            <a:r>
              <a:rPr lang="en-US" sz="1500" b="0" strike="noStrike" spc="-1">
                <a:solidFill>
                  <a:srgbClr val="CBD5E1"/>
                </a:solidFill>
                <a:latin typeface="Inter"/>
                <a:ea typeface="Inter"/>
              </a:rPr>
              <a:t> from the receiver.</a:t>
            </a:r>
            <a:endParaRPr lang="en-NZ" sz="1500" b="0" strike="noStrike" spc="-1">
              <a:latin typeface="Arial"/>
            </a:endParaRPr>
          </a:p>
        </p:txBody>
      </p:sp>
      <p:sp>
        <p:nvSpPr>
          <p:cNvPr id="564" name="Google Shape;723;p57"/>
          <p:cNvSpPr/>
          <p:nvPr/>
        </p:nvSpPr>
        <p:spPr>
          <a:xfrm>
            <a:off x="6477120" y="4267080"/>
            <a:ext cx="513324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RAM:</a:t>
            </a:r>
            <a:r>
              <a:rPr lang="en-US" sz="1500" b="0" strike="noStrike" spc="-1">
                <a:solidFill>
                  <a:srgbClr val="CBD5E1"/>
                </a:solidFill>
                <a:latin typeface="Inter"/>
                <a:ea typeface="Inter"/>
              </a:rPr>
              <a:t> Radar Absorbent Material traps the energy as heat.</a:t>
            </a:r>
            <a:endParaRPr lang="en-NZ" sz="1500" b="0" strike="noStrike" spc="-1">
              <a:latin typeface="Arial"/>
            </a:endParaRPr>
          </a:p>
        </p:txBody>
      </p:sp>
      <p:sp>
        <p:nvSpPr>
          <p:cNvPr id="565" name="Google Shape;724;p57"/>
          <p:cNvSpPr/>
          <p:nvPr/>
        </p:nvSpPr>
        <p:spPr>
          <a:xfrm>
            <a:off x="6286680" y="360036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566" name="Google Shape;725;p57"/>
          <p:cNvSpPr/>
          <p:nvPr/>
        </p:nvSpPr>
        <p:spPr>
          <a:xfrm>
            <a:off x="6286680" y="426708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7" name="Google Shape;730;p58" descr="image.png"/>
          <p:cNvPicPr/>
          <p:nvPr/>
        </p:nvPicPr>
        <p:blipFill>
          <a:blip r:embed="rId2"/>
          <a:stretch/>
        </p:blipFill>
        <p:spPr>
          <a:xfrm>
            <a:off x="0" y="0"/>
            <a:ext cx="12191400" cy="6857280"/>
          </a:xfrm>
          <a:prstGeom prst="rect">
            <a:avLst/>
          </a:prstGeom>
          <a:ln w="0">
            <a:noFill/>
          </a:ln>
        </p:spPr>
      </p:pic>
      <p:pic>
        <p:nvPicPr>
          <p:cNvPr id="568" name="Google Shape;731;p58" descr="image.png"/>
          <p:cNvPicPr/>
          <p:nvPr/>
        </p:nvPicPr>
        <p:blipFill>
          <a:blip r:embed="rId3"/>
          <a:stretch/>
        </p:blipFill>
        <p:spPr>
          <a:xfrm>
            <a:off x="581040" y="2824560"/>
            <a:ext cx="11029320" cy="2365560"/>
          </a:xfrm>
          <a:prstGeom prst="rect">
            <a:avLst/>
          </a:prstGeom>
          <a:ln w="0">
            <a:noFill/>
          </a:ln>
        </p:spPr>
      </p:pic>
      <p:pic>
        <p:nvPicPr>
          <p:cNvPr id="569" name="Google Shape;732;p58" descr="image.png"/>
          <p:cNvPicPr/>
          <p:nvPr/>
        </p:nvPicPr>
        <p:blipFill>
          <a:blip r:embed="rId4"/>
          <a:stretch/>
        </p:blipFill>
        <p:spPr>
          <a:xfrm>
            <a:off x="9360" y="9360"/>
            <a:ext cx="12172320" cy="266040"/>
          </a:xfrm>
          <a:prstGeom prst="rect">
            <a:avLst/>
          </a:prstGeom>
          <a:ln w="0">
            <a:noFill/>
          </a:ln>
        </p:spPr>
      </p:pic>
      <p:pic>
        <p:nvPicPr>
          <p:cNvPr id="570" name="Google Shape;733;p58" descr="image.png"/>
          <p:cNvPicPr/>
          <p:nvPr/>
        </p:nvPicPr>
        <p:blipFill>
          <a:blip r:embed="rId4"/>
          <a:stretch/>
        </p:blipFill>
        <p:spPr>
          <a:xfrm>
            <a:off x="9360" y="6581880"/>
            <a:ext cx="12172320" cy="266040"/>
          </a:xfrm>
          <a:prstGeom prst="rect">
            <a:avLst/>
          </a:prstGeom>
          <a:ln w="0">
            <a:noFill/>
          </a:ln>
        </p:spPr>
      </p:pic>
      <p:sp>
        <p:nvSpPr>
          <p:cNvPr id="571" name="Google Shape;734;p58"/>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Counter-Stealth</a:t>
            </a:r>
            <a:endParaRPr lang="en-NZ" sz="2400" b="0" strike="noStrike" spc="-1">
              <a:latin typeface="Arial"/>
            </a:endParaRPr>
          </a:p>
        </p:txBody>
      </p:sp>
      <p:sp>
        <p:nvSpPr>
          <p:cNvPr id="572" name="Google Shape;735;p58"/>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573" name="Google Shape;736;p58"/>
          <p:cNvSpPr/>
          <p:nvPr/>
        </p:nvSpPr>
        <p:spPr>
          <a:xfrm>
            <a:off x="781200" y="3202920"/>
            <a:ext cx="1116072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Can Radar See Stealth?</a:t>
            </a:r>
            <a:endParaRPr lang="en-NZ" sz="1410" b="0" strike="noStrike" spc="-1">
              <a:latin typeface="Arial"/>
            </a:endParaRPr>
          </a:p>
        </p:txBody>
      </p:sp>
      <p:sp>
        <p:nvSpPr>
          <p:cNvPr id="574" name="Google Shape;737;p58"/>
          <p:cNvSpPr/>
          <p:nvPr/>
        </p:nvSpPr>
        <p:spPr>
          <a:xfrm>
            <a:off x="971640" y="3600360"/>
            <a:ext cx="104385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VHF Radar:</a:t>
            </a:r>
            <a:r>
              <a:rPr lang="en-US" sz="1500" b="0" strike="noStrike" spc="-1">
                <a:solidFill>
                  <a:srgbClr val="CBD5E1"/>
                </a:solidFill>
                <a:latin typeface="Inter"/>
                <a:ea typeface="Inter"/>
              </a:rPr>
              <a:t> Low frequency (long wavelength) radar can detect stealth aircraft due to resonance, but lacks accuracy to target them.</a:t>
            </a:r>
            <a:endParaRPr lang="en-NZ" sz="1500" b="0" strike="noStrike" spc="-1">
              <a:latin typeface="Arial"/>
            </a:endParaRPr>
          </a:p>
        </p:txBody>
      </p:sp>
      <p:sp>
        <p:nvSpPr>
          <p:cNvPr id="575" name="Google Shape;738;p58"/>
          <p:cNvSpPr/>
          <p:nvPr/>
        </p:nvSpPr>
        <p:spPr>
          <a:xfrm>
            <a:off x="971640" y="4267080"/>
            <a:ext cx="1043856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Bistatic Radar:</a:t>
            </a:r>
            <a:r>
              <a:rPr lang="en-US" sz="1500" b="0" strike="noStrike" spc="-1">
                <a:solidFill>
                  <a:srgbClr val="CBD5E1"/>
                </a:solidFill>
                <a:latin typeface="Inter"/>
                <a:ea typeface="Inter"/>
              </a:rPr>
              <a:t> Since stealth deflects energy away, a receiver placed far from the transmitter might catch the deflection.</a:t>
            </a:r>
            <a:endParaRPr lang="en-NZ" sz="1500" b="0" strike="noStrike" spc="-1">
              <a:latin typeface="Arial"/>
            </a:endParaRPr>
          </a:p>
        </p:txBody>
      </p:sp>
      <p:sp>
        <p:nvSpPr>
          <p:cNvPr id="576" name="Google Shape;739;p58"/>
          <p:cNvSpPr/>
          <p:nvPr/>
        </p:nvSpPr>
        <p:spPr>
          <a:xfrm>
            <a:off x="781200" y="360036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
        <p:nvSpPr>
          <p:cNvPr id="577" name="Google Shape;740;p58"/>
          <p:cNvSpPr/>
          <p:nvPr/>
        </p:nvSpPr>
        <p:spPr>
          <a:xfrm>
            <a:off x="781200" y="4267080"/>
            <a:ext cx="11376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38BDF8"/>
                </a:solidFill>
                <a:latin typeface="JetBrains Mono"/>
                <a:ea typeface="JetBrains Mono"/>
              </a:rPr>
              <a:t>&gt;</a:t>
            </a:r>
            <a:endParaRPr lang="en-NZ" sz="1500" b="0" strike="noStrike" spc="-1">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8" name="Google Shape;745;p59" descr="image.png"/>
          <p:cNvPicPr/>
          <p:nvPr/>
        </p:nvPicPr>
        <p:blipFill>
          <a:blip r:embed="rId2"/>
          <a:stretch/>
        </p:blipFill>
        <p:spPr>
          <a:xfrm>
            <a:off x="0" y="0"/>
            <a:ext cx="12191400" cy="6857280"/>
          </a:xfrm>
          <a:prstGeom prst="rect">
            <a:avLst/>
          </a:prstGeom>
          <a:ln w="0">
            <a:noFill/>
          </a:ln>
        </p:spPr>
      </p:pic>
      <p:pic>
        <p:nvPicPr>
          <p:cNvPr id="579" name="Google Shape;746;p59" descr="image.png"/>
          <p:cNvPicPr/>
          <p:nvPr/>
        </p:nvPicPr>
        <p:blipFill>
          <a:blip r:embed="rId3"/>
          <a:stretch/>
        </p:blipFill>
        <p:spPr>
          <a:xfrm>
            <a:off x="6286680" y="1864800"/>
            <a:ext cx="5323680" cy="4285440"/>
          </a:xfrm>
          <a:prstGeom prst="rect">
            <a:avLst/>
          </a:prstGeom>
          <a:ln w="0">
            <a:noFill/>
          </a:ln>
        </p:spPr>
      </p:pic>
      <p:pic>
        <p:nvPicPr>
          <p:cNvPr id="580" name="Google Shape;747;p59" descr="image.png"/>
          <p:cNvPicPr/>
          <p:nvPr/>
        </p:nvPicPr>
        <p:blipFill>
          <a:blip r:embed="rId4"/>
          <a:stretch/>
        </p:blipFill>
        <p:spPr>
          <a:xfrm>
            <a:off x="9360" y="9360"/>
            <a:ext cx="12172320" cy="266040"/>
          </a:xfrm>
          <a:prstGeom prst="rect">
            <a:avLst/>
          </a:prstGeom>
          <a:ln w="0">
            <a:noFill/>
          </a:ln>
        </p:spPr>
      </p:pic>
      <p:pic>
        <p:nvPicPr>
          <p:cNvPr id="581" name="Google Shape;748;p59" descr="image.png"/>
          <p:cNvPicPr/>
          <p:nvPr/>
        </p:nvPicPr>
        <p:blipFill>
          <a:blip r:embed="rId4"/>
          <a:stretch/>
        </p:blipFill>
        <p:spPr>
          <a:xfrm>
            <a:off x="9360" y="6581880"/>
            <a:ext cx="12172320" cy="266040"/>
          </a:xfrm>
          <a:prstGeom prst="rect">
            <a:avLst/>
          </a:prstGeom>
          <a:ln w="0">
            <a:noFill/>
          </a:ln>
        </p:spPr>
      </p:pic>
      <p:sp>
        <p:nvSpPr>
          <p:cNvPr id="582" name="Google Shape;749;p59"/>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Weather Radar (NEXRAD)</a:t>
            </a:r>
            <a:endParaRPr lang="en-NZ" sz="2400" b="0" strike="noStrike" spc="-1">
              <a:latin typeface="Arial"/>
            </a:endParaRPr>
          </a:p>
        </p:txBody>
      </p:sp>
      <p:sp>
        <p:nvSpPr>
          <p:cNvPr id="583" name="Google Shape;750;p59"/>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584" name="Google Shape;751;p59"/>
          <p:cNvSpPr/>
          <p:nvPr/>
        </p:nvSpPr>
        <p:spPr>
          <a:xfrm>
            <a:off x="58104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Seeing the Rain</a:t>
            </a:r>
            <a:endParaRPr lang="en-NZ" sz="1410" b="0" strike="noStrike" spc="-1">
              <a:latin typeface="Arial"/>
            </a:endParaRPr>
          </a:p>
        </p:txBody>
      </p:sp>
      <p:sp>
        <p:nvSpPr>
          <p:cNvPr id="585" name="Google Shape;752;p59"/>
          <p:cNvSpPr/>
          <p:nvPr/>
        </p:nvSpPr>
        <p:spPr>
          <a:xfrm>
            <a:off x="581040" y="353988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Weather radar detects water droplets. It uses Doppler to measure wind speed inside storms.</a:t>
            </a:r>
            <a:endParaRPr lang="en-NZ" sz="1500" b="0" strike="noStrike" spc="-1">
              <a:latin typeface="Arial"/>
            </a:endParaRPr>
          </a:p>
        </p:txBody>
      </p:sp>
      <p:sp>
        <p:nvSpPr>
          <p:cNvPr id="586" name="Google Shape;753;p59"/>
          <p:cNvSpPr/>
          <p:nvPr/>
        </p:nvSpPr>
        <p:spPr>
          <a:xfrm>
            <a:off x="581040" y="43016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1" strike="noStrike" spc="-1">
                <a:solidFill>
                  <a:srgbClr val="CBD5E1"/>
                </a:solidFill>
                <a:latin typeface="Inter"/>
                <a:ea typeface="Inter"/>
              </a:rPr>
              <a:t>The Hook Echo:</a:t>
            </a:r>
            <a:r>
              <a:rPr lang="en-US" sz="1500" b="0" strike="noStrike" spc="-1">
                <a:solidFill>
                  <a:srgbClr val="CBD5E1"/>
                </a:solidFill>
                <a:latin typeface="Inter"/>
                <a:ea typeface="Inter"/>
              </a:rPr>
              <a:t> A specific shape on the screen that indicates the rotation of a potential tornado.</a:t>
            </a:r>
            <a:endParaRPr lang="en-NZ" sz="1500" b="0" strike="noStrike" spc="-1">
              <a:latin typeface="Arial"/>
            </a:endParaRPr>
          </a:p>
        </p:txBody>
      </p:sp>
      <p:pic>
        <p:nvPicPr>
          <p:cNvPr id="587" name="Google Shape;754;p59"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8" name="Google Shape;759;p60" descr="image.png"/>
          <p:cNvPicPr/>
          <p:nvPr/>
        </p:nvPicPr>
        <p:blipFill>
          <a:blip r:embed="rId2"/>
          <a:stretch/>
        </p:blipFill>
        <p:spPr>
          <a:xfrm>
            <a:off x="0" y="0"/>
            <a:ext cx="12191400" cy="6857280"/>
          </a:xfrm>
          <a:prstGeom prst="rect">
            <a:avLst/>
          </a:prstGeom>
          <a:ln w="0">
            <a:noFill/>
          </a:ln>
        </p:spPr>
      </p:pic>
      <p:pic>
        <p:nvPicPr>
          <p:cNvPr id="589" name="Google Shape;760;p60" descr="image.png"/>
          <p:cNvPicPr/>
          <p:nvPr/>
        </p:nvPicPr>
        <p:blipFill>
          <a:blip r:embed="rId3"/>
          <a:stretch/>
        </p:blipFill>
        <p:spPr>
          <a:xfrm>
            <a:off x="581040" y="1864800"/>
            <a:ext cx="5323680" cy="4285440"/>
          </a:xfrm>
          <a:prstGeom prst="rect">
            <a:avLst/>
          </a:prstGeom>
          <a:ln w="0">
            <a:noFill/>
          </a:ln>
        </p:spPr>
      </p:pic>
      <p:pic>
        <p:nvPicPr>
          <p:cNvPr id="590" name="Google Shape;761;p60" descr="image.png"/>
          <p:cNvPicPr/>
          <p:nvPr/>
        </p:nvPicPr>
        <p:blipFill>
          <a:blip r:embed="rId4"/>
          <a:stretch/>
        </p:blipFill>
        <p:spPr>
          <a:xfrm>
            <a:off x="9360" y="9360"/>
            <a:ext cx="12172320" cy="266040"/>
          </a:xfrm>
          <a:prstGeom prst="rect">
            <a:avLst/>
          </a:prstGeom>
          <a:ln w="0">
            <a:noFill/>
          </a:ln>
        </p:spPr>
      </p:pic>
      <p:pic>
        <p:nvPicPr>
          <p:cNvPr id="591" name="Google Shape;762;p60" descr="image.png"/>
          <p:cNvPicPr/>
          <p:nvPr/>
        </p:nvPicPr>
        <p:blipFill>
          <a:blip r:embed="rId4"/>
          <a:stretch/>
        </p:blipFill>
        <p:spPr>
          <a:xfrm>
            <a:off x="9360" y="6581880"/>
            <a:ext cx="12172320" cy="266040"/>
          </a:xfrm>
          <a:prstGeom prst="rect">
            <a:avLst/>
          </a:prstGeom>
          <a:ln w="0">
            <a:noFill/>
          </a:ln>
        </p:spPr>
      </p:pic>
      <p:sp>
        <p:nvSpPr>
          <p:cNvPr id="592" name="Google Shape;763;p60"/>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Automotive Radar</a:t>
            </a:r>
            <a:endParaRPr lang="en-NZ" sz="2400" b="0" strike="noStrike" spc="-1">
              <a:latin typeface="Arial"/>
            </a:endParaRPr>
          </a:p>
        </p:txBody>
      </p:sp>
      <p:sp>
        <p:nvSpPr>
          <p:cNvPr id="593" name="Google Shape;764;p60"/>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pic>
        <p:nvPicPr>
          <p:cNvPr id="594" name="Google Shape;765;p60" descr="image.png"/>
          <p:cNvPicPr/>
          <p:nvPr/>
        </p:nvPicPr>
        <p:blipFill>
          <a:blip r:embed="rId5"/>
          <a:stretch/>
        </p:blipFill>
        <p:spPr>
          <a:xfrm>
            <a:off x="590400" y="1874160"/>
            <a:ext cx="5304600" cy="4266360"/>
          </a:xfrm>
          <a:prstGeom prst="rect">
            <a:avLst/>
          </a:prstGeom>
          <a:ln w="0">
            <a:noFill/>
          </a:ln>
        </p:spPr>
      </p:pic>
      <p:sp>
        <p:nvSpPr>
          <p:cNvPr id="595" name="Google Shape;766;p60"/>
          <p:cNvSpPr/>
          <p:nvPr/>
        </p:nvSpPr>
        <p:spPr>
          <a:xfrm>
            <a:off x="6286680" y="313020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Safety Sensors</a:t>
            </a:r>
            <a:endParaRPr lang="en-NZ" sz="1410" b="0" strike="noStrike" spc="-1">
              <a:latin typeface="Arial"/>
            </a:endParaRPr>
          </a:p>
        </p:txBody>
      </p:sp>
      <p:sp>
        <p:nvSpPr>
          <p:cNvPr id="596" name="Google Shape;767;p60"/>
          <p:cNvSpPr/>
          <p:nvPr/>
        </p:nvSpPr>
        <p:spPr>
          <a:xfrm>
            <a:off x="6286680" y="353988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Used for Adaptive Cruise Control and Emergency Braking.</a:t>
            </a:r>
            <a:endParaRPr lang="en-NZ" sz="1500" b="0" strike="noStrike" spc="-1">
              <a:latin typeface="Arial"/>
            </a:endParaRPr>
          </a:p>
        </p:txBody>
      </p:sp>
      <p:sp>
        <p:nvSpPr>
          <p:cNvPr id="597" name="Google Shape;768;p60"/>
          <p:cNvSpPr/>
          <p:nvPr/>
        </p:nvSpPr>
        <p:spPr>
          <a:xfrm>
            <a:off x="6286680" y="4015800"/>
            <a:ext cx="5323680" cy="102672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Uses </a:t>
            </a:r>
            <a:r>
              <a:rPr lang="en-US" sz="1500" b="1" strike="noStrike" spc="-1">
                <a:solidFill>
                  <a:srgbClr val="CBD5E1"/>
                </a:solidFill>
                <a:latin typeface="Inter"/>
                <a:ea typeface="Inter"/>
              </a:rPr>
              <a:t>FMCW</a:t>
            </a:r>
            <a:r>
              <a:rPr lang="en-US" sz="1500" b="0" strike="noStrike" spc="-1">
                <a:solidFill>
                  <a:srgbClr val="CBD5E1"/>
                </a:solidFill>
                <a:latin typeface="Inter"/>
                <a:ea typeface="Inter"/>
              </a:rPr>
              <a:t> (Frequency Modulated Continuous Wave) rather than pulses, allowing for very short-range detection.</a:t>
            </a:r>
            <a:endParaRPr lang="en-NZ" sz="15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98" name="Google Shape;773;p61" descr="image.png"/>
          <p:cNvPicPr/>
          <p:nvPr/>
        </p:nvPicPr>
        <p:blipFill>
          <a:blip r:embed="rId2"/>
          <a:stretch/>
        </p:blipFill>
        <p:spPr>
          <a:xfrm>
            <a:off x="0" y="0"/>
            <a:ext cx="12191400" cy="6857280"/>
          </a:xfrm>
          <a:prstGeom prst="rect">
            <a:avLst/>
          </a:prstGeom>
          <a:ln w="0">
            <a:noFill/>
          </a:ln>
        </p:spPr>
      </p:pic>
      <p:pic>
        <p:nvPicPr>
          <p:cNvPr id="599" name="Google Shape;774;p61" descr="image.png"/>
          <p:cNvPicPr/>
          <p:nvPr/>
        </p:nvPicPr>
        <p:blipFill>
          <a:blip r:embed="rId3"/>
          <a:stretch/>
        </p:blipFill>
        <p:spPr>
          <a:xfrm>
            <a:off x="6286680" y="1864800"/>
            <a:ext cx="5323680" cy="4285440"/>
          </a:xfrm>
          <a:prstGeom prst="rect">
            <a:avLst/>
          </a:prstGeom>
          <a:ln w="0">
            <a:noFill/>
          </a:ln>
        </p:spPr>
      </p:pic>
      <p:pic>
        <p:nvPicPr>
          <p:cNvPr id="600" name="Google Shape;775;p61" descr="image.png"/>
          <p:cNvPicPr/>
          <p:nvPr/>
        </p:nvPicPr>
        <p:blipFill>
          <a:blip r:embed="rId4"/>
          <a:stretch/>
        </p:blipFill>
        <p:spPr>
          <a:xfrm>
            <a:off x="9360" y="9360"/>
            <a:ext cx="12172320" cy="266040"/>
          </a:xfrm>
          <a:prstGeom prst="rect">
            <a:avLst/>
          </a:prstGeom>
          <a:ln w="0">
            <a:noFill/>
          </a:ln>
        </p:spPr>
      </p:pic>
      <p:pic>
        <p:nvPicPr>
          <p:cNvPr id="601" name="Google Shape;776;p61" descr="image.png"/>
          <p:cNvPicPr/>
          <p:nvPr/>
        </p:nvPicPr>
        <p:blipFill>
          <a:blip r:embed="rId4"/>
          <a:stretch/>
        </p:blipFill>
        <p:spPr>
          <a:xfrm>
            <a:off x="9360" y="6581880"/>
            <a:ext cx="12172320" cy="266040"/>
          </a:xfrm>
          <a:prstGeom prst="rect">
            <a:avLst/>
          </a:prstGeom>
          <a:ln w="0">
            <a:noFill/>
          </a:ln>
        </p:spPr>
      </p:pic>
      <p:sp>
        <p:nvSpPr>
          <p:cNvPr id="602" name="Google Shape;777;p61"/>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Ground Penetrating Radar (GPR)</a:t>
            </a:r>
            <a:endParaRPr lang="en-NZ" sz="2400" b="0" strike="noStrike" spc="-1">
              <a:latin typeface="Arial"/>
            </a:endParaRPr>
          </a:p>
        </p:txBody>
      </p:sp>
      <p:sp>
        <p:nvSpPr>
          <p:cNvPr id="603" name="Google Shape;778;p61"/>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604" name="Google Shape;779;p61"/>
          <p:cNvSpPr/>
          <p:nvPr/>
        </p:nvSpPr>
        <p:spPr>
          <a:xfrm>
            <a:off x="581040" y="3273120"/>
            <a:ext cx="559008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Looking Underground</a:t>
            </a:r>
            <a:endParaRPr lang="en-NZ" sz="1410" b="0" strike="noStrike" spc="-1">
              <a:latin typeface="Arial"/>
            </a:endParaRPr>
          </a:p>
        </p:txBody>
      </p:sp>
      <p:sp>
        <p:nvSpPr>
          <p:cNvPr id="605" name="Google Shape;780;p61"/>
          <p:cNvSpPr/>
          <p:nvPr/>
        </p:nvSpPr>
        <p:spPr>
          <a:xfrm>
            <a:off x="581040" y="3682440"/>
            <a:ext cx="532368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GPR fires pulses into the soil. It maps reflections from buried pipes, utility lines, and archaeological ruins.</a:t>
            </a:r>
            <a:endParaRPr lang="en-NZ" sz="1500" b="0" strike="noStrike" spc="-1">
              <a:latin typeface="Arial"/>
            </a:endParaRPr>
          </a:p>
        </p:txBody>
      </p:sp>
      <p:sp>
        <p:nvSpPr>
          <p:cNvPr id="606" name="Google Shape;781;p61"/>
          <p:cNvSpPr/>
          <p:nvPr/>
        </p:nvSpPr>
        <p:spPr>
          <a:xfrm>
            <a:off x="581040" y="4444560"/>
            <a:ext cx="532368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Different soil types affect how deep it can see.</a:t>
            </a:r>
            <a:endParaRPr lang="en-NZ" sz="1500" b="0" strike="noStrike" spc="-1">
              <a:latin typeface="Arial"/>
            </a:endParaRPr>
          </a:p>
        </p:txBody>
      </p:sp>
      <p:pic>
        <p:nvPicPr>
          <p:cNvPr id="607" name="Google Shape;782;p61" descr="image.png"/>
          <p:cNvPicPr/>
          <p:nvPr/>
        </p:nvPicPr>
        <p:blipFill>
          <a:blip r:embed="rId5"/>
          <a:stretch/>
        </p:blipFill>
        <p:spPr>
          <a:xfrm>
            <a:off x="6296040" y="1874160"/>
            <a:ext cx="5304600" cy="4266360"/>
          </a:xfrm>
          <a:prstGeom prst="rect">
            <a:avLst/>
          </a:prstGeom>
          <a:ln w="0">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8" name="Google Shape;787;p62" descr="image.png"/>
          <p:cNvPicPr/>
          <p:nvPr/>
        </p:nvPicPr>
        <p:blipFill>
          <a:blip r:embed="rId2"/>
          <a:stretch/>
        </p:blipFill>
        <p:spPr>
          <a:xfrm>
            <a:off x="0" y="0"/>
            <a:ext cx="12191400" cy="6857280"/>
          </a:xfrm>
          <a:prstGeom prst="rect">
            <a:avLst/>
          </a:prstGeom>
          <a:ln w="0">
            <a:noFill/>
          </a:ln>
        </p:spPr>
      </p:pic>
      <p:pic>
        <p:nvPicPr>
          <p:cNvPr id="609" name="Google Shape;788;p62" descr="image.png"/>
          <p:cNvPicPr/>
          <p:nvPr/>
        </p:nvPicPr>
        <p:blipFill>
          <a:blip r:embed="rId3"/>
          <a:stretch/>
        </p:blipFill>
        <p:spPr>
          <a:xfrm>
            <a:off x="581040" y="2743560"/>
            <a:ext cx="3548880" cy="1749240"/>
          </a:xfrm>
          <a:prstGeom prst="rect">
            <a:avLst/>
          </a:prstGeom>
          <a:ln w="0">
            <a:noFill/>
          </a:ln>
        </p:spPr>
      </p:pic>
      <p:pic>
        <p:nvPicPr>
          <p:cNvPr id="610" name="Google Shape;789;p62" descr="image.png"/>
          <p:cNvPicPr/>
          <p:nvPr/>
        </p:nvPicPr>
        <p:blipFill>
          <a:blip r:embed="rId4"/>
          <a:stretch/>
        </p:blipFill>
        <p:spPr>
          <a:xfrm>
            <a:off x="4321080" y="2743560"/>
            <a:ext cx="3548880" cy="1749240"/>
          </a:xfrm>
          <a:prstGeom prst="rect">
            <a:avLst/>
          </a:prstGeom>
          <a:ln w="0">
            <a:noFill/>
          </a:ln>
        </p:spPr>
      </p:pic>
      <p:pic>
        <p:nvPicPr>
          <p:cNvPr id="611" name="Google Shape;790;p62" descr="image.png"/>
          <p:cNvPicPr/>
          <p:nvPr/>
        </p:nvPicPr>
        <p:blipFill>
          <a:blip r:embed="rId5"/>
          <a:stretch/>
        </p:blipFill>
        <p:spPr>
          <a:xfrm>
            <a:off x="8061120" y="2743560"/>
            <a:ext cx="3548880" cy="1749240"/>
          </a:xfrm>
          <a:prstGeom prst="rect">
            <a:avLst/>
          </a:prstGeom>
          <a:ln w="0">
            <a:noFill/>
          </a:ln>
        </p:spPr>
      </p:pic>
      <p:pic>
        <p:nvPicPr>
          <p:cNvPr id="612" name="Google Shape;791;p62" descr="image.png"/>
          <p:cNvPicPr/>
          <p:nvPr/>
        </p:nvPicPr>
        <p:blipFill>
          <a:blip r:embed="rId6"/>
          <a:stretch/>
        </p:blipFill>
        <p:spPr>
          <a:xfrm>
            <a:off x="9360" y="9360"/>
            <a:ext cx="12172320" cy="266040"/>
          </a:xfrm>
          <a:prstGeom prst="rect">
            <a:avLst/>
          </a:prstGeom>
          <a:ln w="0">
            <a:noFill/>
          </a:ln>
        </p:spPr>
      </p:pic>
      <p:pic>
        <p:nvPicPr>
          <p:cNvPr id="613" name="Google Shape;792;p62" descr="image.png"/>
          <p:cNvPicPr/>
          <p:nvPr/>
        </p:nvPicPr>
        <p:blipFill>
          <a:blip r:embed="rId6"/>
          <a:stretch/>
        </p:blipFill>
        <p:spPr>
          <a:xfrm>
            <a:off x="9360" y="6581880"/>
            <a:ext cx="12172320" cy="266040"/>
          </a:xfrm>
          <a:prstGeom prst="rect">
            <a:avLst/>
          </a:prstGeom>
          <a:ln w="0">
            <a:noFill/>
          </a:ln>
        </p:spPr>
      </p:pic>
      <p:sp>
        <p:nvSpPr>
          <p:cNvPr id="614" name="Google Shape;793;p62"/>
          <p:cNvSpPr/>
          <p:nvPr/>
        </p:nvSpPr>
        <p:spPr>
          <a:xfrm>
            <a:off x="581040" y="960120"/>
            <a:ext cx="1158084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nSpc>
                <a:spcPct val="100000"/>
              </a:lnSpc>
              <a:tabLst>
                <a:tab pos="0" algn="l"/>
              </a:tabLst>
            </a:pPr>
            <a:r>
              <a:rPr lang="en-US" sz="2400" b="1" strike="noStrike" spc="-1">
                <a:solidFill>
                  <a:srgbClr val="38BDF8"/>
                </a:solidFill>
                <a:latin typeface="JetBrains Mono"/>
                <a:ea typeface="JetBrains Mono"/>
              </a:rPr>
              <a:t>Final Summary</a:t>
            </a:r>
            <a:endParaRPr lang="en-NZ" sz="2400" b="0" strike="noStrike" spc="-1">
              <a:latin typeface="Arial"/>
            </a:endParaRPr>
          </a:p>
        </p:txBody>
      </p:sp>
      <p:sp>
        <p:nvSpPr>
          <p:cNvPr id="615" name="Google Shape;794;p62"/>
          <p:cNvSpPr/>
          <p:nvPr/>
        </p:nvSpPr>
        <p:spPr>
          <a:xfrm>
            <a:off x="581040" y="1433880"/>
            <a:ext cx="11029320" cy="18360"/>
          </a:xfrm>
          <a:prstGeom prst="rect">
            <a:avLst/>
          </a:prstGeom>
          <a:solidFill>
            <a:srgbClr val="1E293B"/>
          </a:solidFill>
          <a:ln w="0">
            <a:noFill/>
          </a:ln>
        </p:spPr>
        <p:style>
          <a:lnRef idx="0">
            <a:scrgbClr r="0" g="0" b="0"/>
          </a:lnRef>
          <a:fillRef idx="0">
            <a:scrgbClr r="0" g="0" b="0"/>
          </a:fillRef>
          <a:effectRef idx="0">
            <a:scrgbClr r="0" g="0" b="0"/>
          </a:effectRef>
          <a:fontRef idx="minor"/>
        </p:style>
        <p:txBody>
          <a:bodyPr/>
          <a:lstStyle/>
          <a:p>
            <a:endParaRPr lang="en-US"/>
          </a:p>
        </p:txBody>
      </p:sp>
      <p:sp>
        <p:nvSpPr>
          <p:cNvPr id="616" name="Google Shape;795;p62"/>
          <p:cNvSpPr/>
          <p:nvPr/>
        </p:nvSpPr>
        <p:spPr>
          <a:xfrm>
            <a:off x="305280" y="4874400"/>
            <a:ext cx="115808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gn="ctr">
              <a:lnSpc>
                <a:spcPct val="100000"/>
              </a:lnSpc>
              <a:tabLst>
                <a:tab pos="0" algn="l"/>
              </a:tabLst>
            </a:pPr>
            <a:r>
              <a:rPr lang="en-US" sz="1410" b="1" strike="noStrike" spc="-1">
                <a:solidFill>
                  <a:srgbClr val="38BDF8"/>
                </a:solidFill>
                <a:latin typeface="Inter"/>
                <a:ea typeface="Inter"/>
              </a:rPr>
              <a:t>QUESTIONS?</a:t>
            </a:r>
            <a:endParaRPr lang="en-NZ" sz="1410" b="0" strike="noStrike" spc="-1">
              <a:latin typeface="Arial"/>
            </a:endParaRPr>
          </a:p>
        </p:txBody>
      </p:sp>
      <p:sp>
        <p:nvSpPr>
          <p:cNvPr id="617" name="Google Shape;796;p62"/>
          <p:cNvSpPr/>
          <p:nvPr/>
        </p:nvSpPr>
        <p:spPr>
          <a:xfrm>
            <a:off x="781200" y="312192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Heritage</a:t>
            </a:r>
            <a:endParaRPr lang="en-NZ" sz="1410" b="0" strike="noStrike" spc="-1">
              <a:latin typeface="Arial"/>
            </a:endParaRPr>
          </a:p>
        </p:txBody>
      </p:sp>
      <p:sp>
        <p:nvSpPr>
          <p:cNvPr id="618" name="Google Shape;797;p62"/>
          <p:cNvSpPr/>
          <p:nvPr/>
        </p:nvSpPr>
        <p:spPr>
          <a:xfrm>
            <a:off x="781200" y="3531600"/>
            <a:ext cx="3148920" cy="3420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From acoustic mirrors to AESA.</a:t>
            </a:r>
            <a:endParaRPr lang="en-NZ" sz="1500" b="0" strike="noStrike" spc="-1">
              <a:latin typeface="Arial"/>
            </a:endParaRPr>
          </a:p>
        </p:txBody>
      </p:sp>
      <p:sp>
        <p:nvSpPr>
          <p:cNvPr id="619" name="Google Shape;798;p62"/>
          <p:cNvSpPr/>
          <p:nvPr/>
        </p:nvSpPr>
        <p:spPr>
          <a:xfrm>
            <a:off x="4521240" y="312192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Physics</a:t>
            </a:r>
            <a:endParaRPr lang="en-NZ" sz="1410" b="0" strike="noStrike" spc="-1">
              <a:latin typeface="Arial"/>
            </a:endParaRPr>
          </a:p>
        </p:txBody>
      </p:sp>
      <p:sp>
        <p:nvSpPr>
          <p:cNvPr id="620" name="Google Shape;799;p62"/>
          <p:cNvSpPr/>
          <p:nvPr/>
        </p:nvSpPr>
        <p:spPr>
          <a:xfrm>
            <a:off x="4521240" y="353160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Echoes, Doppler, and resolution limits.</a:t>
            </a:r>
            <a:endParaRPr lang="en-NZ" sz="1500" b="0" strike="noStrike" spc="-1">
              <a:latin typeface="Arial"/>
            </a:endParaRPr>
          </a:p>
        </p:txBody>
      </p:sp>
      <p:sp>
        <p:nvSpPr>
          <p:cNvPr id="621" name="Google Shape;800;p62"/>
          <p:cNvSpPr/>
          <p:nvPr/>
        </p:nvSpPr>
        <p:spPr>
          <a:xfrm>
            <a:off x="8261280" y="3121920"/>
            <a:ext cx="330624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00000"/>
              </a:lnSpc>
              <a:tabLst>
                <a:tab pos="0" algn="l"/>
              </a:tabLst>
            </a:pPr>
            <a:r>
              <a:rPr lang="en-US" sz="1410" b="1" strike="noStrike" spc="-1">
                <a:solidFill>
                  <a:srgbClr val="E2E8F0"/>
                </a:solidFill>
                <a:latin typeface="Inter"/>
                <a:ea typeface="Inter"/>
              </a:rPr>
              <a:t>Future</a:t>
            </a:r>
            <a:endParaRPr lang="en-NZ" sz="1410" b="0" strike="noStrike" spc="-1">
              <a:latin typeface="Arial"/>
            </a:endParaRPr>
          </a:p>
        </p:txBody>
      </p:sp>
      <p:sp>
        <p:nvSpPr>
          <p:cNvPr id="622" name="Google Shape;801;p62"/>
          <p:cNvSpPr/>
          <p:nvPr/>
        </p:nvSpPr>
        <p:spPr>
          <a:xfrm>
            <a:off x="8261280" y="3531600"/>
            <a:ext cx="3148920" cy="684360"/>
          </a:xfrm>
          <a:prstGeom prst="rect">
            <a:avLst/>
          </a:prstGeom>
          <a:noFill/>
          <a:ln w="0">
            <a:noFill/>
          </a:ln>
        </p:spPr>
        <p:style>
          <a:lnRef idx="0">
            <a:scrgbClr r="0" g="0" b="0"/>
          </a:lnRef>
          <a:fillRef idx="0">
            <a:scrgbClr r="0" g="0" b="0"/>
          </a:fillRef>
          <a:effectRef idx="0">
            <a:scrgbClr r="0" g="0" b="0"/>
          </a:effectRef>
          <a:fontRef idx="minor"/>
        </p:style>
        <p:txBody>
          <a:bodyPr lIns="0" tIns="0" rIns="0" bIns="0">
            <a:spAutoFit/>
          </a:bodyPr>
          <a:lstStyle/>
          <a:p>
            <a:pPr>
              <a:lnSpc>
                <a:spcPct val="150000"/>
              </a:lnSpc>
              <a:tabLst>
                <a:tab pos="0" algn="l"/>
              </a:tabLst>
            </a:pPr>
            <a:r>
              <a:rPr lang="en-US" sz="1500" b="0" strike="noStrike" spc="-1">
                <a:solidFill>
                  <a:srgbClr val="CBD5E1"/>
                </a:solidFill>
                <a:latin typeface="Inter"/>
                <a:ea typeface="Inter"/>
              </a:rPr>
              <a:t>Cognitive radar and AI integration.</a:t>
            </a:r>
            <a:endParaRPr lang="en-NZ" sz="15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191</TotalTime>
  <Words>2908</Words>
  <Application>Microsoft Macintosh PowerPoint</Application>
  <PresentationFormat>Widescreen</PresentationFormat>
  <Paragraphs>276</Paragraphs>
  <Slides>53</Slides>
  <Notes>1</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53</vt:i4>
      </vt:variant>
    </vt:vector>
  </HeadingPairs>
  <TitlesOfParts>
    <vt:vector size="62" baseType="lpstr">
      <vt:lpstr>Arial</vt:lpstr>
      <vt:lpstr>Inter</vt:lpstr>
      <vt:lpstr>IrisUPC</vt:lpstr>
      <vt:lpstr>JetBrains Mono</vt:lpstr>
      <vt:lpstr>Symbol</vt:lpstr>
      <vt:lpstr>Times New Roman</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Alexandra Soudlenkova</cp:lastModifiedBy>
  <cp:revision>8</cp:revision>
  <dcterms:modified xsi:type="dcterms:W3CDTF">2025-12-01T05:46:55Z</dcterms:modified>
  <dc:language>en-NZ</dc:language>
</cp:coreProperties>
</file>