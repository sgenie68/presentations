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notesSlide3.xml" ContentType="application/vnd.openxmlformats-officedocument.presentationml.notesSlide+xml"/>
  <Override PartName="/ppt/notesSlides/_rels/notesSlide3.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media/image57.png" ContentType="image/png"/>
  <Override PartName="/ppt/media/image1.png" ContentType="image/png"/>
  <Override PartName="/ppt/media/image58.png" ContentType="image/png"/>
  <Override PartName="/ppt/media/image130.png" ContentType="image/png"/>
  <Override PartName="/ppt/media/image2.png" ContentType="image/png"/>
  <Override PartName="/ppt/media/image59.png" ContentType="image/png"/>
  <Override PartName="/ppt/media/image131.png" ContentType="image/png"/>
  <Override PartName="/ppt/media/image3.png" ContentType="image/png"/>
  <Override PartName="/ppt/media/image70.png" ContentType="image/png"/>
  <Override PartName="/ppt/media/image4.png" ContentType="image/png"/>
  <Override PartName="/ppt/media/image71.png" ContentType="image/png"/>
  <Override PartName="/ppt/media/image5.png" ContentType="image/png"/>
  <Override PartName="/ppt/media/image72.png" ContentType="image/png"/>
  <Override PartName="/ppt/media/image6.png" ContentType="image/png"/>
  <Override PartName="/ppt/media/image73.png" ContentType="image/png"/>
  <Override PartName="/ppt/media/image7.png" ContentType="image/png"/>
  <Override PartName="/ppt/media/image74.png" ContentType="image/png"/>
  <Override PartName="/ppt/media/image8.png" ContentType="image/png"/>
  <Override PartName="/ppt/media/image75.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100.png" ContentType="image/png"/>
  <Override PartName="/ppt/media/image28.png" ContentType="image/png"/>
  <Override PartName="/ppt/media/image101.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6.png" ContentType="image/png"/>
  <Override PartName="/ppt/media/image37.png" ContentType="image/png"/>
  <Override PartName="/ppt/media/image110.png" ContentType="image/png"/>
  <Override PartName="/ppt/media/image38.png" ContentType="image/png"/>
  <Override PartName="/ppt/media/image111.png" ContentType="image/png"/>
  <Override PartName="/ppt/media/image39.png" ContentType="image/png"/>
  <Override PartName="/ppt/media/image40.png" ContentType="image/png"/>
  <Override PartName="/ppt/media/image41.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7.png" ContentType="image/png"/>
  <Override PartName="/ppt/media/image120.png" ContentType="image/png"/>
  <Override PartName="/ppt/media/image48.png" ContentType="image/png"/>
  <Override PartName="/ppt/media/image49.png" ContentType="image/png"/>
  <Override PartName="/ppt/media/image121.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5.png" ContentType="image/png"/>
  <Override PartName="/ppt/media/image56.png" ContentType="image/png"/>
  <Override PartName="/ppt/media/image60.png" ContentType="image/png"/>
  <Override PartName="/ppt/media/image61.png" ContentType="image/png"/>
  <Override PartName="/ppt/media/image62.png" ContentType="image/png"/>
  <Override PartName="/ppt/media/image63.png" ContentType="image/png"/>
  <Override PartName="/ppt/media/image64.png" ContentType="image/png"/>
  <Override PartName="/ppt/media/image65.png" ContentType="image/png"/>
  <Override PartName="/ppt/media/image66.png" ContentType="image/png"/>
  <Override PartName="/ppt/media/image67.png" ContentType="image/png"/>
  <Override PartName="/ppt/media/image68.png" ContentType="image/png"/>
  <Override PartName="/ppt/media/image140.png" ContentType="image/png"/>
  <Override PartName="/ppt/media/image69.png" ContentType="image/png"/>
  <Override PartName="/ppt/media/image141.png" ContentType="image/png"/>
  <Override PartName="/ppt/media/image76.png" ContentType="image/png"/>
  <Override PartName="/ppt/media/image77.png" ContentType="image/png"/>
  <Override PartName="/ppt/media/image78.png" ContentType="image/png"/>
  <Override PartName="/ppt/media/image150.png" ContentType="image/png"/>
  <Override PartName="/ppt/media/image79.png" ContentType="image/png"/>
  <Override PartName="/ppt/media/image151.png" ContentType="image/png"/>
  <Override PartName="/ppt/media/image80.png" ContentType="image/png"/>
  <Override PartName="/ppt/media/image81.png" ContentType="image/png"/>
  <Override PartName="/ppt/media/image82.png" ContentType="image/png"/>
  <Override PartName="/ppt/media/image83.png" ContentType="image/png"/>
  <Override PartName="/ppt/media/image84.png" ContentType="image/png"/>
  <Override PartName="/ppt/media/image85.png" ContentType="image/png"/>
  <Override PartName="/ppt/media/image86.png" ContentType="image/png"/>
  <Override PartName="/ppt/media/image87.png" ContentType="image/png"/>
  <Override PartName="/ppt/media/image88.png" ContentType="image/png"/>
  <Override PartName="/ppt/media/image160.png" ContentType="image/png"/>
  <Override PartName="/ppt/media/image89.png" ContentType="image/png"/>
  <Override PartName="/ppt/media/image161.png" ContentType="image/png"/>
  <Override PartName="/ppt/media/image90.png" ContentType="image/png"/>
  <Override PartName="/ppt/media/image91.png" ContentType="image/png"/>
  <Override PartName="/ppt/media/image92.png" ContentType="image/png"/>
  <Override PartName="/ppt/media/image93.png" ContentType="image/png"/>
  <Override PartName="/ppt/media/image94.png" ContentType="image/png"/>
  <Override PartName="/ppt/media/image95.png" ContentType="image/png"/>
  <Override PartName="/ppt/media/image96.png" ContentType="image/png"/>
  <Override PartName="/ppt/media/image97.png" ContentType="image/png"/>
  <Override PartName="/ppt/media/image98.png" ContentType="image/png"/>
  <Override PartName="/ppt/media/image170.png" ContentType="image/png"/>
  <Override PartName="/ppt/media/image99.png" ContentType="image/png"/>
  <Override PartName="/ppt/media/image171.png" ContentType="image/png"/>
  <Override PartName="/ppt/media/image102.png" ContentType="image/png"/>
  <Override PartName="/ppt/media/image103.png" ContentType="image/png"/>
  <Override PartName="/ppt/media/image104.png" ContentType="image/png"/>
  <Override PartName="/ppt/media/image105.png" ContentType="image/png"/>
  <Override PartName="/ppt/media/image106.png" ContentType="image/png"/>
  <Override PartName="/ppt/media/image107.png" ContentType="image/png"/>
  <Override PartName="/ppt/media/image108.png" ContentType="image/png"/>
  <Override PartName="/ppt/media/image109.png" ContentType="image/png"/>
  <Override PartName="/ppt/media/image112.png" ContentType="image/png"/>
  <Override PartName="/ppt/media/image113.png" ContentType="image/png"/>
  <Override PartName="/ppt/media/image114.png" ContentType="image/png"/>
  <Override PartName="/ppt/media/image115.png" ContentType="image/png"/>
  <Override PartName="/ppt/media/image116.png" ContentType="image/png"/>
  <Override PartName="/ppt/media/image117.png" ContentType="image/png"/>
  <Override PartName="/ppt/media/image118.png" ContentType="image/png"/>
  <Override PartName="/ppt/media/image119.png" ContentType="image/png"/>
  <Override PartName="/ppt/media/image122.png" ContentType="image/png"/>
  <Override PartName="/ppt/media/image123.png" ContentType="image/png"/>
  <Override PartName="/ppt/media/image124.png" ContentType="image/png"/>
  <Override PartName="/ppt/media/image125.png" ContentType="image/png"/>
  <Override PartName="/ppt/media/image126.png" ContentType="image/png"/>
  <Override PartName="/ppt/media/image127.png" ContentType="image/png"/>
  <Override PartName="/ppt/media/image128.png" ContentType="image/png"/>
  <Override PartName="/ppt/media/image129.png" ContentType="image/png"/>
  <Override PartName="/ppt/media/image132.png" ContentType="image/png"/>
  <Override PartName="/ppt/media/image133.png" ContentType="image/png"/>
  <Override PartName="/ppt/media/image134.png" ContentType="image/png"/>
  <Override PartName="/ppt/media/image135.png" ContentType="image/png"/>
  <Override PartName="/ppt/media/image136.png" ContentType="image/png"/>
  <Override PartName="/ppt/media/image137.png" ContentType="image/png"/>
  <Override PartName="/ppt/media/image138.png" ContentType="image/png"/>
  <Override PartName="/ppt/media/image139.png" ContentType="image/png"/>
  <Override PartName="/ppt/media/image142.png" ContentType="image/png"/>
  <Override PartName="/ppt/media/image143.png" ContentType="image/png"/>
  <Override PartName="/ppt/media/image144.png" ContentType="image/png"/>
  <Override PartName="/ppt/media/image145.png" ContentType="image/png"/>
  <Override PartName="/ppt/media/image146.png" ContentType="image/png"/>
  <Override PartName="/ppt/media/image147.png" ContentType="image/png"/>
  <Override PartName="/ppt/media/image148.png" ContentType="image/png"/>
  <Override PartName="/ppt/media/image149.png" ContentType="image/png"/>
  <Override PartName="/ppt/media/image152.png" ContentType="image/png"/>
  <Override PartName="/ppt/media/image153.png" ContentType="image/png"/>
  <Override PartName="/ppt/media/image154.png" ContentType="image/png"/>
  <Override PartName="/ppt/media/image155.png" ContentType="image/png"/>
  <Override PartName="/ppt/media/image156.png" ContentType="image/png"/>
  <Override PartName="/ppt/media/image157.png" ContentType="image/png"/>
  <Override PartName="/ppt/media/image158.png" ContentType="image/png"/>
  <Override PartName="/ppt/media/image159.png" ContentType="image/png"/>
  <Override PartName="/ppt/media/image162.png" ContentType="image/png"/>
  <Override PartName="/ppt/media/image163.png" ContentType="image/png"/>
  <Override PartName="/ppt/media/image164.png" ContentType="image/png"/>
  <Override PartName="/ppt/media/image165.png" ContentType="image/png"/>
  <Override PartName="/ppt/media/image166.png" ContentType="image/png"/>
  <Override PartName="/ppt/media/image167.png" ContentType="image/png"/>
  <Override PartName="/ppt/media/image168.png" ContentType="image/png"/>
  <Override PartName="/ppt/media/image169.png" ContentType="image/png"/>
  <Override PartName="/ppt/media/image172.png" ContentType="image/png"/>
  <Override PartName="/ppt/media/image173.png" ContentType="image/png"/>
  <Override PartName="/ppt/media/image174.png" ContentType="image/png"/>
  <Override PartName="/ppt/media/image175.png" ContentType="image/png"/>
  <Override PartName="/ppt/media/image176.png" ContentType="image/png"/>
  <Override PartName="/ppt/media/image177.png" ContentType="image/png"/>
  <Override PartName="/ppt/media/image178.png" ContentType="image/png"/>
  <Override PartName="/ppt/media/image179.png" ContentType="image/png"/>
  <Override PartName="/ppt/media/image180.png" ContentType="image/png"/>
  <Override PartName="/ppt/media/image181.png" ContentType="image/png"/>
  <Override PartName="/ppt/media/image182.png" ContentType="image/png"/>
  <Override PartName="/ppt/media/image183.png" ContentType="image/png"/>
  <Override PartName="/ppt/media/image184.png" ContentType="image/png"/>
  <Override PartName="/ppt/media/image185.png" ContentType="image/png"/>
  <Override PartName="/ppt/media/image186.png" ContentType="image/png"/>
  <Override PartName="/ppt/media/image187.png" ContentType="image/png"/>
  <Override PartName="/ppt/media/image188.png" ContentType="image/png"/>
  <Override PartName="/ppt/media/image189.png" ContentType="image/png"/>
  <Override PartName="/ppt/media/image190.png" ContentType="image/png"/>
  <Override PartName="/ppt/media/image191.png" ContentType="image/png"/>
  <Override PartName="/ppt/media/image192.png" ContentType="image/png"/>
  <Override PartName="/ppt/media/image193.png" ContentType="image/png"/>
  <Override PartName="/ppt/media/image194.png" ContentType="image/png"/>
  <Override PartName="/ppt/media/image195.png" ContentType="image/png"/>
  <Override PartName="/ppt/media/image196.png" ContentType="image/png"/>
  <Override PartName="/ppt/media/image197.png" ContentType="image/png"/>
  <Override PartName="/ppt/media/image198.png" ContentType="image/png"/>
  <Override PartName="/ppt/media/image199.png" ContentType="image/png"/>
  <Override PartName="/ppt/media/image200.png" ContentType="image/png"/>
  <Override PartName="/ppt/media/image201.png" ContentType="image/png"/>
  <Override PartName="/ppt/media/image202.png" ContentType="image/png"/>
  <Override PartName="/ppt/media/image203.png" ContentType="image/png"/>
  <Override PartName="/ppt/media/image204.png" ContentType="image/png"/>
  <Override PartName="/ppt/media/image205.png" ContentType="image/png"/>
  <Override PartName="/ppt/media/image206.png" ContentType="image/png"/>
  <Override PartName="/ppt/media/image207.png" ContentType="image/png"/>
  <Override PartName="/ppt/media/image208.png" ContentType="image/png"/>
  <Override PartName="/ppt/media/image209.png" ContentType="image/png"/>
  <Override PartName="/ppt/media/image210.png" ContentType="image/png"/>
  <Override PartName="/ppt/media/image211.png" ContentType="image/png"/>
  <Override PartName="/ppt/media/image212.png" ContentType="image/png"/>
  <Override PartName="/ppt/media/image213.png" ContentType="image/png"/>
  <Override PartName="/ppt/media/image214.png" ContentType="image/png"/>
  <Override PartName="/ppt/media/image215.png" ContentType="image/png"/>
  <Override PartName="/ppt/media/image216.png" ContentType="image/png"/>
  <Override PartName="/ppt/media/image217.png" ContentType="image/png"/>
  <Override PartName="/ppt/media/image218.png" ContentType="image/png"/>
  <Override PartName="/ppt/media/image219.png" ContentType="image/png"/>
  <Override PartName="/ppt/media/image220.png" ContentType="image/png"/>
  <Override PartName="/ppt/media/image221.png" ContentType="image/png"/>
  <Override PartName="/ppt/media/image222.png" ContentType="image/png"/>
  <Override PartName="/ppt/media/image223.png" ContentType="image/png"/>
  <Override PartName="/ppt/media/image224.png" ContentType="image/png"/>
  <Override PartName="/ppt/media/image225.png" ContentType="image/png"/>
  <Override PartName="/ppt/media/image226.png" ContentType="image/png"/>
  <Override PartName="/ppt/media/image227.png" ContentType="image/png"/>
  <Override PartName="/ppt/media/image228.png" ContentType="image/png"/>
  <Override PartName="/ppt/media/image229.png" ContentType="image/png"/>
  <Override PartName="/ppt/media/image230.png" ContentType="image/png"/>
  <Override PartName="/ppt/media/image231.png" ContentType="image/png"/>
  <Override PartName="/ppt/media/image232.png" ContentType="image/png"/>
  <Override PartName="/ppt/media/image233.png" ContentType="image/png"/>
  <Override PartName="/ppt/media/image234.png" ContentType="image/png"/>
  <Override PartName="/ppt/media/image235.png" ContentType="image/png"/>
  <Override PartName="/ppt/media/image236.png" ContentType="image/png"/>
  <Override PartName="/ppt/media/image237.png" ContentType="image/png"/>
  <Override PartName="/ppt/media/image238.png" ContentType="image/png"/>
  <Override PartName="/ppt/media/image239.png" ContentType="image/png"/>
  <Override PartName="/ppt/media/image240.png" ContentType="image/png"/>
  <Override PartName="/ppt/media/image241.png" ContentType="image/png"/>
  <Override PartName="/ppt/media/image242.png" ContentType="image/png"/>
  <Override PartName="/ppt/media/image243.png" ContentType="image/png"/>
  <Override PartName="/ppt/media/image244.png" ContentType="image/png"/>
  <Override PartName="/ppt/media/image245.png" ContentType="image/png"/>
  <Override PartName="/ppt/media/image246.png" ContentType="image/png"/>
  <Override PartName="/ppt/media/image247.png" ContentType="image/png"/>
  <Override PartName="/ppt/media/image248.png" ContentType="image/png"/>
  <Override PartName="/ppt/media/image249.png" ContentType="image/png"/>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en-US" sz="1800" spc="-1" strike="noStrike">
                <a:solidFill>
                  <a:srgbClr val="000000"/>
                </a:solidFill>
                <a:latin typeface="Arial"/>
              </a:rPr>
              <a:t>Click to move the slide</a:t>
            </a:r>
            <a:endParaRPr b="0" lang="en-US" sz="1800" spc="-1" strike="noStrike">
              <a:solidFill>
                <a:srgbClr val="000000"/>
              </a:solidFill>
              <a:latin typeface="Arial"/>
            </a:endParaRPr>
          </a:p>
        </p:txBody>
      </p:sp>
      <p:sp>
        <p:nvSpPr>
          <p:cNvPr id="77" name="PlaceHolder 2"/>
          <p:cNvSpPr>
            <a:spLocks noGrp="1"/>
          </p:cNvSpPr>
          <p:nvPr>
            <p:ph type="body"/>
          </p:nvPr>
        </p:nvSpPr>
        <p:spPr>
          <a:xfrm>
            <a:off x="756000" y="5078520"/>
            <a:ext cx="6047640" cy="4811040"/>
          </a:xfrm>
          <a:prstGeom prst="rect">
            <a:avLst/>
          </a:prstGeom>
        </p:spPr>
        <p:txBody>
          <a:bodyPr lIns="0" rIns="0" tIns="0" bIns="0">
            <a:noAutofit/>
          </a:bodyPr>
          <a:p>
            <a:r>
              <a:rPr b="0" lang="en-NZ" sz="2000" spc="-1" strike="noStrike">
                <a:latin typeface="Arial"/>
              </a:rPr>
              <a:t>Click to edit the notes format</a:t>
            </a:r>
            <a:endParaRPr b="0" lang="en-NZ" sz="2000" spc="-1" strike="noStrike">
              <a:latin typeface="Arial"/>
            </a:endParaRPr>
          </a:p>
        </p:txBody>
      </p:sp>
      <p:sp>
        <p:nvSpPr>
          <p:cNvPr id="78" name="PlaceHolder 3"/>
          <p:cNvSpPr>
            <a:spLocks noGrp="1"/>
          </p:cNvSpPr>
          <p:nvPr>
            <p:ph type="hdr"/>
          </p:nvPr>
        </p:nvSpPr>
        <p:spPr>
          <a:xfrm>
            <a:off x="0" y="0"/>
            <a:ext cx="3280680" cy="534240"/>
          </a:xfrm>
          <a:prstGeom prst="rect">
            <a:avLst/>
          </a:prstGeom>
        </p:spPr>
        <p:txBody>
          <a:bodyPr lIns="0" rIns="0" tIns="0" bIns="0">
            <a:noAutofit/>
          </a:bodyPr>
          <a:p>
            <a:r>
              <a:rPr b="0" lang="en-NZ" sz="1400" spc="-1" strike="noStrike">
                <a:latin typeface="Times New Roman"/>
              </a:rPr>
              <a:t>&lt;header&gt;</a:t>
            </a:r>
            <a:endParaRPr b="0" lang="en-NZ" sz="1400" spc="-1" strike="noStrike">
              <a:latin typeface="Times New Roman"/>
            </a:endParaRPr>
          </a:p>
        </p:txBody>
      </p:sp>
      <p:sp>
        <p:nvSpPr>
          <p:cNvPr id="79" name="PlaceHolder 4"/>
          <p:cNvSpPr>
            <a:spLocks noGrp="1"/>
          </p:cNvSpPr>
          <p:nvPr>
            <p:ph type="dt"/>
          </p:nvPr>
        </p:nvSpPr>
        <p:spPr>
          <a:xfrm>
            <a:off x="4278960" y="0"/>
            <a:ext cx="3280680" cy="534240"/>
          </a:xfrm>
          <a:prstGeom prst="rect">
            <a:avLst/>
          </a:prstGeom>
        </p:spPr>
        <p:txBody>
          <a:bodyPr lIns="0" rIns="0" tIns="0" bIns="0">
            <a:noAutofit/>
          </a:bodyPr>
          <a:p>
            <a:pPr algn="r"/>
            <a:r>
              <a:rPr b="0" lang="en-NZ" sz="1400" spc="-1" strike="noStrike">
                <a:latin typeface="Times New Roman"/>
              </a:rPr>
              <a:t>&lt;date/time&gt;</a:t>
            </a:r>
            <a:endParaRPr b="0" lang="en-NZ" sz="1400" spc="-1" strike="noStrike">
              <a:latin typeface="Times New Roman"/>
            </a:endParaRPr>
          </a:p>
        </p:txBody>
      </p:sp>
      <p:sp>
        <p:nvSpPr>
          <p:cNvPr id="80" name="PlaceHolder 5"/>
          <p:cNvSpPr>
            <a:spLocks noGrp="1"/>
          </p:cNvSpPr>
          <p:nvPr>
            <p:ph type="ftr"/>
          </p:nvPr>
        </p:nvSpPr>
        <p:spPr>
          <a:xfrm>
            <a:off x="0" y="10157400"/>
            <a:ext cx="3280680" cy="534240"/>
          </a:xfrm>
          <a:prstGeom prst="rect">
            <a:avLst/>
          </a:prstGeom>
        </p:spPr>
        <p:txBody>
          <a:bodyPr lIns="0" rIns="0" tIns="0" bIns="0" anchor="b">
            <a:noAutofit/>
          </a:bodyPr>
          <a:p>
            <a:r>
              <a:rPr b="0" lang="en-NZ" sz="1400" spc="-1" strike="noStrike">
                <a:latin typeface="Times New Roman"/>
              </a:rPr>
              <a:t>&lt;footer&gt;</a:t>
            </a:r>
            <a:endParaRPr b="0" lang="en-NZ" sz="1400" spc="-1" strike="noStrike">
              <a:latin typeface="Times New Roman"/>
            </a:endParaRPr>
          </a:p>
        </p:txBody>
      </p:sp>
      <p:sp>
        <p:nvSpPr>
          <p:cNvPr id="81"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4B482DE9-11E4-4550-95A9-32956CAA4F45}" type="slidenum">
              <a:rPr b="0" lang="en-NZ" sz="1400" spc="-1" strike="noStrike">
                <a:latin typeface="Times New Roman"/>
              </a:rPr>
              <a:t>&lt;number&gt;</a:t>
            </a:fld>
            <a:endParaRPr b="0" lang="en-NZ"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body"/>
          </p:nvPr>
        </p:nvSpPr>
        <p:spPr>
          <a:xfrm>
            <a:off x="685800" y="4343400"/>
            <a:ext cx="5484240" cy="4112640"/>
          </a:xfrm>
          <a:prstGeom prst="rect">
            <a:avLst/>
          </a:prstGeom>
        </p:spPr>
        <p:txBody>
          <a:bodyPr lIns="0" rIns="0" tIns="91440" bIns="91440">
            <a:noAutofit/>
          </a:bodyPr>
          <a:p>
            <a:pPr marL="216000" indent="-214920">
              <a:lnSpc>
                <a:spcPct val="100000"/>
              </a:lnSpc>
              <a:tabLst>
                <a:tab algn="l" pos="0"/>
              </a:tabLst>
            </a:pPr>
            <a:r>
              <a:rPr b="0" lang="en-NZ" sz="1100" spc="-1" strike="noStrike">
                <a:latin typeface="Arial"/>
              </a:rPr>
              <a:t>Since WW1 it had been realised that the threat of attack by air was very real. In WW1 the UK had suffered over fifty bombing raids from German Zeppelin airships, and later Gotha bomber aircraft, on London, Great Yarmouth, Ramsgate and others, with a total of 1,392 civilian dead and 3,330 injured, and it was evident that there was no effective means of providing early warning against such raids. The earliest attempts used a network of observers, and acoustic techniques based on large horns or reflectors, but these only worked at all when conditions were optimal. The pictures below show some schemes of this kind.</a:t>
            </a:r>
            <a:endParaRPr b="0" lang="en-NZ" sz="1100" spc="-1" strike="noStrike">
              <a:latin typeface="Arial"/>
            </a:endParaRPr>
          </a:p>
          <a:p>
            <a:pPr marL="216000" indent="-214920">
              <a:lnSpc>
                <a:spcPct val="100000"/>
              </a:lnSpc>
              <a:tabLst>
                <a:tab algn="l" pos="0"/>
              </a:tabLst>
            </a:pPr>
            <a:endParaRPr b="0" lang="en-NZ" sz="1100" spc="-1" strike="noStrike">
              <a:latin typeface="Arial"/>
            </a:endParaRPr>
          </a:p>
          <a:p>
            <a:pPr marL="216000" indent="-214920">
              <a:lnSpc>
                <a:spcPct val="100000"/>
              </a:lnSpc>
              <a:tabLst>
                <a:tab algn="l" pos="0"/>
              </a:tabLst>
            </a:pPr>
            <a:r>
              <a:rPr b="0" lang="en-NZ" sz="1100" spc="-1" strike="noStrike">
                <a:latin typeface="Arial"/>
              </a:rPr>
              <a:t>Everything cooperating, the aircraft would probably be heard 8 miles away, could, infrequently be heard at sixteen miles, and the record for the course was about twenty-four – I do not know that the Big Ear ever detected a wholly unexpected aircraft approaching from the most favourable direction at this latter range. All this was, moreover, conditional on the visitor keeping to the fairway.</a:t>
            </a:r>
            <a:endParaRPr b="0" lang="en-NZ" sz="1100" spc="-1" strike="noStrike">
              <a:latin typeface="Arial"/>
            </a:endParaRPr>
          </a:p>
        </p:txBody>
      </p:sp>
      <p:sp>
        <p:nvSpPr>
          <p:cNvPr id="627" name="PlaceHolder 2"/>
          <p:cNvSpPr>
            <a:spLocks noGrp="1"/>
          </p:cNvSpPr>
          <p:nvPr>
            <p:ph type="sldImg"/>
          </p:nvPr>
        </p:nvSpPr>
        <p:spPr>
          <a:xfrm>
            <a:off x="1143360" y="685800"/>
            <a:ext cx="4570200" cy="3426840"/>
          </a:xfrm>
          <a:prstGeom prst="rect">
            <a:avLst/>
          </a:prstGeom>
        </p:spPr>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NZ"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NZ"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NZ"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NZ"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28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9"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Arial"/>
              </a:rPr>
              <a:t>Second Outline Level</a:t>
            </a:r>
            <a:endParaRPr b="0" lang="en-US"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slideLayout" Target="../slideLayouts/slideLayout13.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83.png"/><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05.png"/><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09.png"/><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14.png"/><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18.png"/><Relationship Id="rId2" Type="http://schemas.openxmlformats.org/officeDocument/2006/relationships/image" Target="../media/image119.pn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22.png"/><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26.png"/><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30.png"/><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34.png"/><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39.png"/><Relationship Id="rId2" Type="http://schemas.openxmlformats.org/officeDocument/2006/relationships/image" Target="../media/image140.png"/><Relationship Id="rId3"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image" Target="../media/image143.png"/><Relationship Id="rId6"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144.png"/><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149.png"/><Relationship Id="rId2" Type="http://schemas.openxmlformats.org/officeDocument/2006/relationships/image" Target="../media/image150.png"/><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153.png"/><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 Id="rId6"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158.png"/><Relationship Id="rId2" Type="http://schemas.openxmlformats.org/officeDocument/2006/relationships/image" Target="../media/image159.png"/><Relationship Id="rId3" Type="http://schemas.openxmlformats.org/officeDocument/2006/relationships/image" Target="../media/image160.png"/><Relationship Id="rId4" Type="http://schemas.openxmlformats.org/officeDocument/2006/relationships/image" Target="../media/image161.png"/><Relationship Id="rId5" Type="http://schemas.openxmlformats.org/officeDocument/2006/relationships/image" Target="../media/image162.png"/><Relationship Id="rId6"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163.png"/><Relationship Id="rId2" Type="http://schemas.openxmlformats.org/officeDocument/2006/relationships/image" Target="../media/image164.png"/><Relationship Id="rId3" Type="http://schemas.openxmlformats.org/officeDocument/2006/relationships/image" Target="../media/image165.png"/><Relationship Id="rId4" Type="http://schemas.openxmlformats.org/officeDocument/2006/relationships/image" Target="../media/image166.png"/><Relationship Id="rId5" Type="http://schemas.openxmlformats.org/officeDocument/2006/relationships/image" Target="../media/image167.png"/><Relationship Id="rId6"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168.png"/><Relationship Id="rId2" Type="http://schemas.openxmlformats.org/officeDocument/2006/relationships/image" Target="../media/image169.png"/><Relationship Id="rId3" Type="http://schemas.openxmlformats.org/officeDocument/2006/relationships/image" Target="../media/image170.png"/><Relationship Id="rId4" Type="http://schemas.openxmlformats.org/officeDocument/2006/relationships/image" Target="../media/image171.png"/><Relationship Id="rId5" Type="http://schemas.openxmlformats.org/officeDocument/2006/relationships/image" Target="../media/image172.png"/><Relationship Id="rId6"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173.png"/><Relationship Id="rId2" Type="http://schemas.openxmlformats.org/officeDocument/2006/relationships/image" Target="../media/image174.png"/><Relationship Id="rId3" Type="http://schemas.openxmlformats.org/officeDocument/2006/relationships/image" Target="../media/image175.png"/><Relationship Id="rId4" Type="http://schemas.openxmlformats.org/officeDocument/2006/relationships/image" Target="../media/image176.png"/><Relationship Id="rId5" Type="http://schemas.openxmlformats.org/officeDocument/2006/relationships/image" Target="../media/image177.png"/><Relationship Id="rId6" Type="http://schemas.openxmlformats.org/officeDocument/2006/relationships/image" Target="../media/image178.png"/><Relationship Id="rId7"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179.png"/><Relationship Id="rId2" Type="http://schemas.openxmlformats.org/officeDocument/2006/relationships/image" Target="../media/image180.png"/><Relationship Id="rId3"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183.png"/><Relationship Id="rId2" Type="http://schemas.openxmlformats.org/officeDocument/2006/relationships/image" Target="../media/image184.png"/><Relationship Id="rId3" Type="http://schemas.openxmlformats.org/officeDocument/2006/relationships/image" Target="../media/image185.png"/><Relationship Id="rId4" Type="http://schemas.openxmlformats.org/officeDocument/2006/relationships/image" Target="../media/image186.png"/><Relationship Id="rId5"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187.png"/><Relationship Id="rId2" Type="http://schemas.openxmlformats.org/officeDocument/2006/relationships/image" Target="../media/image188.png"/><Relationship Id="rId3" Type="http://schemas.openxmlformats.org/officeDocument/2006/relationships/image" Target="../media/image189.png"/><Relationship Id="rId4" Type="http://schemas.openxmlformats.org/officeDocument/2006/relationships/image" Target="../media/image190.png"/><Relationship Id="rId5"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196.png"/><Relationship Id="rId2" Type="http://schemas.openxmlformats.org/officeDocument/2006/relationships/image" Target="../media/image197.png"/><Relationship Id="rId3" Type="http://schemas.openxmlformats.org/officeDocument/2006/relationships/image" Target="../media/image198.png"/><Relationship Id="rId4" Type="http://schemas.openxmlformats.org/officeDocument/2006/relationships/image" Target="../media/image199.png"/><Relationship Id="rId5"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200.png"/><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image" Target="../media/image203.png"/><Relationship Id="rId5"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204.png"/><Relationship Id="rId2" Type="http://schemas.openxmlformats.org/officeDocument/2006/relationships/image" Target="../media/image205.png"/><Relationship Id="rId3" Type="http://schemas.openxmlformats.org/officeDocument/2006/relationships/image" Target="../media/image206.png"/><Relationship Id="rId4" Type="http://schemas.openxmlformats.org/officeDocument/2006/relationships/image" Target="../media/image207.png"/><Relationship Id="rId5" Type="http://schemas.openxmlformats.org/officeDocument/2006/relationships/image" Target="../media/image208.png"/><Relationship Id="rId6"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209.png"/><Relationship Id="rId2" Type="http://schemas.openxmlformats.org/officeDocument/2006/relationships/image" Target="../media/image210.png"/><Relationship Id="rId3" Type="http://schemas.openxmlformats.org/officeDocument/2006/relationships/image" Target="../media/image211.png"/><Relationship Id="rId4" Type="http://schemas.openxmlformats.org/officeDocument/2006/relationships/image" Target="../media/image212.png"/><Relationship Id="rId5" Type="http://schemas.openxmlformats.org/officeDocument/2006/relationships/image" Target="../media/image213.png"/><Relationship Id="rId6" Type="http://schemas.openxmlformats.org/officeDocument/2006/relationships/image" Target="../media/image214.png"/><Relationship Id="rId7"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215.png"/><Relationship Id="rId2" Type="http://schemas.openxmlformats.org/officeDocument/2006/relationships/image" Target="../media/image216.png"/><Relationship Id="rId3" Type="http://schemas.openxmlformats.org/officeDocument/2006/relationships/image" Target="../media/image217.png"/><Relationship Id="rId4" Type="http://schemas.openxmlformats.org/officeDocument/2006/relationships/image" Target="../media/image218.png"/><Relationship Id="rId5" Type="http://schemas.openxmlformats.org/officeDocument/2006/relationships/image" Target="../media/image219.png"/><Relationship Id="rId6"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220.png"/><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image" Target="../media/image224.png"/><Relationship Id="rId6"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225.png"/><Relationship Id="rId2" Type="http://schemas.openxmlformats.org/officeDocument/2006/relationships/image" Target="../media/image226.png"/><Relationship Id="rId3" Type="http://schemas.openxmlformats.org/officeDocument/2006/relationships/image" Target="../media/image227.png"/><Relationship Id="rId4" Type="http://schemas.openxmlformats.org/officeDocument/2006/relationships/image" Target="../media/image228.png"/><Relationship Id="rId5"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229.png"/><Relationship Id="rId2" Type="http://schemas.openxmlformats.org/officeDocument/2006/relationships/image" Target="../media/image230.png"/><Relationship Id="rId3" Type="http://schemas.openxmlformats.org/officeDocument/2006/relationships/image" Target="../media/image231.png"/><Relationship Id="rId4" Type="http://schemas.openxmlformats.org/officeDocument/2006/relationships/image" Target="../media/image232.png"/><Relationship Id="rId5" Type="http://schemas.openxmlformats.org/officeDocument/2006/relationships/image" Target="../media/image233.png"/><Relationship Id="rId6"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234.png"/><Relationship Id="rId2" Type="http://schemas.openxmlformats.org/officeDocument/2006/relationships/image" Target="../media/image235.png"/><Relationship Id="rId3" Type="http://schemas.openxmlformats.org/officeDocument/2006/relationships/image" Target="../media/image236.png"/><Relationship Id="rId4" Type="http://schemas.openxmlformats.org/officeDocument/2006/relationships/image" Target="../media/image237.png"/><Relationship Id="rId5" Type="http://schemas.openxmlformats.org/officeDocument/2006/relationships/image" Target="../media/image238.png"/><Relationship Id="rId6"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239.png"/><Relationship Id="rId2" Type="http://schemas.openxmlformats.org/officeDocument/2006/relationships/image" Target="../media/image240.png"/><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244.png"/><Relationship Id="rId2" Type="http://schemas.openxmlformats.org/officeDocument/2006/relationships/image" Target="../media/image245.png"/><Relationship Id="rId3" Type="http://schemas.openxmlformats.org/officeDocument/2006/relationships/image" Target="../media/image246.png"/><Relationship Id="rId4" Type="http://schemas.openxmlformats.org/officeDocument/2006/relationships/image" Target="../media/image247.png"/><Relationship Id="rId5" Type="http://schemas.openxmlformats.org/officeDocument/2006/relationships/image" Target="../media/image248.png"/><Relationship Id="rId6" Type="http://schemas.openxmlformats.org/officeDocument/2006/relationships/image" Target="../media/image249.png"/><Relationship Id="rId7"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Google Shape;84;p13" descr="image.png"/>
          <p:cNvPicPr/>
          <p:nvPr/>
        </p:nvPicPr>
        <p:blipFill>
          <a:blip r:embed="rId1"/>
          <a:stretch/>
        </p:blipFill>
        <p:spPr>
          <a:xfrm>
            <a:off x="0" y="0"/>
            <a:ext cx="12191040" cy="6856920"/>
          </a:xfrm>
          <a:prstGeom prst="rect">
            <a:avLst/>
          </a:prstGeom>
          <a:ln w="0">
            <a:noFill/>
          </a:ln>
        </p:spPr>
      </p:pic>
      <p:pic>
        <p:nvPicPr>
          <p:cNvPr id="83" name="Google Shape;85;p13" descr="image.png"/>
          <p:cNvPicPr/>
          <p:nvPr/>
        </p:nvPicPr>
        <p:blipFill>
          <a:blip r:embed="rId2"/>
          <a:stretch/>
        </p:blipFill>
        <p:spPr>
          <a:xfrm>
            <a:off x="9360" y="9360"/>
            <a:ext cx="12171960" cy="265680"/>
          </a:xfrm>
          <a:prstGeom prst="rect">
            <a:avLst/>
          </a:prstGeom>
          <a:ln w="0">
            <a:noFill/>
          </a:ln>
        </p:spPr>
      </p:pic>
      <p:pic>
        <p:nvPicPr>
          <p:cNvPr id="84" name="Google Shape;86;p13" descr="image.png"/>
          <p:cNvPicPr/>
          <p:nvPr/>
        </p:nvPicPr>
        <p:blipFill>
          <a:blip r:embed="rId3"/>
          <a:stretch/>
        </p:blipFill>
        <p:spPr>
          <a:xfrm>
            <a:off x="9360" y="6581880"/>
            <a:ext cx="12171960" cy="265680"/>
          </a:xfrm>
          <a:prstGeom prst="rect">
            <a:avLst/>
          </a:prstGeom>
          <a:ln w="0">
            <a:noFill/>
          </a:ln>
        </p:spPr>
      </p:pic>
      <p:sp>
        <p:nvSpPr>
          <p:cNvPr id="85" name="Google Shape;87;p13"/>
          <p:cNvSpPr/>
          <p:nvPr/>
        </p:nvSpPr>
        <p:spPr>
          <a:xfrm>
            <a:off x="305280" y="1843560"/>
            <a:ext cx="11580480" cy="182160"/>
          </a:xfrm>
          <a:prstGeom prst="rect">
            <a:avLst/>
          </a:prstGeom>
          <a:noFill/>
          <a:ln w="0">
            <a:noFill/>
          </a:ln>
        </p:spPr>
        <p:style>
          <a:lnRef idx="0"/>
          <a:fillRef idx="0"/>
          <a:effectRef idx="0"/>
          <a:fontRef idx="minor"/>
        </p:style>
        <p:txBody>
          <a:bodyPr lIns="0" rIns="0" tIns="0" bIns="0">
            <a:spAutoFit/>
          </a:bodyPr>
          <a:p>
            <a:pPr algn="ctr">
              <a:lnSpc>
                <a:spcPct val="100000"/>
              </a:lnSpc>
              <a:tabLst>
                <a:tab algn="l" pos="0"/>
              </a:tabLst>
            </a:pPr>
            <a:r>
              <a:rPr b="1" lang="en-US" sz="1200" spc="-1" strike="noStrike">
                <a:solidFill>
                  <a:srgbClr val="38bdf8"/>
                </a:solidFill>
                <a:latin typeface="Inter"/>
                <a:ea typeface="Inter"/>
              </a:rPr>
              <a:t>TECHNICAL SEMINAR</a:t>
            </a:r>
            <a:endParaRPr b="0" lang="en-NZ" sz="1200" spc="-1" strike="noStrike">
              <a:latin typeface="Arial"/>
            </a:endParaRPr>
          </a:p>
        </p:txBody>
      </p:sp>
      <p:sp>
        <p:nvSpPr>
          <p:cNvPr id="86" name="Google Shape;88;p13"/>
          <p:cNvSpPr/>
          <p:nvPr/>
        </p:nvSpPr>
        <p:spPr>
          <a:xfrm>
            <a:off x="305280" y="2568960"/>
            <a:ext cx="11580480" cy="1233720"/>
          </a:xfrm>
          <a:prstGeom prst="rect">
            <a:avLst/>
          </a:prstGeom>
          <a:noFill/>
          <a:ln w="0">
            <a:noFill/>
          </a:ln>
        </p:spPr>
        <p:style>
          <a:lnRef idx="0"/>
          <a:fillRef idx="0"/>
          <a:effectRef idx="0"/>
          <a:fontRef idx="minor"/>
        </p:style>
        <p:txBody>
          <a:bodyPr lIns="0" rIns="0" tIns="0" bIns="0">
            <a:spAutoFit/>
          </a:bodyPr>
          <a:p>
            <a:pPr algn="ctr">
              <a:lnSpc>
                <a:spcPct val="100000"/>
              </a:lnSpc>
              <a:tabLst>
                <a:tab algn="l" pos="0"/>
              </a:tabLst>
            </a:pPr>
            <a:r>
              <a:rPr b="1" lang="en-US" sz="4050" spc="-1" strike="noStrike">
                <a:solidFill>
                  <a:srgbClr val="e2e8f0"/>
                </a:solidFill>
                <a:latin typeface="Inter"/>
                <a:ea typeface="Inter"/>
              </a:rPr>
              <a:t>RADARS: HISTORY,</a:t>
            </a:r>
            <a:br/>
            <a:r>
              <a:rPr b="1" lang="en-US" sz="4050" spc="-1" strike="noStrike">
                <a:solidFill>
                  <a:srgbClr val="e2e8f0"/>
                </a:solidFill>
                <a:latin typeface="Inter"/>
                <a:ea typeface="Inter"/>
              </a:rPr>
              <a:t> PHYSICS &amp; LIMITATIONS</a:t>
            </a:r>
            <a:endParaRPr b="0" lang="en-NZ" sz="4050" spc="-1" strike="noStrike">
              <a:latin typeface="Arial"/>
            </a:endParaRPr>
          </a:p>
        </p:txBody>
      </p:sp>
      <p:sp>
        <p:nvSpPr>
          <p:cNvPr id="87" name="Google Shape;89;p13"/>
          <p:cNvSpPr/>
          <p:nvPr/>
        </p:nvSpPr>
        <p:spPr>
          <a:xfrm>
            <a:off x="581040" y="4093200"/>
            <a:ext cx="11028960" cy="411120"/>
          </a:xfrm>
          <a:prstGeom prst="rect">
            <a:avLst/>
          </a:prstGeom>
          <a:noFill/>
          <a:ln w="0">
            <a:noFill/>
          </a:ln>
        </p:spPr>
        <p:style>
          <a:lnRef idx="0"/>
          <a:fillRef idx="0"/>
          <a:effectRef idx="0"/>
          <a:fontRef idx="minor"/>
        </p:style>
        <p:txBody>
          <a:bodyPr lIns="0" rIns="0" tIns="0" bIns="0">
            <a:spAutoFit/>
          </a:bodyPr>
          <a:p>
            <a:pPr algn="ctr">
              <a:lnSpc>
                <a:spcPct val="150000"/>
              </a:lnSpc>
              <a:tabLst>
                <a:tab algn="l" pos="0"/>
              </a:tabLst>
            </a:pPr>
            <a:r>
              <a:rPr b="0" lang="en-US" sz="1800" spc="-1" strike="noStrike">
                <a:solidFill>
                  <a:srgbClr val="94a3b8"/>
                </a:solidFill>
                <a:latin typeface="Inter"/>
                <a:ea typeface="Inter"/>
              </a:rPr>
              <a:t>Complete Technical Overview</a:t>
            </a:r>
            <a:endParaRPr b="0" lang="en-NZ" sz="1800" spc="-1" strike="noStrike">
              <a:latin typeface="Arial"/>
            </a:endParaRPr>
          </a:p>
        </p:txBody>
      </p:sp>
      <p:sp>
        <p:nvSpPr>
          <p:cNvPr id="88" name="Google Shape;90;p13"/>
          <p:cNvSpPr/>
          <p:nvPr/>
        </p:nvSpPr>
        <p:spPr>
          <a:xfrm>
            <a:off x="581040" y="5236200"/>
            <a:ext cx="11028960" cy="159480"/>
          </a:xfrm>
          <a:prstGeom prst="rect">
            <a:avLst/>
          </a:prstGeom>
          <a:noFill/>
          <a:ln w="0">
            <a:noFill/>
          </a:ln>
        </p:spPr>
        <p:style>
          <a:lnRef idx="0"/>
          <a:fillRef idx="0"/>
          <a:effectRef idx="0"/>
          <a:fontRef idx="minor"/>
        </p:style>
        <p:txBody>
          <a:bodyPr lIns="0" rIns="0" tIns="0" bIns="0">
            <a:spAutoFit/>
          </a:bodyPr>
          <a:p>
            <a:pPr algn="ctr">
              <a:lnSpc>
                <a:spcPct val="100000"/>
              </a:lnSpc>
              <a:tabLst>
                <a:tab algn="l" pos="0"/>
              </a:tabLst>
            </a:pPr>
            <a:r>
              <a:rPr b="0" lang="en-US" sz="1050" spc="-1" strike="noStrike">
                <a:solidFill>
                  <a:srgbClr val="475569"/>
                </a:solidFill>
                <a:latin typeface="JetBrains Mono"/>
                <a:ea typeface="JetBrains Mono"/>
              </a:rPr>
              <a:t>Gene Soudlenkov, GNZ, 2025</a:t>
            </a:r>
            <a:endParaRPr b="0" lang="en-NZ" sz="10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Google Shape;95;p14" descr="image.png"/>
          <p:cNvPicPr/>
          <p:nvPr/>
        </p:nvPicPr>
        <p:blipFill>
          <a:blip r:embed="rId1"/>
          <a:stretch/>
        </p:blipFill>
        <p:spPr>
          <a:xfrm>
            <a:off x="0" y="0"/>
            <a:ext cx="12191040" cy="6856920"/>
          </a:xfrm>
          <a:prstGeom prst="rect">
            <a:avLst/>
          </a:prstGeom>
          <a:ln w="0">
            <a:noFill/>
          </a:ln>
        </p:spPr>
      </p:pic>
      <p:pic>
        <p:nvPicPr>
          <p:cNvPr id="90" name="Google Shape;96;p14" descr="image.png"/>
          <p:cNvPicPr/>
          <p:nvPr/>
        </p:nvPicPr>
        <p:blipFill>
          <a:blip r:embed="rId2"/>
          <a:stretch/>
        </p:blipFill>
        <p:spPr>
          <a:xfrm>
            <a:off x="581040" y="3132720"/>
            <a:ext cx="3548520" cy="1748880"/>
          </a:xfrm>
          <a:prstGeom prst="rect">
            <a:avLst/>
          </a:prstGeom>
          <a:ln w="0">
            <a:noFill/>
          </a:ln>
        </p:spPr>
      </p:pic>
      <p:pic>
        <p:nvPicPr>
          <p:cNvPr id="91" name="Google Shape;97;p14" descr="image.png"/>
          <p:cNvPicPr/>
          <p:nvPr/>
        </p:nvPicPr>
        <p:blipFill>
          <a:blip r:embed="rId3"/>
          <a:stretch/>
        </p:blipFill>
        <p:spPr>
          <a:xfrm>
            <a:off x="4321080" y="3132720"/>
            <a:ext cx="3548520" cy="1748880"/>
          </a:xfrm>
          <a:prstGeom prst="rect">
            <a:avLst/>
          </a:prstGeom>
          <a:ln w="0">
            <a:noFill/>
          </a:ln>
        </p:spPr>
      </p:pic>
      <p:pic>
        <p:nvPicPr>
          <p:cNvPr id="92" name="Google Shape;98;p14" descr="image.png"/>
          <p:cNvPicPr/>
          <p:nvPr/>
        </p:nvPicPr>
        <p:blipFill>
          <a:blip r:embed="rId4"/>
          <a:stretch/>
        </p:blipFill>
        <p:spPr>
          <a:xfrm>
            <a:off x="8061120" y="3132720"/>
            <a:ext cx="3548520" cy="1748880"/>
          </a:xfrm>
          <a:prstGeom prst="rect">
            <a:avLst/>
          </a:prstGeom>
          <a:ln w="0">
            <a:noFill/>
          </a:ln>
        </p:spPr>
      </p:pic>
      <p:pic>
        <p:nvPicPr>
          <p:cNvPr id="93" name="Google Shape;99;p14" descr="image.png"/>
          <p:cNvPicPr/>
          <p:nvPr/>
        </p:nvPicPr>
        <p:blipFill>
          <a:blip r:embed="rId5"/>
          <a:stretch/>
        </p:blipFill>
        <p:spPr>
          <a:xfrm>
            <a:off x="9360" y="9360"/>
            <a:ext cx="12171960" cy="265680"/>
          </a:xfrm>
          <a:prstGeom prst="rect">
            <a:avLst/>
          </a:prstGeom>
          <a:ln w="0">
            <a:noFill/>
          </a:ln>
        </p:spPr>
      </p:pic>
      <p:pic>
        <p:nvPicPr>
          <p:cNvPr id="94" name="Google Shape;100;p14" descr="image.png"/>
          <p:cNvPicPr/>
          <p:nvPr/>
        </p:nvPicPr>
        <p:blipFill>
          <a:blip r:embed="rId6"/>
          <a:stretch/>
        </p:blipFill>
        <p:spPr>
          <a:xfrm>
            <a:off x="9360" y="6581880"/>
            <a:ext cx="12171960" cy="265680"/>
          </a:xfrm>
          <a:prstGeom prst="rect">
            <a:avLst/>
          </a:prstGeom>
          <a:ln w="0">
            <a:noFill/>
          </a:ln>
        </p:spPr>
      </p:pic>
      <p:sp>
        <p:nvSpPr>
          <p:cNvPr id="95" name="Google Shape;101;p14"/>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Briefing Agenda</a:t>
            </a:r>
            <a:endParaRPr b="0" lang="en-NZ" sz="2400" spc="-1" strike="noStrike">
              <a:latin typeface="Arial"/>
            </a:endParaRPr>
          </a:p>
        </p:txBody>
      </p:sp>
      <p:sp>
        <p:nvSpPr>
          <p:cNvPr id="96" name="Google Shape;102;p14"/>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97" name="Google Shape;103;p14"/>
          <p:cNvSpPr/>
          <p:nvPr/>
        </p:nvSpPr>
        <p:spPr>
          <a:xfrm>
            <a:off x="78120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01 // Origins</a:t>
            </a:r>
            <a:endParaRPr b="0" lang="en-NZ" sz="1410" spc="-1" strike="noStrike">
              <a:latin typeface="Arial"/>
            </a:endParaRPr>
          </a:p>
        </p:txBody>
      </p:sp>
      <p:sp>
        <p:nvSpPr>
          <p:cNvPr id="98" name="Google Shape;104;p14"/>
          <p:cNvSpPr/>
          <p:nvPr/>
        </p:nvSpPr>
        <p:spPr>
          <a:xfrm>
            <a:off x="78120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Pre-electronic detection and the birth of radar.</a:t>
            </a:r>
            <a:endParaRPr b="0" lang="en-NZ" sz="1500" spc="-1" strike="noStrike">
              <a:latin typeface="Arial"/>
            </a:endParaRPr>
          </a:p>
        </p:txBody>
      </p:sp>
      <p:sp>
        <p:nvSpPr>
          <p:cNvPr id="99" name="Google Shape;105;p14"/>
          <p:cNvSpPr/>
          <p:nvPr/>
        </p:nvSpPr>
        <p:spPr>
          <a:xfrm>
            <a:off x="452124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02 // Physics</a:t>
            </a:r>
            <a:endParaRPr b="0" lang="en-NZ" sz="1410" spc="-1" strike="noStrike">
              <a:latin typeface="Arial"/>
            </a:endParaRPr>
          </a:p>
        </p:txBody>
      </p:sp>
      <p:sp>
        <p:nvSpPr>
          <p:cNvPr id="100" name="Google Shape;106;p14"/>
          <p:cNvSpPr/>
          <p:nvPr/>
        </p:nvSpPr>
        <p:spPr>
          <a:xfrm>
            <a:off x="452124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Range, Doppler, Pulse Mechanics, and Gating.</a:t>
            </a:r>
            <a:endParaRPr b="0" lang="en-NZ" sz="1500" spc="-1" strike="noStrike">
              <a:latin typeface="Arial"/>
            </a:endParaRPr>
          </a:p>
        </p:txBody>
      </p:sp>
      <p:sp>
        <p:nvSpPr>
          <p:cNvPr id="101" name="Google Shape;107;p14"/>
          <p:cNvSpPr/>
          <p:nvPr/>
        </p:nvSpPr>
        <p:spPr>
          <a:xfrm>
            <a:off x="826128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03 // Modern Tech</a:t>
            </a:r>
            <a:endParaRPr b="0" lang="en-NZ" sz="1410" spc="-1" strike="noStrike">
              <a:latin typeface="Arial"/>
            </a:endParaRPr>
          </a:p>
        </p:txBody>
      </p:sp>
      <p:sp>
        <p:nvSpPr>
          <p:cNvPr id="102" name="Google Shape;108;p14"/>
          <p:cNvSpPr/>
          <p:nvPr/>
        </p:nvSpPr>
        <p:spPr>
          <a:xfrm>
            <a:off x="826128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AESA, Stealth, and Civilian Applications.</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Google Shape;126;p16_0" descr="image.png"/>
          <p:cNvPicPr/>
          <p:nvPr/>
        </p:nvPicPr>
        <p:blipFill>
          <a:blip r:embed="rId1"/>
          <a:stretch/>
        </p:blipFill>
        <p:spPr>
          <a:xfrm>
            <a:off x="9360" y="-17280"/>
            <a:ext cx="12189960" cy="6855840"/>
          </a:xfrm>
          <a:prstGeom prst="rect">
            <a:avLst/>
          </a:prstGeom>
          <a:ln w="0">
            <a:noFill/>
          </a:ln>
        </p:spPr>
      </p:pic>
      <p:pic>
        <p:nvPicPr>
          <p:cNvPr id="104" name="Google Shape;127;p16_1" descr="image.png"/>
          <p:cNvPicPr/>
          <p:nvPr/>
        </p:nvPicPr>
        <p:blipFill>
          <a:blip r:embed="rId2"/>
          <a:stretch/>
        </p:blipFill>
        <p:spPr>
          <a:xfrm>
            <a:off x="9360" y="9360"/>
            <a:ext cx="12170880" cy="264600"/>
          </a:xfrm>
          <a:prstGeom prst="rect">
            <a:avLst/>
          </a:prstGeom>
          <a:ln w="0">
            <a:noFill/>
          </a:ln>
        </p:spPr>
      </p:pic>
      <p:pic>
        <p:nvPicPr>
          <p:cNvPr id="105" name="Google Shape;128;p16_1" descr="image.png"/>
          <p:cNvPicPr/>
          <p:nvPr/>
        </p:nvPicPr>
        <p:blipFill>
          <a:blip r:embed="rId3"/>
          <a:stretch/>
        </p:blipFill>
        <p:spPr>
          <a:xfrm>
            <a:off x="9360" y="6581880"/>
            <a:ext cx="12170880" cy="264600"/>
          </a:xfrm>
          <a:prstGeom prst="rect">
            <a:avLst/>
          </a:prstGeom>
          <a:ln w="0">
            <a:noFill/>
          </a:ln>
        </p:spPr>
      </p:pic>
      <p:sp>
        <p:nvSpPr>
          <p:cNvPr id="106" name="Google Shape;130;p16_0"/>
          <p:cNvSpPr/>
          <p:nvPr/>
        </p:nvSpPr>
        <p:spPr>
          <a:xfrm>
            <a:off x="4570200" y="2021400"/>
            <a:ext cx="7128360" cy="123228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350" spc="-1" strike="noStrike">
                <a:solidFill>
                  <a:srgbClr val="cbd5e1"/>
                </a:solidFill>
                <a:latin typeface="Inter"/>
                <a:ea typeface="Inter"/>
              </a:rPr>
              <a:t>Usually contain four sound-absorbing elements, such as curved shells or horns that are used in pairs. Two elements at a fixed mutual distance were adjustable in the horizontal plane for the determination of the map angle. The other two shells or horns could be adjusted in the vertical plane to measure the elevation</a:t>
            </a:r>
            <a:endParaRPr b="0" lang="en-NZ" sz="1350" spc="-1" strike="noStrike">
              <a:latin typeface="Arial"/>
            </a:endParaRPr>
          </a:p>
        </p:txBody>
      </p:sp>
      <p:sp>
        <p:nvSpPr>
          <p:cNvPr id="107" name="Google Shape;137;p16_1"/>
          <p:cNvSpPr/>
          <p:nvPr/>
        </p:nvSpPr>
        <p:spPr>
          <a:xfrm>
            <a:off x="581040" y="708120"/>
            <a:ext cx="11579400" cy="410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700" spc="-1" strike="noStrike">
                <a:solidFill>
                  <a:srgbClr val="38bdf8"/>
                </a:solidFill>
                <a:latin typeface="JetBrains Mono"/>
                <a:ea typeface="JetBrains Mono"/>
              </a:rPr>
              <a:t>1915-1940s: Aeroacoustics – early devices</a:t>
            </a:r>
            <a:endParaRPr b="0" lang="en-NZ" sz="2700" spc="-1" strike="noStrike">
              <a:latin typeface="Arial"/>
            </a:endParaRPr>
          </a:p>
        </p:txBody>
      </p:sp>
      <p:sp>
        <p:nvSpPr>
          <p:cNvPr id="108" name="Google Shape;138;p16_1"/>
          <p:cNvSpPr/>
          <p:nvPr/>
        </p:nvSpPr>
        <p:spPr>
          <a:xfrm>
            <a:off x="581040" y="1276200"/>
            <a:ext cx="11027880" cy="16920"/>
          </a:xfrm>
          <a:prstGeom prst="rect">
            <a:avLst/>
          </a:prstGeom>
          <a:solidFill>
            <a:srgbClr val="1e293b"/>
          </a:solidFill>
          <a:ln w="0">
            <a:noFill/>
          </a:ln>
        </p:spPr>
        <p:style>
          <a:lnRef idx="0"/>
          <a:fillRef idx="0"/>
          <a:effectRef idx="0"/>
          <a:fontRef idx="minor"/>
        </p:style>
      </p:sp>
      <p:sp>
        <p:nvSpPr>
          <p:cNvPr id="109" name="Google Shape;139;p16_1"/>
          <p:cNvSpPr/>
          <p:nvPr/>
        </p:nvSpPr>
        <p:spPr>
          <a:xfrm>
            <a:off x="4606200" y="1487160"/>
            <a:ext cx="553860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Supplement to visual means for the artillery</a:t>
            </a:r>
            <a:endParaRPr b="0" lang="en-NZ" sz="1410" spc="-1" strike="noStrike">
              <a:latin typeface="Arial"/>
            </a:endParaRPr>
          </a:p>
        </p:txBody>
      </p:sp>
      <p:pic>
        <p:nvPicPr>
          <p:cNvPr id="110" name="Picture 80_1" descr=""/>
          <p:cNvPicPr/>
          <p:nvPr/>
        </p:nvPicPr>
        <p:blipFill>
          <a:blip r:embed="rId4"/>
          <a:stretch/>
        </p:blipFill>
        <p:spPr>
          <a:xfrm>
            <a:off x="720000" y="1225440"/>
            <a:ext cx="2698560" cy="2373120"/>
          </a:xfrm>
          <a:prstGeom prst="rect">
            <a:avLst/>
          </a:prstGeom>
          <a:ln w="0">
            <a:noFill/>
          </a:ln>
        </p:spPr>
      </p:pic>
      <p:pic>
        <p:nvPicPr>
          <p:cNvPr id="111" name="Picture 81_1" descr=""/>
          <p:cNvPicPr/>
          <p:nvPr/>
        </p:nvPicPr>
        <p:blipFill>
          <a:blip r:embed="rId5"/>
          <a:stretch/>
        </p:blipFill>
        <p:spPr>
          <a:xfrm>
            <a:off x="720000" y="3780000"/>
            <a:ext cx="2775240" cy="2338560"/>
          </a:xfrm>
          <a:prstGeom prst="rect">
            <a:avLst/>
          </a:prstGeom>
          <a:ln w="0">
            <a:noFill/>
          </a:ln>
        </p:spPr>
      </p:pic>
      <p:sp>
        <p:nvSpPr>
          <p:cNvPr id="112" name="Google Shape;130;p16_1"/>
          <p:cNvSpPr/>
          <p:nvPr/>
        </p:nvSpPr>
        <p:spPr>
          <a:xfrm>
            <a:off x="4570200" y="3461760"/>
            <a:ext cx="7128360" cy="18486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350" spc="-1" strike="noStrike">
                <a:solidFill>
                  <a:srgbClr val="cbd5e1"/>
                </a:solidFill>
                <a:latin typeface="Inter"/>
                <a:ea typeface="Inter"/>
              </a:rPr>
              <a:t>- The detection of unseen incoming aircraft was a major problem</a:t>
            </a:r>
            <a:endParaRPr b="0" lang="en-NZ" sz="1350" spc="-1" strike="noStrike">
              <a:latin typeface="Arial"/>
            </a:endParaRPr>
          </a:p>
          <a:p>
            <a:pPr>
              <a:lnSpc>
                <a:spcPct val="150000"/>
              </a:lnSpc>
              <a:tabLst>
                <a:tab algn="l" pos="0"/>
              </a:tabLst>
            </a:pPr>
            <a:r>
              <a:rPr b="0" lang="en-US" sz="1350" spc="-1" strike="noStrike">
                <a:solidFill>
                  <a:srgbClr val="cbd5e1"/>
                </a:solidFill>
                <a:latin typeface="Inter"/>
                <a:ea typeface="Inter"/>
              </a:rPr>
              <a:t>-  After a sound contact was made, laborious calculations were then required</a:t>
            </a:r>
            <a:endParaRPr b="0" lang="en-NZ" sz="1350" spc="-1" strike="noStrike">
              <a:latin typeface="Arial"/>
            </a:endParaRPr>
          </a:p>
          <a:p>
            <a:pPr>
              <a:lnSpc>
                <a:spcPct val="150000"/>
              </a:lnSpc>
              <a:tabLst>
                <a:tab algn="l" pos="0"/>
              </a:tabLst>
            </a:pPr>
            <a:r>
              <a:rPr b="0" lang="en-US" sz="1350" spc="-1" strike="noStrike">
                <a:solidFill>
                  <a:srgbClr val="cbd5e1"/>
                </a:solidFill>
                <a:latin typeface="Inter"/>
                <a:ea typeface="Inter"/>
              </a:rPr>
              <a:t>- It was the only system available for detecting the approach of unseen aircraft until the development of radar in the 1930</a:t>
            </a:r>
            <a:endParaRPr b="0" lang="en-NZ" sz="1350" spc="-1" strike="noStrike">
              <a:latin typeface="Arial"/>
            </a:endParaRPr>
          </a:p>
          <a:p>
            <a:pPr>
              <a:lnSpc>
                <a:spcPct val="150000"/>
              </a:lnSpc>
              <a:tabLst>
                <a:tab algn="l" pos="0"/>
              </a:tabLst>
            </a:pPr>
            <a:r>
              <a:rPr b="0" lang="en-US" sz="1350" spc="-1" strike="noStrike">
                <a:solidFill>
                  <a:srgbClr val="cbd5e1"/>
                </a:solidFill>
                <a:latin typeface="Inter"/>
                <a:ea typeface="Inter"/>
              </a:rPr>
              <a:t>- According to the Imperial War Museums, this device had a maximum accuracy of 1/10 of a degree</a:t>
            </a:r>
            <a:endParaRPr b="0" lang="en-NZ" sz="13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3" name="Google Shape;113;p15" descr="image.png"/>
          <p:cNvPicPr/>
          <p:nvPr/>
        </p:nvPicPr>
        <p:blipFill>
          <a:blip r:embed="rId1"/>
          <a:stretch/>
        </p:blipFill>
        <p:spPr>
          <a:xfrm>
            <a:off x="0" y="0"/>
            <a:ext cx="12191040" cy="6856920"/>
          </a:xfrm>
          <a:prstGeom prst="rect">
            <a:avLst/>
          </a:prstGeom>
          <a:ln w="0">
            <a:noFill/>
          </a:ln>
        </p:spPr>
      </p:pic>
      <p:pic>
        <p:nvPicPr>
          <p:cNvPr id="114" name="Google Shape;115;p15" descr="image.png"/>
          <p:cNvPicPr/>
          <p:nvPr/>
        </p:nvPicPr>
        <p:blipFill>
          <a:blip r:embed="rId2"/>
          <a:stretch/>
        </p:blipFill>
        <p:spPr>
          <a:xfrm>
            <a:off x="9360" y="9360"/>
            <a:ext cx="12171960" cy="265680"/>
          </a:xfrm>
          <a:prstGeom prst="rect">
            <a:avLst/>
          </a:prstGeom>
          <a:ln w="0">
            <a:noFill/>
          </a:ln>
        </p:spPr>
      </p:pic>
      <p:pic>
        <p:nvPicPr>
          <p:cNvPr id="115" name="Google Shape;116;p15" descr="image.png"/>
          <p:cNvPicPr/>
          <p:nvPr/>
        </p:nvPicPr>
        <p:blipFill>
          <a:blip r:embed="rId3"/>
          <a:stretch/>
        </p:blipFill>
        <p:spPr>
          <a:xfrm>
            <a:off x="9360" y="6581880"/>
            <a:ext cx="12171960" cy="265680"/>
          </a:xfrm>
          <a:prstGeom prst="rect">
            <a:avLst/>
          </a:prstGeom>
          <a:ln w="0">
            <a:noFill/>
          </a:ln>
        </p:spPr>
      </p:pic>
      <p:sp>
        <p:nvSpPr>
          <p:cNvPr id="116" name="Google Shape;117;p15"/>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Pre-Radar: Listening for Engines</a:t>
            </a:r>
            <a:endParaRPr b="0" lang="en-NZ" sz="2400" spc="-1" strike="noStrike">
              <a:latin typeface="Arial"/>
            </a:endParaRPr>
          </a:p>
        </p:txBody>
      </p:sp>
      <p:sp>
        <p:nvSpPr>
          <p:cNvPr id="117" name="Google Shape;118;p15"/>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18" name="Google Shape;120;p15"/>
          <p:cNvSpPr/>
          <p:nvPr/>
        </p:nvSpPr>
        <p:spPr>
          <a:xfrm>
            <a:off x="628668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Acoustic Mirrors</a:t>
            </a:r>
            <a:endParaRPr b="0" lang="en-NZ" sz="1410" spc="-1" strike="noStrike">
              <a:latin typeface="Arial"/>
            </a:endParaRPr>
          </a:p>
        </p:txBody>
      </p:sp>
      <p:sp>
        <p:nvSpPr>
          <p:cNvPr id="119" name="Google Shape;121;p15"/>
          <p:cNvSpPr/>
          <p:nvPr/>
        </p:nvSpPr>
        <p:spPr>
          <a:xfrm>
            <a:off x="6286680" y="3396960"/>
            <a:ext cx="532332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Before radio waves, defense relied on sound waves.</a:t>
            </a:r>
            <a:endParaRPr b="0" lang="en-NZ" sz="1500" spc="-1" strike="noStrike">
              <a:latin typeface="Arial"/>
            </a:endParaRPr>
          </a:p>
        </p:txBody>
      </p:sp>
      <p:sp>
        <p:nvSpPr>
          <p:cNvPr id="120" name="Google Shape;122;p15"/>
          <p:cNvSpPr/>
          <p:nvPr/>
        </p:nvSpPr>
        <p:spPr>
          <a:xfrm>
            <a:off x="6286680" y="3873240"/>
            <a:ext cx="5323320" cy="136908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Huge concrete dishes focused the sound of incoming aircraft engines to a microphone. The limitation was the speed of sound—by the time you heard them, they were already close.</a:t>
            </a:r>
            <a:endParaRPr b="0" lang="en-NZ" sz="1500" spc="-1" strike="noStrike">
              <a:latin typeface="Arial"/>
            </a:endParaRPr>
          </a:p>
        </p:txBody>
      </p:sp>
      <p:pic>
        <p:nvPicPr>
          <p:cNvPr id="121" name="Picture 120" descr=""/>
          <p:cNvPicPr/>
          <p:nvPr/>
        </p:nvPicPr>
        <p:blipFill>
          <a:blip r:embed="rId4"/>
          <a:stretch/>
        </p:blipFill>
        <p:spPr>
          <a:xfrm>
            <a:off x="540000" y="1980000"/>
            <a:ext cx="4343760" cy="32576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Google Shape;127;p16" descr="image.png"/>
          <p:cNvPicPr/>
          <p:nvPr/>
        </p:nvPicPr>
        <p:blipFill>
          <a:blip r:embed="rId1"/>
          <a:stretch/>
        </p:blipFill>
        <p:spPr>
          <a:xfrm>
            <a:off x="0" y="0"/>
            <a:ext cx="12191040" cy="6856920"/>
          </a:xfrm>
          <a:prstGeom prst="rect">
            <a:avLst/>
          </a:prstGeom>
          <a:ln w="0">
            <a:noFill/>
          </a:ln>
        </p:spPr>
      </p:pic>
      <p:pic>
        <p:nvPicPr>
          <p:cNvPr id="123" name="Google Shape;128;p16" descr="image.png"/>
          <p:cNvPicPr/>
          <p:nvPr/>
        </p:nvPicPr>
        <p:blipFill>
          <a:blip r:embed="rId2"/>
          <a:stretch/>
        </p:blipFill>
        <p:spPr>
          <a:xfrm>
            <a:off x="6286680" y="1864800"/>
            <a:ext cx="5323320" cy="4285080"/>
          </a:xfrm>
          <a:prstGeom prst="rect">
            <a:avLst/>
          </a:prstGeom>
          <a:ln w="0">
            <a:noFill/>
          </a:ln>
        </p:spPr>
      </p:pic>
      <p:pic>
        <p:nvPicPr>
          <p:cNvPr id="124" name="Google Shape;129;p16" descr="image.png"/>
          <p:cNvPicPr/>
          <p:nvPr/>
        </p:nvPicPr>
        <p:blipFill>
          <a:blip r:embed="rId3"/>
          <a:stretch/>
        </p:blipFill>
        <p:spPr>
          <a:xfrm>
            <a:off x="9360" y="9360"/>
            <a:ext cx="12171960" cy="265680"/>
          </a:xfrm>
          <a:prstGeom prst="rect">
            <a:avLst/>
          </a:prstGeom>
          <a:ln w="0">
            <a:noFill/>
          </a:ln>
        </p:spPr>
      </p:pic>
      <p:pic>
        <p:nvPicPr>
          <p:cNvPr id="125" name="Google Shape;130;p16" descr="image.png"/>
          <p:cNvPicPr/>
          <p:nvPr/>
        </p:nvPicPr>
        <p:blipFill>
          <a:blip r:embed="rId4"/>
          <a:stretch/>
        </p:blipFill>
        <p:spPr>
          <a:xfrm>
            <a:off x="9360" y="6581880"/>
            <a:ext cx="12171960" cy="265680"/>
          </a:xfrm>
          <a:prstGeom prst="rect">
            <a:avLst/>
          </a:prstGeom>
          <a:ln w="0">
            <a:noFill/>
          </a:ln>
        </p:spPr>
      </p:pic>
      <p:sp>
        <p:nvSpPr>
          <p:cNvPr id="126" name="Google Shape;131;p16"/>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Royal Observer Corps</a:t>
            </a:r>
            <a:endParaRPr b="0" lang="en-NZ" sz="2400" spc="-1" strike="noStrike">
              <a:latin typeface="Arial"/>
            </a:endParaRPr>
          </a:p>
        </p:txBody>
      </p:sp>
      <p:sp>
        <p:nvSpPr>
          <p:cNvPr id="127" name="Google Shape;132;p16"/>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28" name="Google Shape;133;p16"/>
          <p:cNvSpPr/>
          <p:nvPr/>
        </p:nvSpPr>
        <p:spPr>
          <a:xfrm>
            <a:off x="58104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Human Sensor Network</a:t>
            </a:r>
            <a:endParaRPr b="0" lang="en-NZ" sz="1410" spc="-1" strike="noStrike">
              <a:latin typeface="Arial"/>
            </a:endParaRPr>
          </a:p>
        </p:txBody>
      </p:sp>
      <p:sp>
        <p:nvSpPr>
          <p:cNvPr id="129" name="Google Shape;134;p16"/>
          <p:cNvSpPr/>
          <p:nvPr/>
        </p:nvSpPr>
        <p:spPr>
          <a:xfrm>
            <a:off x="581040" y="353988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Without radar, Britain relied on thousands of volunteers with binoculars. They phoned sightings into a central filter room.</a:t>
            </a:r>
            <a:endParaRPr b="0" lang="en-NZ" sz="1500" spc="-1" strike="noStrike">
              <a:latin typeface="Arial"/>
            </a:endParaRPr>
          </a:p>
        </p:txBody>
      </p:sp>
      <p:sp>
        <p:nvSpPr>
          <p:cNvPr id="130" name="Google Shape;135;p16"/>
          <p:cNvSpPr/>
          <p:nvPr/>
        </p:nvSpPr>
        <p:spPr>
          <a:xfrm>
            <a:off x="581040" y="4587480"/>
            <a:ext cx="532332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Fatal Flaw:</a:t>
            </a:r>
            <a:r>
              <a:rPr b="0" lang="en-US" sz="1500" spc="-1" strike="noStrike">
                <a:solidFill>
                  <a:srgbClr val="cbd5e1"/>
                </a:solidFill>
                <a:latin typeface="Inter"/>
                <a:ea typeface="Inter"/>
              </a:rPr>
              <a:t> Useless at night or in cloud cover.</a:t>
            </a:r>
            <a:endParaRPr b="0" lang="en-NZ" sz="1500" spc="-1" strike="noStrike">
              <a:latin typeface="Arial"/>
            </a:endParaRPr>
          </a:p>
        </p:txBody>
      </p:sp>
      <p:pic>
        <p:nvPicPr>
          <p:cNvPr id="131" name="Google Shape;136;p16"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2" name="Google Shape;141;p17" descr="image.png"/>
          <p:cNvPicPr/>
          <p:nvPr/>
        </p:nvPicPr>
        <p:blipFill>
          <a:blip r:embed="rId1"/>
          <a:stretch/>
        </p:blipFill>
        <p:spPr>
          <a:xfrm>
            <a:off x="720" y="0"/>
            <a:ext cx="12191040" cy="6856920"/>
          </a:xfrm>
          <a:prstGeom prst="rect">
            <a:avLst/>
          </a:prstGeom>
          <a:ln w="0">
            <a:noFill/>
          </a:ln>
        </p:spPr>
      </p:pic>
      <p:pic>
        <p:nvPicPr>
          <p:cNvPr id="133" name="Google Shape;143;p17" descr="image.png"/>
          <p:cNvPicPr/>
          <p:nvPr/>
        </p:nvPicPr>
        <p:blipFill>
          <a:blip r:embed="rId2"/>
          <a:stretch/>
        </p:blipFill>
        <p:spPr>
          <a:xfrm>
            <a:off x="9360" y="9360"/>
            <a:ext cx="12171960" cy="265680"/>
          </a:xfrm>
          <a:prstGeom prst="rect">
            <a:avLst/>
          </a:prstGeom>
          <a:ln w="0">
            <a:noFill/>
          </a:ln>
        </p:spPr>
      </p:pic>
      <p:pic>
        <p:nvPicPr>
          <p:cNvPr id="134" name="Google Shape;144;p17" descr="image.png"/>
          <p:cNvPicPr/>
          <p:nvPr/>
        </p:nvPicPr>
        <p:blipFill>
          <a:blip r:embed="rId3"/>
          <a:stretch/>
        </p:blipFill>
        <p:spPr>
          <a:xfrm>
            <a:off x="9360" y="6581880"/>
            <a:ext cx="12171960" cy="265680"/>
          </a:xfrm>
          <a:prstGeom prst="rect">
            <a:avLst/>
          </a:prstGeom>
          <a:ln w="0">
            <a:noFill/>
          </a:ln>
        </p:spPr>
      </p:pic>
      <p:sp>
        <p:nvSpPr>
          <p:cNvPr id="135" name="Google Shape;145;p17"/>
          <p:cNvSpPr/>
          <p:nvPr/>
        </p:nvSpPr>
        <p:spPr>
          <a:xfrm>
            <a:off x="581040" y="492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History</a:t>
            </a:r>
            <a:endParaRPr b="0" lang="en-NZ" sz="2400" spc="-1" strike="noStrike">
              <a:latin typeface="Arial"/>
            </a:endParaRPr>
          </a:p>
        </p:txBody>
      </p:sp>
      <p:sp>
        <p:nvSpPr>
          <p:cNvPr id="136" name="Google Shape;146;p17"/>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37" name="TextBox 136"/>
          <p:cNvSpPr/>
          <p:nvPr/>
        </p:nvSpPr>
        <p:spPr>
          <a:xfrm>
            <a:off x="350280" y="1008000"/>
            <a:ext cx="11709360" cy="51822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NZ" sz="1300" spc="-1" strike="noStrike">
                <a:solidFill>
                  <a:srgbClr val="ffffff"/>
                </a:solidFill>
                <a:latin typeface="Inter"/>
                <a:ea typeface="DejaVu Sans"/>
              </a:rPr>
              <a:t>1900</a:t>
            </a:r>
            <a:r>
              <a:rPr b="0" lang="en-NZ" sz="1300" spc="-1" strike="noStrike">
                <a:solidFill>
                  <a:srgbClr val="ffffff"/>
                </a:solidFill>
                <a:latin typeface="Inter"/>
                <a:ea typeface="DejaVu Sans"/>
              </a:rPr>
              <a:t> Nicola Tesla suggested that the reflection of electromagnetic waves could be used for detecting of moving metallic objects.</a:t>
            </a:r>
            <a:endParaRPr b="0" lang="en-NZ" sz="1300" spc="-1" strike="noStrike">
              <a:latin typeface="Arial"/>
            </a:endParaRPr>
          </a:p>
          <a:p>
            <a:pPr>
              <a:lnSpc>
                <a:spcPct val="100000"/>
              </a:lnSpc>
            </a:pPr>
            <a:endParaRPr b="0" lang="en-NZ" sz="1300" spc="-1" strike="noStrike">
              <a:latin typeface="Arial"/>
            </a:endParaRPr>
          </a:p>
          <a:p>
            <a:pPr>
              <a:lnSpc>
                <a:spcPct val="100000"/>
              </a:lnSpc>
            </a:pPr>
            <a:r>
              <a:rPr b="1" lang="en-NZ" sz="1300" spc="-1" strike="noStrike">
                <a:solidFill>
                  <a:srgbClr val="ffffff"/>
                </a:solidFill>
                <a:latin typeface="Inter"/>
                <a:ea typeface="DejaVu Sans"/>
              </a:rPr>
              <a:t>1904</a:t>
            </a:r>
            <a:r>
              <a:rPr b="0" lang="en-NZ" sz="1300" spc="-1" strike="noStrike">
                <a:solidFill>
                  <a:srgbClr val="ffffff"/>
                </a:solidFill>
                <a:latin typeface="Inter"/>
                <a:ea typeface="DejaVu Sans"/>
              </a:rPr>
              <a:t> The German engineer Christian Hülsmeyer invents the "telemobiloscope" for a traffic monitoring on the water in poor visibility. This is the first practical radar test. Hülsmeyer apply his invention for a patent in Germany, France and the United Kingdom.</a:t>
            </a:r>
            <a:endParaRPr b="0" lang="en-NZ" sz="1300" spc="-1" strike="noStrike">
              <a:latin typeface="Arial"/>
            </a:endParaRPr>
          </a:p>
          <a:p>
            <a:pPr>
              <a:lnSpc>
                <a:spcPct val="100000"/>
              </a:lnSpc>
            </a:pPr>
            <a:endParaRPr b="0" lang="en-NZ" sz="1300" spc="-1" strike="noStrike">
              <a:latin typeface="Arial"/>
            </a:endParaRPr>
          </a:p>
          <a:p>
            <a:pPr>
              <a:lnSpc>
                <a:spcPct val="100000"/>
              </a:lnSpc>
            </a:pPr>
            <a:r>
              <a:rPr b="1" lang="en-NZ" sz="1300" spc="-1" strike="noStrike">
                <a:solidFill>
                  <a:srgbClr val="ffffff"/>
                </a:solidFill>
                <a:latin typeface="Inter"/>
                <a:ea typeface="DejaVu Sans"/>
              </a:rPr>
              <a:t>1921</a:t>
            </a:r>
            <a:r>
              <a:rPr b="0" lang="en-NZ" sz="1300" spc="-1" strike="noStrike">
                <a:solidFill>
                  <a:srgbClr val="ffffff"/>
                </a:solidFill>
                <a:latin typeface="Inter"/>
                <a:ea typeface="DejaVu Sans"/>
              </a:rPr>
              <a:t> The invention of the Magnetron as an efficient transmitting tube by the US-american physicist Albert Wallace Hull.</a:t>
            </a:r>
            <a:endParaRPr b="0" lang="en-NZ" sz="1300" spc="-1" strike="noStrike">
              <a:latin typeface="Arial"/>
            </a:endParaRPr>
          </a:p>
          <a:p>
            <a:pPr>
              <a:lnSpc>
                <a:spcPct val="100000"/>
              </a:lnSpc>
            </a:pPr>
            <a:endParaRPr b="0" lang="en-NZ" sz="1300" spc="-1" strike="noStrike">
              <a:latin typeface="Arial"/>
            </a:endParaRPr>
          </a:p>
          <a:p>
            <a:pPr>
              <a:lnSpc>
                <a:spcPct val="100000"/>
              </a:lnSpc>
            </a:pPr>
            <a:r>
              <a:rPr b="1" lang="en-NZ" sz="1300" spc="-1" strike="noStrike">
                <a:solidFill>
                  <a:srgbClr val="ffffff"/>
                </a:solidFill>
                <a:latin typeface="Inter"/>
                <a:ea typeface="DejaVu Sans"/>
              </a:rPr>
              <a:t>1922</a:t>
            </a:r>
            <a:r>
              <a:rPr b="0" lang="en-NZ" sz="1300" spc="-1" strike="noStrike">
                <a:solidFill>
                  <a:srgbClr val="ffffff"/>
                </a:solidFill>
                <a:latin typeface="Inter"/>
                <a:ea typeface="DejaVu Sans"/>
              </a:rPr>
              <a:t> The American electrical engineers Albert H. Taylor and Leo C. Young of the Naval Research Laboratory (USA) locate a wooden ship for the first time.</a:t>
            </a:r>
            <a:endParaRPr b="0" lang="en-NZ" sz="1300" spc="-1" strike="noStrike">
              <a:latin typeface="Arial"/>
            </a:endParaRPr>
          </a:p>
          <a:p>
            <a:pPr>
              <a:lnSpc>
                <a:spcPct val="100000"/>
              </a:lnSpc>
            </a:pPr>
            <a:endParaRPr b="0" lang="en-NZ" sz="1300" spc="-1" strike="noStrike">
              <a:latin typeface="Arial"/>
            </a:endParaRPr>
          </a:p>
          <a:p>
            <a:pPr>
              <a:lnSpc>
                <a:spcPct val="100000"/>
              </a:lnSpc>
            </a:pPr>
            <a:r>
              <a:rPr b="1" lang="en-NZ" sz="1300" spc="-1" strike="noStrike">
                <a:solidFill>
                  <a:srgbClr val="ffffff"/>
                </a:solidFill>
                <a:latin typeface="Inter"/>
                <a:ea typeface="DejaVu Sans"/>
              </a:rPr>
              <a:t>1930</a:t>
            </a:r>
            <a:r>
              <a:rPr b="0" lang="en-NZ" sz="1300" spc="-1" strike="noStrike">
                <a:solidFill>
                  <a:srgbClr val="ffffff"/>
                </a:solidFill>
                <a:latin typeface="Inter"/>
                <a:ea typeface="DejaVu Sans"/>
              </a:rPr>
              <a:t> Lawrence A. Hyland (also of the Naval Research Laboratory), locates an aircraft for the first time.</a:t>
            </a:r>
            <a:endParaRPr b="0" lang="en-NZ" sz="1300" spc="-1" strike="noStrike">
              <a:latin typeface="Arial"/>
            </a:endParaRPr>
          </a:p>
          <a:p>
            <a:pPr>
              <a:lnSpc>
                <a:spcPct val="100000"/>
              </a:lnSpc>
            </a:pPr>
            <a:endParaRPr b="0" lang="en-NZ" sz="1300" spc="-1" strike="noStrike">
              <a:latin typeface="Arial"/>
            </a:endParaRPr>
          </a:p>
          <a:p>
            <a:pPr>
              <a:lnSpc>
                <a:spcPct val="100000"/>
              </a:lnSpc>
            </a:pPr>
            <a:r>
              <a:rPr b="1" lang="en-NZ" sz="1300" spc="-1" strike="noStrike">
                <a:solidFill>
                  <a:srgbClr val="ffffff"/>
                </a:solidFill>
                <a:latin typeface="Inter"/>
                <a:ea typeface="DejaVu Sans"/>
              </a:rPr>
              <a:t>1931</a:t>
            </a:r>
            <a:r>
              <a:rPr b="0" lang="en-NZ" sz="1300" spc="-1" strike="noStrike">
                <a:solidFill>
                  <a:srgbClr val="ffffff"/>
                </a:solidFill>
                <a:latin typeface="Inter"/>
                <a:ea typeface="DejaVu Sans"/>
              </a:rPr>
              <a:t> In Britain the first known proposal for radar system came from William A. S. Butement and P. E. Pollard in January 1931. They equipped a ship with radar. As antennas were used parabolic dishes with horn radiator. Although their equipment produced short-range results the work was abandoned for lack of government support.</a:t>
            </a:r>
            <a:endParaRPr b="0" lang="en-NZ" sz="1300" spc="-1" strike="noStrike">
              <a:latin typeface="Arial"/>
            </a:endParaRPr>
          </a:p>
          <a:p>
            <a:pPr>
              <a:lnSpc>
                <a:spcPct val="100000"/>
              </a:lnSpc>
            </a:pPr>
            <a:endParaRPr b="0" lang="en-NZ" sz="1300" spc="-1" strike="noStrike">
              <a:latin typeface="Arial"/>
            </a:endParaRPr>
          </a:p>
          <a:p>
            <a:pPr>
              <a:lnSpc>
                <a:spcPct val="100000"/>
              </a:lnSpc>
            </a:pPr>
            <a:r>
              <a:rPr b="1" lang="en-NZ" sz="1300" spc="-1" strike="noStrike">
                <a:solidFill>
                  <a:srgbClr val="ffffff"/>
                </a:solidFill>
                <a:latin typeface="Inter"/>
                <a:ea typeface="DejaVu Sans"/>
              </a:rPr>
              <a:t>1933</a:t>
            </a:r>
            <a:r>
              <a:rPr b="0" lang="en-NZ" sz="1300" spc="-1" strike="noStrike">
                <a:solidFill>
                  <a:srgbClr val="ffffff"/>
                </a:solidFill>
                <a:latin typeface="Inter"/>
                <a:ea typeface="DejaVu Sans"/>
              </a:rPr>
              <a:t> On the basis of the in 1931 from himself invented sonar, Rudolph Kühnhold presented a so-called “Funkmessgerät”. It worked on a wavelength of 48 cm and the transmitter had a power of about 40 Watts. From these tests, the Freya-radar was developed, which was produced in series beginning in 1938.</a:t>
            </a:r>
            <a:endParaRPr b="0" lang="en-NZ" sz="1300" spc="-1" strike="noStrike">
              <a:latin typeface="Arial"/>
            </a:endParaRPr>
          </a:p>
          <a:p>
            <a:pPr>
              <a:lnSpc>
                <a:spcPct val="100000"/>
              </a:lnSpc>
            </a:pPr>
            <a:endParaRPr b="0" lang="en-NZ" sz="1300" spc="-1" strike="noStrike">
              <a:latin typeface="Arial"/>
            </a:endParaRPr>
          </a:p>
          <a:p>
            <a:pPr>
              <a:lnSpc>
                <a:spcPct val="100000"/>
              </a:lnSpc>
            </a:pPr>
            <a:r>
              <a:rPr b="1" lang="en-NZ" sz="1300" spc="-1" strike="noStrike">
                <a:solidFill>
                  <a:srgbClr val="ffffff"/>
                </a:solidFill>
                <a:latin typeface="Inter"/>
                <a:ea typeface="DejaVu Sans"/>
              </a:rPr>
              <a:t>1935</a:t>
            </a:r>
            <a:r>
              <a:rPr b="0" lang="en-NZ" sz="1300" spc="-1" strike="noStrike">
                <a:solidFill>
                  <a:srgbClr val="ffffff"/>
                </a:solidFill>
                <a:latin typeface="Inter"/>
                <a:ea typeface="DejaVu Sans"/>
              </a:rPr>
              <a:t> Robert Watson-Watt (later: Sir Robert) suggested that radio waves might be used to detect aircraft at a distance and outlined a means of doing so. Intensive research began and by 1939 Britain possessed a defensive chain of highly secret Radio Direction Finding (RDF) stations.</a:t>
            </a:r>
            <a:endParaRPr b="0" lang="en-NZ" sz="13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8" name="Google Shape;141;p17_0" descr="image.png"/>
          <p:cNvPicPr/>
          <p:nvPr/>
        </p:nvPicPr>
        <p:blipFill>
          <a:blip r:embed="rId1"/>
          <a:stretch/>
        </p:blipFill>
        <p:spPr>
          <a:xfrm>
            <a:off x="9360" y="0"/>
            <a:ext cx="12191040" cy="6856920"/>
          </a:xfrm>
          <a:prstGeom prst="rect">
            <a:avLst/>
          </a:prstGeom>
          <a:ln w="0">
            <a:noFill/>
          </a:ln>
        </p:spPr>
      </p:pic>
      <p:pic>
        <p:nvPicPr>
          <p:cNvPr id="139" name="Google Shape;142;p17_1" descr="image.png"/>
          <p:cNvPicPr/>
          <p:nvPr/>
        </p:nvPicPr>
        <p:blipFill>
          <a:blip r:embed="rId2"/>
          <a:stretch/>
        </p:blipFill>
        <p:spPr>
          <a:xfrm>
            <a:off x="3060000" y="2608920"/>
            <a:ext cx="8550000" cy="2970360"/>
          </a:xfrm>
          <a:prstGeom prst="rect">
            <a:avLst/>
          </a:prstGeom>
          <a:ln w="0">
            <a:noFill/>
          </a:ln>
        </p:spPr>
      </p:pic>
      <p:pic>
        <p:nvPicPr>
          <p:cNvPr id="140" name="Google Shape;143;p17_1" descr="image.png"/>
          <p:cNvPicPr/>
          <p:nvPr/>
        </p:nvPicPr>
        <p:blipFill>
          <a:blip r:embed="rId3"/>
          <a:stretch/>
        </p:blipFill>
        <p:spPr>
          <a:xfrm>
            <a:off x="9360" y="9360"/>
            <a:ext cx="12171960" cy="265680"/>
          </a:xfrm>
          <a:prstGeom prst="rect">
            <a:avLst/>
          </a:prstGeom>
          <a:ln w="0">
            <a:noFill/>
          </a:ln>
        </p:spPr>
      </p:pic>
      <p:pic>
        <p:nvPicPr>
          <p:cNvPr id="141" name="Google Shape;144;p17_1" descr="image.png"/>
          <p:cNvPicPr/>
          <p:nvPr/>
        </p:nvPicPr>
        <p:blipFill>
          <a:blip r:embed="rId4"/>
          <a:stretch/>
        </p:blipFill>
        <p:spPr>
          <a:xfrm>
            <a:off x="9360" y="6581880"/>
            <a:ext cx="12171960" cy="265680"/>
          </a:xfrm>
          <a:prstGeom prst="rect">
            <a:avLst/>
          </a:prstGeom>
          <a:ln w="0">
            <a:noFill/>
          </a:ln>
        </p:spPr>
      </p:pic>
      <p:sp>
        <p:nvSpPr>
          <p:cNvPr id="142" name="Google Shape;145;p17_1"/>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"Death Ray" Myth</a:t>
            </a:r>
            <a:endParaRPr b="0" lang="en-NZ" sz="2400" spc="-1" strike="noStrike">
              <a:latin typeface="Arial"/>
            </a:endParaRPr>
          </a:p>
        </p:txBody>
      </p:sp>
      <p:sp>
        <p:nvSpPr>
          <p:cNvPr id="143" name="Google Shape;146;p17_1"/>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44" name="Google Shape;147;p17_1"/>
          <p:cNvSpPr/>
          <p:nvPr/>
        </p:nvSpPr>
        <p:spPr>
          <a:xfrm>
            <a:off x="3240000" y="2987280"/>
            <a:ext cx="87015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1935: A Critical Pivot</a:t>
            </a:r>
            <a:endParaRPr b="0" lang="en-NZ" sz="1410" spc="-1" strike="noStrike">
              <a:latin typeface="Arial"/>
            </a:endParaRPr>
          </a:p>
        </p:txBody>
      </p:sp>
      <p:sp>
        <p:nvSpPr>
          <p:cNvPr id="145" name="Google Shape;148;p17_1"/>
          <p:cNvSpPr/>
          <p:nvPr/>
        </p:nvSpPr>
        <p:spPr>
          <a:xfrm>
            <a:off x="3240000" y="3396960"/>
            <a:ext cx="81702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British Air Ministry asked Robert Watson-Watt if radio waves could boil a pilot's blood (a Death Ray).</a:t>
            </a:r>
            <a:endParaRPr b="0" lang="en-NZ" sz="1500" spc="-1" strike="noStrike">
              <a:latin typeface="Arial"/>
            </a:endParaRPr>
          </a:p>
        </p:txBody>
      </p:sp>
      <p:sp>
        <p:nvSpPr>
          <p:cNvPr id="146" name="Google Shape;149;p17_1"/>
          <p:cNvSpPr/>
          <p:nvPr/>
        </p:nvSpPr>
        <p:spPr>
          <a:xfrm>
            <a:off x="3240000" y="4254120"/>
            <a:ext cx="81702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The Calculation:</a:t>
            </a:r>
            <a:r>
              <a:rPr b="0" lang="en-US" sz="1500" spc="-1" strike="noStrike">
                <a:solidFill>
                  <a:srgbClr val="cbd5e1"/>
                </a:solidFill>
                <a:latin typeface="Inter"/>
                <a:ea typeface="Inter"/>
              </a:rPr>
              <a:t> Power requirements were impossible.</a:t>
            </a:r>
            <a:endParaRPr b="0" lang="en-NZ" sz="1500" spc="-1" strike="noStrike">
              <a:latin typeface="Arial"/>
            </a:endParaRPr>
          </a:p>
        </p:txBody>
      </p:sp>
      <p:sp>
        <p:nvSpPr>
          <p:cNvPr id="147" name="Google Shape;150;p17_1"/>
          <p:cNvSpPr/>
          <p:nvPr/>
        </p:nvSpPr>
        <p:spPr>
          <a:xfrm>
            <a:off x="3240000" y="4730400"/>
            <a:ext cx="81702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The Solution:</a:t>
            </a:r>
            <a:r>
              <a:rPr b="0" lang="en-US" sz="1500" spc="-1" strike="noStrike">
                <a:solidFill>
                  <a:srgbClr val="cbd5e1"/>
                </a:solidFill>
                <a:latin typeface="Inter"/>
                <a:ea typeface="Inter"/>
              </a:rPr>
              <a:t> "But," Watson-Watt said, "if you send a pulse, I can detect the </a:t>
            </a:r>
            <a:r>
              <a:rPr b="0" i="1" lang="en-US" sz="1500" spc="-1" strike="noStrike">
                <a:solidFill>
                  <a:srgbClr val="cbd5e1"/>
                </a:solidFill>
                <a:latin typeface="Inter"/>
                <a:ea typeface="Inter"/>
              </a:rPr>
              <a:t>reflection</a:t>
            </a:r>
            <a:r>
              <a:rPr b="0" lang="en-US" sz="1500" spc="-1" strike="noStrike">
                <a:solidFill>
                  <a:srgbClr val="cbd5e1"/>
                </a:solidFill>
                <a:latin typeface="Inter"/>
                <a:ea typeface="Inter"/>
              </a:rPr>
              <a:t>."</a:t>
            </a:r>
            <a:endParaRPr b="0" lang="en-NZ" sz="1500" spc="-1" strike="noStrike">
              <a:latin typeface="Arial"/>
            </a:endParaRPr>
          </a:p>
        </p:txBody>
      </p:sp>
      <p:pic>
        <p:nvPicPr>
          <p:cNvPr id="148" name="Picture 147" descr=""/>
          <p:cNvPicPr/>
          <p:nvPr/>
        </p:nvPicPr>
        <p:blipFill>
          <a:blip r:embed="rId5"/>
          <a:stretch/>
        </p:blipFill>
        <p:spPr>
          <a:xfrm>
            <a:off x="55440" y="3060000"/>
            <a:ext cx="2823840" cy="19792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9" name="Google Shape;155;p18" descr="image.png"/>
          <p:cNvPicPr/>
          <p:nvPr/>
        </p:nvPicPr>
        <p:blipFill>
          <a:blip r:embed="rId1"/>
          <a:stretch/>
        </p:blipFill>
        <p:spPr>
          <a:xfrm>
            <a:off x="0" y="0"/>
            <a:ext cx="12191040" cy="6856920"/>
          </a:xfrm>
          <a:prstGeom prst="rect">
            <a:avLst/>
          </a:prstGeom>
          <a:ln w="0">
            <a:noFill/>
          </a:ln>
        </p:spPr>
      </p:pic>
      <p:pic>
        <p:nvPicPr>
          <p:cNvPr id="150" name="Google Shape;156;p18" descr="image.png"/>
          <p:cNvPicPr/>
          <p:nvPr/>
        </p:nvPicPr>
        <p:blipFill>
          <a:blip r:embed="rId2"/>
          <a:stretch/>
        </p:blipFill>
        <p:spPr>
          <a:xfrm>
            <a:off x="3600000" y="2729520"/>
            <a:ext cx="8010000" cy="3029760"/>
          </a:xfrm>
          <a:prstGeom prst="rect">
            <a:avLst/>
          </a:prstGeom>
          <a:ln w="0">
            <a:noFill/>
          </a:ln>
        </p:spPr>
      </p:pic>
      <p:pic>
        <p:nvPicPr>
          <p:cNvPr id="151" name="Google Shape;157;p18" descr="image.png"/>
          <p:cNvPicPr/>
          <p:nvPr/>
        </p:nvPicPr>
        <p:blipFill>
          <a:blip r:embed="rId3"/>
          <a:stretch/>
        </p:blipFill>
        <p:spPr>
          <a:xfrm>
            <a:off x="9360" y="9360"/>
            <a:ext cx="12171960" cy="265680"/>
          </a:xfrm>
          <a:prstGeom prst="rect">
            <a:avLst/>
          </a:prstGeom>
          <a:ln w="0">
            <a:noFill/>
          </a:ln>
        </p:spPr>
      </p:pic>
      <p:pic>
        <p:nvPicPr>
          <p:cNvPr id="152" name="Google Shape;158;p18" descr="image.png"/>
          <p:cNvPicPr/>
          <p:nvPr/>
        </p:nvPicPr>
        <p:blipFill>
          <a:blip r:embed="rId4"/>
          <a:stretch/>
        </p:blipFill>
        <p:spPr>
          <a:xfrm>
            <a:off x="9360" y="6581880"/>
            <a:ext cx="12171960" cy="265680"/>
          </a:xfrm>
          <a:prstGeom prst="rect">
            <a:avLst/>
          </a:prstGeom>
          <a:ln w="0">
            <a:noFill/>
          </a:ln>
        </p:spPr>
      </p:pic>
      <p:sp>
        <p:nvSpPr>
          <p:cNvPr id="153" name="Google Shape;159;p18"/>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Proof of Concept: Daventry</a:t>
            </a:r>
            <a:endParaRPr b="0" lang="en-NZ" sz="2400" spc="-1" strike="noStrike">
              <a:latin typeface="Arial"/>
            </a:endParaRPr>
          </a:p>
        </p:txBody>
      </p:sp>
      <p:sp>
        <p:nvSpPr>
          <p:cNvPr id="154" name="Google Shape;160;p18"/>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55" name="Google Shape;161;p18"/>
          <p:cNvSpPr/>
          <p:nvPr/>
        </p:nvSpPr>
        <p:spPr>
          <a:xfrm>
            <a:off x="4140000" y="3107520"/>
            <a:ext cx="78015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February 26, 1935</a:t>
            </a:r>
            <a:endParaRPr b="0" lang="en-NZ" sz="1410" spc="-1" strike="noStrike">
              <a:latin typeface="Arial"/>
            </a:endParaRPr>
          </a:p>
        </p:txBody>
      </p:sp>
      <p:sp>
        <p:nvSpPr>
          <p:cNvPr id="156" name="Google Shape;162;p18"/>
          <p:cNvSpPr/>
          <p:nvPr/>
        </p:nvSpPr>
        <p:spPr>
          <a:xfrm>
            <a:off x="4140000" y="3504960"/>
            <a:ext cx="726984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Source:</a:t>
            </a:r>
            <a:r>
              <a:rPr b="0" lang="en-US" sz="1500" spc="-1" strike="noStrike">
                <a:solidFill>
                  <a:srgbClr val="cbd5e1"/>
                </a:solidFill>
                <a:latin typeface="Inter"/>
                <a:ea typeface="Inter"/>
              </a:rPr>
              <a:t> BBC Shortwave transmitter at Daventry.</a:t>
            </a:r>
            <a:endParaRPr b="0" lang="en-NZ" sz="1500" spc="-1" strike="noStrike">
              <a:latin typeface="Arial"/>
            </a:endParaRPr>
          </a:p>
        </p:txBody>
      </p:sp>
      <p:sp>
        <p:nvSpPr>
          <p:cNvPr id="157" name="Google Shape;163;p18"/>
          <p:cNvSpPr/>
          <p:nvPr/>
        </p:nvSpPr>
        <p:spPr>
          <a:xfrm>
            <a:off x="4140000" y="3886200"/>
            <a:ext cx="726984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Target:</a:t>
            </a:r>
            <a:r>
              <a:rPr b="0" lang="en-US" sz="1500" spc="-1" strike="noStrike">
                <a:solidFill>
                  <a:srgbClr val="cbd5e1"/>
                </a:solidFill>
                <a:latin typeface="Inter"/>
                <a:ea typeface="Inter"/>
              </a:rPr>
              <a:t> Heyford bomber flying in the beam.</a:t>
            </a:r>
            <a:endParaRPr b="0" lang="en-NZ" sz="1500" spc="-1" strike="noStrike">
              <a:latin typeface="Arial"/>
            </a:endParaRPr>
          </a:p>
        </p:txBody>
      </p:sp>
      <p:sp>
        <p:nvSpPr>
          <p:cNvPr id="158" name="Google Shape;164;p18"/>
          <p:cNvSpPr/>
          <p:nvPr/>
        </p:nvSpPr>
        <p:spPr>
          <a:xfrm>
            <a:off x="4140000" y="4267080"/>
            <a:ext cx="726984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Result:</a:t>
            </a:r>
            <a:r>
              <a:rPr b="0" lang="en-US" sz="1500" spc="-1" strike="noStrike">
                <a:solidFill>
                  <a:srgbClr val="cbd5e1"/>
                </a:solidFill>
                <a:latin typeface="Inter"/>
                <a:ea typeface="Inter"/>
              </a:rPr>
              <a:t> A distinct oscillation on a cathode ray tube caused by the aircraft's interference pattern.</a:t>
            </a:r>
            <a:endParaRPr b="0" lang="en-NZ" sz="1500" spc="-1" strike="noStrike">
              <a:latin typeface="Arial"/>
            </a:endParaRPr>
          </a:p>
        </p:txBody>
      </p:sp>
      <p:sp>
        <p:nvSpPr>
          <p:cNvPr id="159" name="Google Shape;165;p18"/>
          <p:cNvSpPr/>
          <p:nvPr/>
        </p:nvSpPr>
        <p:spPr>
          <a:xfrm>
            <a:off x="4140000" y="4935960"/>
            <a:ext cx="726984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Significance:</a:t>
            </a:r>
            <a:r>
              <a:rPr b="0" lang="en-US" sz="1500" spc="-1" strike="noStrike">
                <a:solidFill>
                  <a:srgbClr val="cbd5e1"/>
                </a:solidFill>
                <a:latin typeface="Inter"/>
                <a:ea typeface="Inter"/>
              </a:rPr>
              <a:t> The birth of practical RAdio Detection And Ranging.</a:t>
            </a:r>
            <a:endParaRPr b="0" lang="en-NZ" sz="1500" spc="-1" strike="noStrike">
              <a:latin typeface="Arial"/>
            </a:endParaRPr>
          </a:p>
        </p:txBody>
      </p:sp>
      <p:sp>
        <p:nvSpPr>
          <p:cNvPr id="160" name="Google Shape;166;p18"/>
          <p:cNvSpPr/>
          <p:nvPr/>
        </p:nvSpPr>
        <p:spPr>
          <a:xfrm>
            <a:off x="3733200" y="350496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
        <p:nvSpPr>
          <p:cNvPr id="161" name="Google Shape;167;p18"/>
          <p:cNvSpPr/>
          <p:nvPr/>
        </p:nvSpPr>
        <p:spPr>
          <a:xfrm>
            <a:off x="3733200" y="388620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
        <p:nvSpPr>
          <p:cNvPr id="162" name="Google Shape;168;p18"/>
          <p:cNvSpPr/>
          <p:nvPr/>
        </p:nvSpPr>
        <p:spPr>
          <a:xfrm>
            <a:off x="3733200" y="426708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
        <p:nvSpPr>
          <p:cNvPr id="163" name="Google Shape;169;p18"/>
          <p:cNvSpPr/>
          <p:nvPr/>
        </p:nvSpPr>
        <p:spPr>
          <a:xfrm>
            <a:off x="3733200" y="493596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pic>
        <p:nvPicPr>
          <p:cNvPr id="164" name="Picture 163" descr=""/>
          <p:cNvPicPr/>
          <p:nvPr/>
        </p:nvPicPr>
        <p:blipFill>
          <a:blip r:embed="rId5"/>
          <a:stretch/>
        </p:blipFill>
        <p:spPr>
          <a:xfrm>
            <a:off x="240480" y="3240000"/>
            <a:ext cx="3178800" cy="21956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 name="Google Shape;174;p19" descr="image.png"/>
          <p:cNvPicPr/>
          <p:nvPr/>
        </p:nvPicPr>
        <p:blipFill>
          <a:blip r:embed="rId1"/>
          <a:stretch/>
        </p:blipFill>
        <p:spPr>
          <a:xfrm>
            <a:off x="0" y="0"/>
            <a:ext cx="12191040" cy="6856920"/>
          </a:xfrm>
          <a:prstGeom prst="rect">
            <a:avLst/>
          </a:prstGeom>
          <a:ln w="0">
            <a:noFill/>
          </a:ln>
        </p:spPr>
      </p:pic>
      <p:pic>
        <p:nvPicPr>
          <p:cNvPr id="166" name="Google Shape;176;p19" descr="image.png"/>
          <p:cNvPicPr/>
          <p:nvPr/>
        </p:nvPicPr>
        <p:blipFill>
          <a:blip r:embed="rId2"/>
          <a:stretch/>
        </p:blipFill>
        <p:spPr>
          <a:xfrm>
            <a:off x="9360" y="9360"/>
            <a:ext cx="12171960" cy="265680"/>
          </a:xfrm>
          <a:prstGeom prst="rect">
            <a:avLst/>
          </a:prstGeom>
          <a:ln w="0">
            <a:noFill/>
          </a:ln>
        </p:spPr>
      </p:pic>
      <p:pic>
        <p:nvPicPr>
          <p:cNvPr id="167" name="Google Shape;177;p19" descr="image.png"/>
          <p:cNvPicPr/>
          <p:nvPr/>
        </p:nvPicPr>
        <p:blipFill>
          <a:blip r:embed="rId3"/>
          <a:stretch/>
        </p:blipFill>
        <p:spPr>
          <a:xfrm>
            <a:off x="9360" y="6581880"/>
            <a:ext cx="12171960" cy="265680"/>
          </a:xfrm>
          <a:prstGeom prst="rect">
            <a:avLst/>
          </a:prstGeom>
          <a:ln w="0">
            <a:noFill/>
          </a:ln>
        </p:spPr>
      </p:pic>
      <p:sp>
        <p:nvSpPr>
          <p:cNvPr id="168" name="Google Shape;178;p19"/>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Chain Home (1937)</a:t>
            </a:r>
            <a:endParaRPr b="0" lang="en-NZ" sz="2400" spc="-1" strike="noStrike">
              <a:latin typeface="Arial"/>
            </a:endParaRPr>
          </a:p>
        </p:txBody>
      </p:sp>
      <p:sp>
        <p:nvSpPr>
          <p:cNvPr id="169" name="Google Shape;179;p19"/>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70" name="Google Shape;181;p19"/>
          <p:cNvSpPr/>
          <p:nvPr/>
        </p:nvSpPr>
        <p:spPr>
          <a:xfrm>
            <a:off x="628668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First Network</a:t>
            </a:r>
            <a:endParaRPr b="0" lang="en-NZ" sz="1410" spc="-1" strike="noStrike">
              <a:latin typeface="Arial"/>
            </a:endParaRPr>
          </a:p>
        </p:txBody>
      </p:sp>
      <p:sp>
        <p:nvSpPr>
          <p:cNvPr id="171" name="Google Shape;182;p19"/>
          <p:cNvSpPr/>
          <p:nvPr/>
        </p:nvSpPr>
        <p:spPr>
          <a:xfrm>
            <a:off x="6286680" y="353988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These were not rotating dishes. They were massive steel towers that "floodlit" the entire sector with radio energy.</a:t>
            </a:r>
            <a:endParaRPr b="0" lang="en-NZ" sz="1500" spc="-1" strike="noStrike">
              <a:latin typeface="Arial"/>
            </a:endParaRPr>
          </a:p>
        </p:txBody>
      </p:sp>
      <p:sp>
        <p:nvSpPr>
          <p:cNvPr id="172" name="Google Shape;183;p19"/>
          <p:cNvSpPr/>
          <p:nvPr/>
        </p:nvSpPr>
        <p:spPr>
          <a:xfrm>
            <a:off x="6286680" y="448164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They operated on very low frequencies (HF), which required huge antennas to work.</a:t>
            </a:r>
            <a:endParaRPr b="0" lang="en-NZ" sz="1500" spc="-1" strike="noStrike">
              <a:latin typeface="Arial"/>
            </a:endParaRPr>
          </a:p>
        </p:txBody>
      </p:sp>
      <p:pic>
        <p:nvPicPr>
          <p:cNvPr id="173" name="Picture 172" descr=""/>
          <p:cNvPicPr/>
          <p:nvPr/>
        </p:nvPicPr>
        <p:blipFill>
          <a:blip r:embed="rId4"/>
          <a:stretch/>
        </p:blipFill>
        <p:spPr>
          <a:xfrm>
            <a:off x="543240" y="1800000"/>
            <a:ext cx="2518200" cy="1619280"/>
          </a:xfrm>
          <a:prstGeom prst="rect">
            <a:avLst/>
          </a:prstGeom>
          <a:ln w="0">
            <a:noFill/>
          </a:ln>
        </p:spPr>
      </p:pic>
      <p:pic>
        <p:nvPicPr>
          <p:cNvPr id="174" name="Picture 173" descr=""/>
          <p:cNvPicPr/>
          <p:nvPr/>
        </p:nvPicPr>
        <p:blipFill>
          <a:blip r:embed="rId5"/>
          <a:stretch/>
        </p:blipFill>
        <p:spPr>
          <a:xfrm>
            <a:off x="3304440" y="1800000"/>
            <a:ext cx="2316960" cy="1619280"/>
          </a:xfrm>
          <a:prstGeom prst="rect">
            <a:avLst/>
          </a:prstGeom>
          <a:ln w="0">
            <a:noFill/>
          </a:ln>
        </p:spPr>
      </p:pic>
      <p:pic>
        <p:nvPicPr>
          <p:cNvPr id="175" name="Picture 174" descr=""/>
          <p:cNvPicPr/>
          <p:nvPr/>
        </p:nvPicPr>
        <p:blipFill>
          <a:blip r:embed="rId6"/>
          <a:stretch/>
        </p:blipFill>
        <p:spPr>
          <a:xfrm>
            <a:off x="900000" y="3600000"/>
            <a:ext cx="3911760" cy="2874240"/>
          </a:xfrm>
          <a:prstGeom prst="rect">
            <a:avLst/>
          </a:prstGeom>
          <a:ln w="0">
            <a:noFill/>
          </a:ln>
        </p:spPr>
      </p:pic>
      <p:sp>
        <p:nvSpPr>
          <p:cNvPr id="176" name="TextBox 175"/>
          <p:cNvSpPr/>
          <p:nvPr/>
        </p:nvSpPr>
        <p:spPr>
          <a:xfrm>
            <a:off x="6053040" y="1833840"/>
            <a:ext cx="3818160" cy="342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410" spc="-1" strike="noStrike">
                <a:solidFill>
                  <a:srgbClr val="069a2e"/>
                </a:solidFill>
                <a:latin typeface="Inter"/>
                <a:ea typeface="Inter"/>
              </a:rPr>
              <a:t>RADAR: Radio Detection and Ranging</a:t>
            </a:r>
            <a:endParaRPr b="0" lang="en-NZ" sz="141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Google Shape;188;p20" descr="image.png"/>
          <p:cNvPicPr/>
          <p:nvPr/>
        </p:nvPicPr>
        <p:blipFill>
          <a:blip r:embed="rId1"/>
          <a:stretch/>
        </p:blipFill>
        <p:spPr>
          <a:xfrm>
            <a:off x="0" y="0"/>
            <a:ext cx="12191040" cy="6856920"/>
          </a:xfrm>
          <a:prstGeom prst="rect">
            <a:avLst/>
          </a:prstGeom>
          <a:ln w="0">
            <a:noFill/>
          </a:ln>
        </p:spPr>
      </p:pic>
      <p:pic>
        <p:nvPicPr>
          <p:cNvPr id="178" name="Google Shape;189;p20" descr="image.png"/>
          <p:cNvPicPr/>
          <p:nvPr/>
        </p:nvPicPr>
        <p:blipFill>
          <a:blip r:embed="rId2"/>
          <a:stretch/>
        </p:blipFill>
        <p:spPr>
          <a:xfrm>
            <a:off x="581040" y="2847240"/>
            <a:ext cx="3548520" cy="2320200"/>
          </a:xfrm>
          <a:prstGeom prst="rect">
            <a:avLst/>
          </a:prstGeom>
          <a:ln w="0">
            <a:noFill/>
          </a:ln>
        </p:spPr>
      </p:pic>
      <p:pic>
        <p:nvPicPr>
          <p:cNvPr id="179" name="Google Shape;190;p20" descr="image.png"/>
          <p:cNvPicPr/>
          <p:nvPr/>
        </p:nvPicPr>
        <p:blipFill>
          <a:blip r:embed="rId3"/>
          <a:stretch/>
        </p:blipFill>
        <p:spPr>
          <a:xfrm>
            <a:off x="4321080" y="2847240"/>
            <a:ext cx="3548520" cy="2320200"/>
          </a:xfrm>
          <a:prstGeom prst="rect">
            <a:avLst/>
          </a:prstGeom>
          <a:ln w="0">
            <a:noFill/>
          </a:ln>
        </p:spPr>
      </p:pic>
      <p:pic>
        <p:nvPicPr>
          <p:cNvPr id="180" name="Google Shape;191;p20" descr="image.png"/>
          <p:cNvPicPr/>
          <p:nvPr/>
        </p:nvPicPr>
        <p:blipFill>
          <a:blip r:embed="rId4"/>
          <a:stretch/>
        </p:blipFill>
        <p:spPr>
          <a:xfrm>
            <a:off x="8061120" y="2847240"/>
            <a:ext cx="3548520" cy="2320200"/>
          </a:xfrm>
          <a:prstGeom prst="rect">
            <a:avLst/>
          </a:prstGeom>
          <a:ln w="0">
            <a:noFill/>
          </a:ln>
        </p:spPr>
      </p:pic>
      <p:pic>
        <p:nvPicPr>
          <p:cNvPr id="181" name="Google Shape;192;p20" descr="image.png"/>
          <p:cNvPicPr/>
          <p:nvPr/>
        </p:nvPicPr>
        <p:blipFill>
          <a:blip r:embed="rId5"/>
          <a:stretch/>
        </p:blipFill>
        <p:spPr>
          <a:xfrm>
            <a:off x="9360" y="9360"/>
            <a:ext cx="12171960" cy="265680"/>
          </a:xfrm>
          <a:prstGeom prst="rect">
            <a:avLst/>
          </a:prstGeom>
          <a:ln w="0">
            <a:noFill/>
          </a:ln>
        </p:spPr>
      </p:pic>
      <p:pic>
        <p:nvPicPr>
          <p:cNvPr id="182" name="Google Shape;193;p20" descr="image.png"/>
          <p:cNvPicPr/>
          <p:nvPr/>
        </p:nvPicPr>
        <p:blipFill>
          <a:blip r:embed="rId6"/>
          <a:stretch/>
        </p:blipFill>
        <p:spPr>
          <a:xfrm>
            <a:off x="9360" y="6581880"/>
            <a:ext cx="12171960" cy="265680"/>
          </a:xfrm>
          <a:prstGeom prst="rect">
            <a:avLst/>
          </a:prstGeom>
          <a:ln w="0">
            <a:noFill/>
          </a:ln>
        </p:spPr>
      </p:pic>
      <p:sp>
        <p:nvSpPr>
          <p:cNvPr id="183" name="Google Shape;194;p20"/>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Radar Configurations</a:t>
            </a:r>
            <a:endParaRPr b="0" lang="en-NZ" sz="2400" spc="-1" strike="noStrike">
              <a:latin typeface="Arial"/>
            </a:endParaRPr>
          </a:p>
        </p:txBody>
      </p:sp>
      <p:sp>
        <p:nvSpPr>
          <p:cNvPr id="184" name="Google Shape;195;p20"/>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85" name="Google Shape;196;p20"/>
          <p:cNvSpPr/>
          <p:nvPr/>
        </p:nvSpPr>
        <p:spPr>
          <a:xfrm>
            <a:off x="781200" y="322524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Bistatic</a:t>
            </a:r>
            <a:endParaRPr b="0" lang="en-NZ" sz="1410" spc="-1" strike="noStrike">
              <a:latin typeface="Arial"/>
            </a:endParaRPr>
          </a:p>
        </p:txBody>
      </p:sp>
      <p:sp>
        <p:nvSpPr>
          <p:cNvPr id="186" name="Google Shape;197;p20"/>
          <p:cNvSpPr/>
          <p:nvPr/>
        </p:nvSpPr>
        <p:spPr>
          <a:xfrm>
            <a:off x="781200" y="3634920"/>
            <a:ext cx="3148560" cy="136908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Transmitter and Receiver are far apart (e.g., Chain Home). Complex geometry but receiver is isolated from high power.</a:t>
            </a:r>
            <a:endParaRPr b="0" lang="en-NZ" sz="1500" spc="-1" strike="noStrike">
              <a:latin typeface="Arial"/>
            </a:endParaRPr>
          </a:p>
        </p:txBody>
      </p:sp>
      <p:sp>
        <p:nvSpPr>
          <p:cNvPr id="187" name="Google Shape;198;p20"/>
          <p:cNvSpPr/>
          <p:nvPr/>
        </p:nvSpPr>
        <p:spPr>
          <a:xfrm>
            <a:off x="4521240" y="322524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Monostatic</a:t>
            </a:r>
            <a:endParaRPr b="0" lang="en-NZ" sz="1410" spc="-1" strike="noStrike">
              <a:latin typeface="Arial"/>
            </a:endParaRPr>
          </a:p>
        </p:txBody>
      </p:sp>
      <p:sp>
        <p:nvSpPr>
          <p:cNvPr id="188" name="Google Shape;199;p20"/>
          <p:cNvSpPr/>
          <p:nvPr/>
        </p:nvSpPr>
        <p:spPr>
          <a:xfrm>
            <a:off x="4521240" y="3634920"/>
            <a:ext cx="314856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Tx and Rx are co-located or share the same antenna. The modern standard.</a:t>
            </a:r>
            <a:endParaRPr b="0" lang="en-NZ" sz="1500" spc="-1" strike="noStrike">
              <a:latin typeface="Arial"/>
            </a:endParaRPr>
          </a:p>
        </p:txBody>
      </p:sp>
      <p:sp>
        <p:nvSpPr>
          <p:cNvPr id="189" name="Google Shape;200;p20"/>
          <p:cNvSpPr/>
          <p:nvPr/>
        </p:nvSpPr>
        <p:spPr>
          <a:xfrm>
            <a:off x="8261280" y="322524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Duplexer</a:t>
            </a:r>
            <a:endParaRPr b="0" lang="en-NZ" sz="1410" spc="-1" strike="noStrike">
              <a:latin typeface="Arial"/>
            </a:endParaRPr>
          </a:p>
        </p:txBody>
      </p:sp>
      <p:sp>
        <p:nvSpPr>
          <p:cNvPr id="190" name="Google Shape;201;p20"/>
          <p:cNvSpPr/>
          <p:nvPr/>
        </p:nvSpPr>
        <p:spPr>
          <a:xfrm>
            <a:off x="8261280" y="3634920"/>
            <a:ext cx="3148560" cy="136908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device that switches the antenna from Transmit to Receive in microseconds, enabling monostatic radar.</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1" name="Google Shape;206;p21" descr="image.png"/>
          <p:cNvPicPr/>
          <p:nvPr/>
        </p:nvPicPr>
        <p:blipFill>
          <a:blip r:embed="rId1"/>
          <a:stretch/>
        </p:blipFill>
        <p:spPr>
          <a:xfrm>
            <a:off x="0" y="0"/>
            <a:ext cx="12191040" cy="6856920"/>
          </a:xfrm>
          <a:prstGeom prst="rect">
            <a:avLst/>
          </a:prstGeom>
          <a:ln w="0">
            <a:noFill/>
          </a:ln>
        </p:spPr>
      </p:pic>
      <p:pic>
        <p:nvPicPr>
          <p:cNvPr id="192" name="Google Shape;207;p21" descr="image.png"/>
          <p:cNvPicPr/>
          <p:nvPr/>
        </p:nvPicPr>
        <p:blipFill>
          <a:blip r:embed="rId2"/>
          <a:stretch/>
        </p:blipFill>
        <p:spPr>
          <a:xfrm>
            <a:off x="6286680" y="1864800"/>
            <a:ext cx="5323320" cy="4285080"/>
          </a:xfrm>
          <a:prstGeom prst="rect">
            <a:avLst/>
          </a:prstGeom>
          <a:ln w="0">
            <a:noFill/>
          </a:ln>
        </p:spPr>
      </p:pic>
      <p:pic>
        <p:nvPicPr>
          <p:cNvPr id="193" name="Google Shape;208;p21" descr="image.png"/>
          <p:cNvPicPr/>
          <p:nvPr/>
        </p:nvPicPr>
        <p:blipFill>
          <a:blip r:embed="rId3"/>
          <a:stretch/>
        </p:blipFill>
        <p:spPr>
          <a:xfrm>
            <a:off x="9360" y="9360"/>
            <a:ext cx="12171960" cy="265680"/>
          </a:xfrm>
          <a:prstGeom prst="rect">
            <a:avLst/>
          </a:prstGeom>
          <a:ln w="0">
            <a:noFill/>
          </a:ln>
        </p:spPr>
      </p:pic>
      <p:pic>
        <p:nvPicPr>
          <p:cNvPr id="194" name="Google Shape;209;p21" descr="image.png"/>
          <p:cNvPicPr/>
          <p:nvPr/>
        </p:nvPicPr>
        <p:blipFill>
          <a:blip r:embed="rId4"/>
          <a:stretch/>
        </p:blipFill>
        <p:spPr>
          <a:xfrm>
            <a:off x="9360" y="6581880"/>
            <a:ext cx="12171960" cy="265680"/>
          </a:xfrm>
          <a:prstGeom prst="rect">
            <a:avLst/>
          </a:prstGeom>
          <a:ln w="0">
            <a:noFill/>
          </a:ln>
        </p:spPr>
      </p:pic>
      <p:sp>
        <p:nvSpPr>
          <p:cNvPr id="195" name="Google Shape;210;p21"/>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Cavity Magnetron</a:t>
            </a:r>
            <a:endParaRPr b="0" lang="en-NZ" sz="2400" spc="-1" strike="noStrike">
              <a:latin typeface="Arial"/>
            </a:endParaRPr>
          </a:p>
        </p:txBody>
      </p:sp>
      <p:sp>
        <p:nvSpPr>
          <p:cNvPr id="196" name="Google Shape;211;p21"/>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197" name="Google Shape;212;p21"/>
          <p:cNvSpPr/>
          <p:nvPr/>
        </p:nvSpPr>
        <p:spPr>
          <a:xfrm>
            <a:off x="58104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Shrinking the Radar</a:t>
            </a:r>
            <a:endParaRPr b="0" lang="en-NZ" sz="1410" spc="-1" strike="noStrike">
              <a:latin typeface="Arial"/>
            </a:endParaRPr>
          </a:p>
        </p:txBody>
      </p:sp>
      <p:sp>
        <p:nvSpPr>
          <p:cNvPr id="198" name="Google Shape;213;p21"/>
          <p:cNvSpPr/>
          <p:nvPr/>
        </p:nvSpPr>
        <p:spPr>
          <a:xfrm>
            <a:off x="581040" y="33969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Early radars were building-sized. To put radar on a plane, you needed high power in a small package.</a:t>
            </a:r>
            <a:endParaRPr b="0" lang="en-NZ" sz="1500" spc="-1" strike="noStrike">
              <a:latin typeface="Arial"/>
            </a:endParaRPr>
          </a:p>
        </p:txBody>
      </p:sp>
      <p:sp>
        <p:nvSpPr>
          <p:cNvPr id="199" name="Google Shape;214;p21"/>
          <p:cNvSpPr/>
          <p:nvPr/>
        </p:nvSpPr>
        <p:spPr>
          <a:xfrm>
            <a:off x="581040" y="415872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Magnetron (1940) was the breakthrough. It generated high-power microwaves, allowing small dishes to fit in aircraft noses.</a:t>
            </a:r>
            <a:endParaRPr b="0" lang="en-NZ" sz="1500" spc="-1" strike="noStrike">
              <a:latin typeface="Arial"/>
            </a:endParaRPr>
          </a:p>
        </p:txBody>
      </p:sp>
      <p:pic>
        <p:nvPicPr>
          <p:cNvPr id="200" name="Google Shape;215;p21"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Google Shape;220;p22" descr="image.png"/>
          <p:cNvPicPr/>
          <p:nvPr/>
        </p:nvPicPr>
        <p:blipFill>
          <a:blip r:embed="rId1"/>
          <a:stretch/>
        </p:blipFill>
        <p:spPr>
          <a:xfrm>
            <a:off x="0" y="0"/>
            <a:ext cx="12191040" cy="6856920"/>
          </a:xfrm>
          <a:prstGeom prst="rect">
            <a:avLst/>
          </a:prstGeom>
          <a:ln w="0">
            <a:noFill/>
          </a:ln>
        </p:spPr>
      </p:pic>
      <p:pic>
        <p:nvPicPr>
          <p:cNvPr id="202" name="Google Shape;221;p22" descr="image.png"/>
          <p:cNvPicPr/>
          <p:nvPr/>
        </p:nvPicPr>
        <p:blipFill>
          <a:blip r:embed="rId2"/>
          <a:stretch/>
        </p:blipFill>
        <p:spPr>
          <a:xfrm>
            <a:off x="581040" y="1864800"/>
            <a:ext cx="5323320" cy="4285080"/>
          </a:xfrm>
          <a:prstGeom prst="rect">
            <a:avLst/>
          </a:prstGeom>
          <a:ln w="0">
            <a:noFill/>
          </a:ln>
        </p:spPr>
      </p:pic>
      <p:pic>
        <p:nvPicPr>
          <p:cNvPr id="203" name="Google Shape;222;p22" descr="image.png"/>
          <p:cNvPicPr/>
          <p:nvPr/>
        </p:nvPicPr>
        <p:blipFill>
          <a:blip r:embed="rId3"/>
          <a:stretch/>
        </p:blipFill>
        <p:spPr>
          <a:xfrm>
            <a:off x="9360" y="9360"/>
            <a:ext cx="12171960" cy="265680"/>
          </a:xfrm>
          <a:prstGeom prst="rect">
            <a:avLst/>
          </a:prstGeom>
          <a:ln w="0">
            <a:noFill/>
          </a:ln>
        </p:spPr>
      </p:pic>
      <p:pic>
        <p:nvPicPr>
          <p:cNvPr id="204" name="Google Shape;223;p22" descr="image.png"/>
          <p:cNvPicPr/>
          <p:nvPr/>
        </p:nvPicPr>
        <p:blipFill>
          <a:blip r:embed="rId4"/>
          <a:stretch/>
        </p:blipFill>
        <p:spPr>
          <a:xfrm>
            <a:off x="9360" y="6581880"/>
            <a:ext cx="12171960" cy="265680"/>
          </a:xfrm>
          <a:prstGeom prst="rect">
            <a:avLst/>
          </a:prstGeom>
          <a:ln w="0">
            <a:noFill/>
          </a:ln>
        </p:spPr>
      </p:pic>
      <p:sp>
        <p:nvSpPr>
          <p:cNvPr id="205" name="Google Shape;224;p22"/>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Echo Principle</a:t>
            </a:r>
            <a:endParaRPr b="0" lang="en-NZ" sz="2400" spc="-1" strike="noStrike">
              <a:latin typeface="Arial"/>
            </a:endParaRPr>
          </a:p>
        </p:txBody>
      </p:sp>
      <p:sp>
        <p:nvSpPr>
          <p:cNvPr id="206" name="Google Shape;225;p22"/>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207" name="Google Shape;226;p22" descr="image.png"/>
          <p:cNvPicPr/>
          <p:nvPr/>
        </p:nvPicPr>
        <p:blipFill>
          <a:blip r:embed="rId5"/>
          <a:stretch/>
        </p:blipFill>
        <p:spPr>
          <a:xfrm>
            <a:off x="590400" y="1874160"/>
            <a:ext cx="5304240" cy="4266000"/>
          </a:xfrm>
          <a:prstGeom prst="rect">
            <a:avLst/>
          </a:prstGeom>
          <a:ln w="0">
            <a:noFill/>
          </a:ln>
        </p:spPr>
      </p:pic>
      <p:sp>
        <p:nvSpPr>
          <p:cNvPr id="208" name="Google Shape;227;p22"/>
          <p:cNvSpPr/>
          <p:nvPr/>
        </p:nvSpPr>
        <p:spPr>
          <a:xfrm>
            <a:off x="628668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Radio Echoes</a:t>
            </a:r>
            <a:endParaRPr b="0" lang="en-NZ" sz="1410" spc="-1" strike="noStrike">
              <a:latin typeface="Arial"/>
            </a:endParaRPr>
          </a:p>
        </p:txBody>
      </p:sp>
      <p:sp>
        <p:nvSpPr>
          <p:cNvPr id="209" name="Google Shape;228;p22"/>
          <p:cNvSpPr/>
          <p:nvPr/>
        </p:nvSpPr>
        <p:spPr>
          <a:xfrm>
            <a:off x="6286680" y="3396960"/>
            <a:ext cx="532332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Radar is simply an echo in the radio spectrum.</a:t>
            </a:r>
            <a:endParaRPr b="0" lang="en-NZ" sz="1500" spc="-1" strike="noStrike">
              <a:latin typeface="Arial"/>
            </a:endParaRPr>
          </a:p>
        </p:txBody>
      </p:sp>
      <p:sp>
        <p:nvSpPr>
          <p:cNvPr id="210" name="Google Shape;229;p22"/>
          <p:cNvSpPr/>
          <p:nvPr/>
        </p:nvSpPr>
        <p:spPr>
          <a:xfrm>
            <a:off x="6286680" y="3873240"/>
            <a:ext cx="5323320" cy="1140120"/>
          </a:xfrm>
          <a:prstGeom prst="rect">
            <a:avLst/>
          </a:prstGeom>
          <a:noFill/>
          <a:ln w="0">
            <a:noFill/>
          </a:ln>
        </p:spPr>
        <p:style>
          <a:lnRef idx="0"/>
          <a:fillRef idx="0"/>
          <a:effectRef idx="0"/>
          <a:fontRef idx="minor"/>
        </p:style>
        <p:txBody>
          <a:bodyPr lIns="0" rIns="0" tIns="0" bIns="0">
            <a:spAutoFit/>
          </a:bodyPr>
          <a:p>
            <a:pPr>
              <a:lnSpc>
                <a:spcPct val="125000"/>
              </a:lnSpc>
              <a:tabLst>
                <a:tab algn="l" pos="0"/>
              </a:tabLst>
            </a:pPr>
            <a:r>
              <a:rPr b="0" lang="en-US" sz="1500" spc="-1" strike="noStrike">
                <a:solidFill>
                  <a:srgbClr val="cbd5e1"/>
                </a:solidFill>
                <a:latin typeface="Inter"/>
                <a:ea typeface="Inter"/>
              </a:rPr>
              <a:t>1. Transmit a loud burst of energy.</a:t>
            </a:r>
            <a:br/>
            <a:r>
              <a:rPr b="0" lang="en-US" sz="1500" spc="-1" strike="noStrike">
                <a:solidFill>
                  <a:srgbClr val="cbd5e1"/>
                </a:solidFill>
                <a:latin typeface="Inter"/>
                <a:ea typeface="Inter"/>
              </a:rPr>
              <a:t> 2. Wait.</a:t>
            </a:r>
            <a:br/>
            <a:r>
              <a:rPr b="0" lang="en-US" sz="1500" spc="-1" strike="noStrike">
                <a:solidFill>
                  <a:srgbClr val="cbd5e1"/>
                </a:solidFill>
                <a:latin typeface="Inter"/>
                <a:ea typeface="Inter"/>
              </a:rPr>
              <a:t> 3. Detect the tiny fraction of energy that bounces off the target.</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1" name="Google Shape;234;p23" descr="image.png"/>
          <p:cNvPicPr/>
          <p:nvPr/>
        </p:nvPicPr>
        <p:blipFill>
          <a:blip r:embed="rId1"/>
          <a:stretch/>
        </p:blipFill>
        <p:spPr>
          <a:xfrm>
            <a:off x="0" y="0"/>
            <a:ext cx="12191040" cy="6856920"/>
          </a:xfrm>
          <a:prstGeom prst="rect">
            <a:avLst/>
          </a:prstGeom>
          <a:ln w="0">
            <a:noFill/>
          </a:ln>
        </p:spPr>
      </p:pic>
      <p:pic>
        <p:nvPicPr>
          <p:cNvPr id="212" name="Google Shape;235;p23" descr="image.png"/>
          <p:cNvPicPr/>
          <p:nvPr/>
        </p:nvPicPr>
        <p:blipFill>
          <a:blip r:embed="rId2"/>
          <a:stretch/>
        </p:blipFill>
        <p:spPr>
          <a:xfrm>
            <a:off x="581040" y="2989800"/>
            <a:ext cx="11028960" cy="2034720"/>
          </a:xfrm>
          <a:prstGeom prst="rect">
            <a:avLst/>
          </a:prstGeom>
          <a:ln w="0">
            <a:noFill/>
          </a:ln>
        </p:spPr>
      </p:pic>
      <p:pic>
        <p:nvPicPr>
          <p:cNvPr id="213" name="Google Shape;236;p23" descr="image.png"/>
          <p:cNvPicPr/>
          <p:nvPr/>
        </p:nvPicPr>
        <p:blipFill>
          <a:blip r:embed="rId3"/>
          <a:stretch/>
        </p:blipFill>
        <p:spPr>
          <a:xfrm>
            <a:off x="9360" y="9360"/>
            <a:ext cx="12171960" cy="265680"/>
          </a:xfrm>
          <a:prstGeom prst="rect">
            <a:avLst/>
          </a:prstGeom>
          <a:ln w="0">
            <a:noFill/>
          </a:ln>
        </p:spPr>
      </p:pic>
      <p:pic>
        <p:nvPicPr>
          <p:cNvPr id="214" name="Google Shape;237;p23" descr="image.png"/>
          <p:cNvPicPr/>
          <p:nvPr/>
        </p:nvPicPr>
        <p:blipFill>
          <a:blip r:embed="rId4"/>
          <a:stretch/>
        </p:blipFill>
        <p:spPr>
          <a:xfrm>
            <a:off x="9360" y="6581880"/>
            <a:ext cx="12171960" cy="265680"/>
          </a:xfrm>
          <a:prstGeom prst="rect">
            <a:avLst/>
          </a:prstGeom>
          <a:ln w="0">
            <a:noFill/>
          </a:ln>
        </p:spPr>
      </p:pic>
      <p:sp>
        <p:nvSpPr>
          <p:cNvPr id="215" name="Google Shape;238;p23"/>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Measuring Distance</a:t>
            </a:r>
            <a:endParaRPr b="0" lang="en-NZ" sz="2400" spc="-1" strike="noStrike">
              <a:latin typeface="Arial"/>
            </a:endParaRPr>
          </a:p>
        </p:txBody>
      </p:sp>
      <p:sp>
        <p:nvSpPr>
          <p:cNvPr id="216" name="Google Shape;239;p23"/>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217" name="Google Shape;240;p23"/>
          <p:cNvSpPr/>
          <p:nvPr/>
        </p:nvSpPr>
        <p:spPr>
          <a:xfrm>
            <a:off x="515160" y="3368160"/>
            <a:ext cx="11160360" cy="214200"/>
          </a:xfrm>
          <a:prstGeom prst="rect">
            <a:avLst/>
          </a:prstGeom>
          <a:noFill/>
          <a:ln w="0">
            <a:noFill/>
          </a:ln>
        </p:spPr>
        <p:style>
          <a:lnRef idx="0"/>
          <a:fillRef idx="0"/>
          <a:effectRef idx="0"/>
          <a:fontRef idx="minor"/>
        </p:style>
        <p:txBody>
          <a:bodyPr lIns="0" rIns="0" tIns="0" bIns="0">
            <a:spAutoFit/>
          </a:bodyPr>
          <a:p>
            <a:pPr algn="ctr">
              <a:lnSpc>
                <a:spcPct val="100000"/>
              </a:lnSpc>
              <a:tabLst>
                <a:tab algn="l" pos="0"/>
              </a:tabLst>
            </a:pPr>
            <a:r>
              <a:rPr b="1" lang="en-US" sz="1410" spc="-1" strike="noStrike">
                <a:solidFill>
                  <a:srgbClr val="e2e8f0"/>
                </a:solidFill>
                <a:latin typeface="Inter"/>
                <a:ea typeface="Inter"/>
              </a:rPr>
              <a:t>Time of Flight</a:t>
            </a:r>
            <a:endParaRPr b="0" lang="en-NZ" sz="1410" spc="-1" strike="noStrike">
              <a:latin typeface="Arial"/>
            </a:endParaRPr>
          </a:p>
        </p:txBody>
      </p:sp>
      <p:sp>
        <p:nvSpPr>
          <p:cNvPr id="218" name="Google Shape;241;p23"/>
          <p:cNvSpPr/>
          <p:nvPr/>
        </p:nvSpPr>
        <p:spPr>
          <a:xfrm>
            <a:off x="781200" y="3777840"/>
            <a:ext cx="10629000" cy="411120"/>
          </a:xfrm>
          <a:prstGeom prst="rect">
            <a:avLst/>
          </a:prstGeom>
          <a:noFill/>
          <a:ln w="0">
            <a:noFill/>
          </a:ln>
        </p:spPr>
        <p:style>
          <a:lnRef idx="0"/>
          <a:fillRef idx="0"/>
          <a:effectRef idx="0"/>
          <a:fontRef idx="minor"/>
        </p:style>
        <p:txBody>
          <a:bodyPr lIns="0" rIns="0" tIns="0" bIns="0">
            <a:spAutoFit/>
          </a:bodyPr>
          <a:p>
            <a:pPr algn="ctr">
              <a:lnSpc>
                <a:spcPct val="150000"/>
              </a:lnSpc>
              <a:tabLst>
                <a:tab algn="l" pos="0"/>
              </a:tabLst>
            </a:pPr>
            <a:r>
              <a:rPr b="1" lang="en-US" sz="1800" spc="-1" strike="noStrike">
                <a:solidFill>
                  <a:srgbClr val="cbd5e1"/>
                </a:solidFill>
                <a:latin typeface="Inter"/>
                <a:ea typeface="Inter"/>
              </a:rPr>
              <a:t>Distance = (Speed of Light × Time) / 2</a:t>
            </a:r>
            <a:endParaRPr b="0" lang="en-NZ" sz="1800" spc="-1" strike="noStrike">
              <a:latin typeface="Arial"/>
            </a:endParaRPr>
          </a:p>
        </p:txBody>
      </p:sp>
      <p:sp>
        <p:nvSpPr>
          <p:cNvPr id="219" name="Google Shape;242;p23"/>
          <p:cNvSpPr/>
          <p:nvPr/>
        </p:nvSpPr>
        <p:spPr>
          <a:xfrm>
            <a:off x="781200" y="4349520"/>
            <a:ext cx="10629000" cy="342000"/>
          </a:xfrm>
          <a:prstGeom prst="rect">
            <a:avLst/>
          </a:prstGeom>
          <a:noFill/>
          <a:ln w="0">
            <a:noFill/>
          </a:ln>
        </p:spPr>
        <p:style>
          <a:lnRef idx="0"/>
          <a:fillRef idx="0"/>
          <a:effectRef idx="0"/>
          <a:fontRef idx="minor"/>
        </p:style>
        <p:txBody>
          <a:bodyPr lIns="0" rIns="0" tIns="0" bIns="0">
            <a:spAutoFit/>
          </a:bodyPr>
          <a:p>
            <a:pPr algn="ctr">
              <a:lnSpc>
                <a:spcPct val="150000"/>
              </a:lnSpc>
              <a:tabLst>
                <a:tab algn="l" pos="0"/>
              </a:tabLst>
            </a:pPr>
            <a:r>
              <a:rPr b="0" lang="en-US" sz="1500" spc="-1" strike="noStrike">
                <a:solidFill>
                  <a:srgbClr val="cbd5e1"/>
                </a:solidFill>
                <a:latin typeface="Inter"/>
                <a:ea typeface="Inter"/>
              </a:rPr>
              <a:t>We divide by 2 because the signal has to travel to the target AND back.</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Google Shape;247;p24" descr="image.png"/>
          <p:cNvPicPr/>
          <p:nvPr/>
        </p:nvPicPr>
        <p:blipFill>
          <a:blip r:embed="rId1"/>
          <a:stretch/>
        </p:blipFill>
        <p:spPr>
          <a:xfrm>
            <a:off x="0" y="0"/>
            <a:ext cx="12191040" cy="6856920"/>
          </a:xfrm>
          <a:prstGeom prst="rect">
            <a:avLst/>
          </a:prstGeom>
          <a:ln w="0">
            <a:noFill/>
          </a:ln>
        </p:spPr>
      </p:pic>
      <p:pic>
        <p:nvPicPr>
          <p:cNvPr id="221" name="Google Shape;248;p24" descr="image.png"/>
          <p:cNvPicPr/>
          <p:nvPr/>
        </p:nvPicPr>
        <p:blipFill>
          <a:blip r:embed="rId2"/>
          <a:stretch/>
        </p:blipFill>
        <p:spPr>
          <a:xfrm>
            <a:off x="581040" y="2989800"/>
            <a:ext cx="3548520" cy="2034720"/>
          </a:xfrm>
          <a:prstGeom prst="rect">
            <a:avLst/>
          </a:prstGeom>
          <a:ln w="0">
            <a:noFill/>
          </a:ln>
        </p:spPr>
      </p:pic>
      <p:pic>
        <p:nvPicPr>
          <p:cNvPr id="222" name="Google Shape;249;p24" descr="image.png"/>
          <p:cNvPicPr/>
          <p:nvPr/>
        </p:nvPicPr>
        <p:blipFill>
          <a:blip r:embed="rId3"/>
          <a:stretch/>
        </p:blipFill>
        <p:spPr>
          <a:xfrm>
            <a:off x="4321080" y="2989800"/>
            <a:ext cx="3548520" cy="2034720"/>
          </a:xfrm>
          <a:prstGeom prst="rect">
            <a:avLst/>
          </a:prstGeom>
          <a:ln w="0">
            <a:noFill/>
          </a:ln>
        </p:spPr>
      </p:pic>
      <p:pic>
        <p:nvPicPr>
          <p:cNvPr id="223" name="Google Shape;250;p24" descr="image.png"/>
          <p:cNvPicPr/>
          <p:nvPr/>
        </p:nvPicPr>
        <p:blipFill>
          <a:blip r:embed="rId4"/>
          <a:stretch/>
        </p:blipFill>
        <p:spPr>
          <a:xfrm>
            <a:off x="8061120" y="2989800"/>
            <a:ext cx="3548520" cy="2034720"/>
          </a:xfrm>
          <a:prstGeom prst="rect">
            <a:avLst/>
          </a:prstGeom>
          <a:ln w="0">
            <a:noFill/>
          </a:ln>
        </p:spPr>
      </p:pic>
      <p:pic>
        <p:nvPicPr>
          <p:cNvPr id="224" name="Google Shape;251;p24" descr="image.png"/>
          <p:cNvPicPr/>
          <p:nvPr/>
        </p:nvPicPr>
        <p:blipFill>
          <a:blip r:embed="rId5"/>
          <a:stretch/>
        </p:blipFill>
        <p:spPr>
          <a:xfrm>
            <a:off x="9360" y="9360"/>
            <a:ext cx="12171960" cy="265680"/>
          </a:xfrm>
          <a:prstGeom prst="rect">
            <a:avLst/>
          </a:prstGeom>
          <a:ln w="0">
            <a:noFill/>
          </a:ln>
        </p:spPr>
      </p:pic>
      <p:pic>
        <p:nvPicPr>
          <p:cNvPr id="225" name="Google Shape;252;p24" descr="image.png"/>
          <p:cNvPicPr/>
          <p:nvPr/>
        </p:nvPicPr>
        <p:blipFill>
          <a:blip r:embed="rId6"/>
          <a:stretch/>
        </p:blipFill>
        <p:spPr>
          <a:xfrm>
            <a:off x="9360" y="6581880"/>
            <a:ext cx="12171960" cy="265680"/>
          </a:xfrm>
          <a:prstGeom prst="rect">
            <a:avLst/>
          </a:prstGeom>
          <a:ln w="0">
            <a:noFill/>
          </a:ln>
        </p:spPr>
      </p:pic>
      <p:sp>
        <p:nvSpPr>
          <p:cNvPr id="226" name="Google Shape;253;p24"/>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Radar Equation (Variables)</a:t>
            </a:r>
            <a:endParaRPr b="0" lang="en-NZ" sz="2400" spc="-1" strike="noStrike">
              <a:latin typeface="Arial"/>
            </a:endParaRPr>
          </a:p>
        </p:txBody>
      </p:sp>
      <p:sp>
        <p:nvSpPr>
          <p:cNvPr id="227" name="Google Shape;254;p24"/>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228" name="Google Shape;255;p24"/>
          <p:cNvSpPr/>
          <p:nvPr/>
        </p:nvSpPr>
        <p:spPr>
          <a:xfrm>
            <a:off x="781200" y="336816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Power (Tx)</a:t>
            </a:r>
            <a:endParaRPr b="0" lang="en-NZ" sz="1410" spc="-1" strike="noStrike">
              <a:latin typeface="Arial"/>
            </a:endParaRPr>
          </a:p>
        </p:txBody>
      </p:sp>
      <p:sp>
        <p:nvSpPr>
          <p:cNvPr id="229" name="Google Shape;256;p24"/>
          <p:cNvSpPr/>
          <p:nvPr/>
        </p:nvSpPr>
        <p:spPr>
          <a:xfrm>
            <a:off x="781200" y="377784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How loud you shout. More power = more range.</a:t>
            </a:r>
            <a:endParaRPr b="0" lang="en-NZ" sz="1500" spc="-1" strike="noStrike">
              <a:latin typeface="Arial"/>
            </a:endParaRPr>
          </a:p>
        </p:txBody>
      </p:sp>
      <p:sp>
        <p:nvSpPr>
          <p:cNvPr id="230" name="Google Shape;257;p24"/>
          <p:cNvSpPr/>
          <p:nvPr/>
        </p:nvSpPr>
        <p:spPr>
          <a:xfrm>
            <a:off x="4521240" y="336816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Gain (G)</a:t>
            </a:r>
            <a:endParaRPr b="0" lang="en-NZ" sz="1410" spc="-1" strike="noStrike">
              <a:latin typeface="Arial"/>
            </a:endParaRPr>
          </a:p>
        </p:txBody>
      </p:sp>
      <p:sp>
        <p:nvSpPr>
          <p:cNvPr id="231" name="Google Shape;258;p24"/>
          <p:cNvSpPr/>
          <p:nvPr/>
        </p:nvSpPr>
        <p:spPr>
          <a:xfrm>
            <a:off x="4521240" y="3777840"/>
            <a:ext cx="314856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How focused the beam is. A flashlight goes further than a candle.</a:t>
            </a:r>
            <a:endParaRPr b="0" lang="en-NZ" sz="1500" spc="-1" strike="noStrike">
              <a:latin typeface="Arial"/>
            </a:endParaRPr>
          </a:p>
        </p:txBody>
      </p:sp>
      <p:sp>
        <p:nvSpPr>
          <p:cNvPr id="232" name="Google Shape;259;p24"/>
          <p:cNvSpPr/>
          <p:nvPr/>
        </p:nvSpPr>
        <p:spPr>
          <a:xfrm>
            <a:off x="8261280" y="336816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Sigma (σ)</a:t>
            </a:r>
            <a:endParaRPr b="0" lang="en-NZ" sz="1410" spc="-1" strike="noStrike">
              <a:latin typeface="Arial"/>
            </a:endParaRPr>
          </a:p>
        </p:txBody>
      </p:sp>
      <p:sp>
        <p:nvSpPr>
          <p:cNvPr id="233" name="Google Shape;260;p24"/>
          <p:cNvSpPr/>
          <p:nvPr/>
        </p:nvSpPr>
        <p:spPr>
          <a:xfrm>
            <a:off x="8261280" y="377784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Radar Cross Section. How reflective the target is.</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4" name="Google Shape;265;p25" descr="image.png"/>
          <p:cNvPicPr/>
          <p:nvPr/>
        </p:nvPicPr>
        <p:blipFill>
          <a:blip r:embed="rId1"/>
          <a:stretch/>
        </p:blipFill>
        <p:spPr>
          <a:xfrm>
            <a:off x="0" y="0"/>
            <a:ext cx="12191040" cy="6856920"/>
          </a:xfrm>
          <a:prstGeom prst="rect">
            <a:avLst/>
          </a:prstGeom>
          <a:ln w="0">
            <a:noFill/>
          </a:ln>
        </p:spPr>
      </p:pic>
      <p:pic>
        <p:nvPicPr>
          <p:cNvPr id="235" name="Google Shape;266;p25" descr="image.png"/>
          <p:cNvPicPr/>
          <p:nvPr/>
        </p:nvPicPr>
        <p:blipFill>
          <a:blip r:embed="rId2"/>
          <a:stretch/>
        </p:blipFill>
        <p:spPr>
          <a:xfrm>
            <a:off x="581040" y="1864800"/>
            <a:ext cx="5323320" cy="4285080"/>
          </a:xfrm>
          <a:prstGeom prst="rect">
            <a:avLst/>
          </a:prstGeom>
          <a:ln w="0">
            <a:noFill/>
          </a:ln>
        </p:spPr>
      </p:pic>
      <p:pic>
        <p:nvPicPr>
          <p:cNvPr id="236" name="Google Shape;267;p25" descr="image.png"/>
          <p:cNvPicPr/>
          <p:nvPr/>
        </p:nvPicPr>
        <p:blipFill>
          <a:blip r:embed="rId3"/>
          <a:stretch/>
        </p:blipFill>
        <p:spPr>
          <a:xfrm>
            <a:off x="9360" y="9360"/>
            <a:ext cx="12171960" cy="265680"/>
          </a:xfrm>
          <a:prstGeom prst="rect">
            <a:avLst/>
          </a:prstGeom>
          <a:ln w="0">
            <a:noFill/>
          </a:ln>
        </p:spPr>
      </p:pic>
      <p:pic>
        <p:nvPicPr>
          <p:cNvPr id="237" name="Google Shape;268;p25" descr="image.png"/>
          <p:cNvPicPr/>
          <p:nvPr/>
        </p:nvPicPr>
        <p:blipFill>
          <a:blip r:embed="rId4"/>
          <a:stretch/>
        </p:blipFill>
        <p:spPr>
          <a:xfrm>
            <a:off x="9360" y="6581880"/>
            <a:ext cx="12171960" cy="265680"/>
          </a:xfrm>
          <a:prstGeom prst="rect">
            <a:avLst/>
          </a:prstGeom>
          <a:ln w="0">
            <a:noFill/>
          </a:ln>
        </p:spPr>
      </p:pic>
      <p:sp>
        <p:nvSpPr>
          <p:cNvPr id="238" name="Google Shape;269;p25"/>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Signal Fading (1/R^4)</a:t>
            </a:r>
            <a:endParaRPr b="0" lang="en-NZ" sz="2400" spc="-1" strike="noStrike">
              <a:latin typeface="Arial"/>
            </a:endParaRPr>
          </a:p>
        </p:txBody>
      </p:sp>
      <p:sp>
        <p:nvSpPr>
          <p:cNvPr id="239" name="Google Shape;270;p25"/>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240" name="Google Shape;271;p25" descr="image.png"/>
          <p:cNvPicPr/>
          <p:nvPr/>
        </p:nvPicPr>
        <p:blipFill>
          <a:blip r:embed="rId5"/>
          <a:stretch/>
        </p:blipFill>
        <p:spPr>
          <a:xfrm>
            <a:off x="590400" y="1874160"/>
            <a:ext cx="5304240" cy="4266000"/>
          </a:xfrm>
          <a:prstGeom prst="rect">
            <a:avLst/>
          </a:prstGeom>
          <a:ln w="0">
            <a:noFill/>
          </a:ln>
        </p:spPr>
      </p:pic>
      <p:sp>
        <p:nvSpPr>
          <p:cNvPr id="241" name="Google Shape;272;p25"/>
          <p:cNvSpPr/>
          <p:nvPr/>
        </p:nvSpPr>
        <p:spPr>
          <a:xfrm>
            <a:off x="628668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Double Fade</a:t>
            </a:r>
            <a:endParaRPr b="0" lang="en-NZ" sz="1410" spc="-1" strike="noStrike">
              <a:latin typeface="Arial"/>
            </a:endParaRPr>
          </a:p>
        </p:txBody>
      </p:sp>
      <p:sp>
        <p:nvSpPr>
          <p:cNvPr id="242" name="Google Shape;273;p25"/>
          <p:cNvSpPr/>
          <p:nvPr/>
        </p:nvSpPr>
        <p:spPr>
          <a:xfrm>
            <a:off x="6286680" y="339696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Radar signals fade incredibly fast. The energy spreads out on the way there (1/R²), and spreads out again on the way back (1/R²).</a:t>
            </a:r>
            <a:endParaRPr b="0" lang="en-NZ" sz="1500" spc="-1" strike="noStrike">
              <a:latin typeface="Arial"/>
            </a:endParaRPr>
          </a:p>
        </p:txBody>
      </p:sp>
      <p:sp>
        <p:nvSpPr>
          <p:cNvPr id="243" name="Google Shape;274;p25"/>
          <p:cNvSpPr/>
          <p:nvPr/>
        </p:nvSpPr>
        <p:spPr>
          <a:xfrm>
            <a:off x="6286680" y="44445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Result:</a:t>
            </a:r>
            <a:r>
              <a:rPr b="0" lang="en-US" sz="1500" spc="-1" strike="noStrike">
                <a:solidFill>
                  <a:srgbClr val="cbd5e1"/>
                </a:solidFill>
                <a:latin typeface="Inter"/>
                <a:ea typeface="Inter"/>
              </a:rPr>
              <a:t> To double detection range, you need </a:t>
            </a:r>
            <a:r>
              <a:rPr b="1" lang="en-US" sz="1500" spc="-1" strike="noStrike">
                <a:solidFill>
                  <a:srgbClr val="cbd5e1"/>
                </a:solidFill>
                <a:latin typeface="Inter"/>
                <a:ea typeface="Inter"/>
              </a:rPr>
              <a:t>16 times</a:t>
            </a:r>
            <a:r>
              <a:rPr b="0" lang="en-US" sz="1500" spc="-1" strike="noStrike">
                <a:solidFill>
                  <a:srgbClr val="cbd5e1"/>
                </a:solidFill>
                <a:latin typeface="Inter"/>
                <a:ea typeface="Inter"/>
              </a:rPr>
              <a:t> more power.</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4" name="Google Shape;279;p26" descr="image.png"/>
          <p:cNvPicPr/>
          <p:nvPr/>
        </p:nvPicPr>
        <p:blipFill>
          <a:blip r:embed="rId1"/>
          <a:stretch/>
        </p:blipFill>
        <p:spPr>
          <a:xfrm>
            <a:off x="-9720" y="0"/>
            <a:ext cx="12191040" cy="6856920"/>
          </a:xfrm>
          <a:prstGeom prst="rect">
            <a:avLst/>
          </a:prstGeom>
          <a:ln w="0">
            <a:noFill/>
          </a:ln>
        </p:spPr>
      </p:pic>
      <p:pic>
        <p:nvPicPr>
          <p:cNvPr id="245" name="Google Shape;280;p26" descr="image.png"/>
          <p:cNvPicPr/>
          <p:nvPr/>
        </p:nvPicPr>
        <p:blipFill>
          <a:blip r:embed="rId2"/>
          <a:stretch/>
        </p:blipFill>
        <p:spPr>
          <a:xfrm>
            <a:off x="6286680" y="1864800"/>
            <a:ext cx="5323320" cy="4285080"/>
          </a:xfrm>
          <a:prstGeom prst="rect">
            <a:avLst/>
          </a:prstGeom>
          <a:ln w="0">
            <a:noFill/>
          </a:ln>
        </p:spPr>
      </p:pic>
      <p:pic>
        <p:nvPicPr>
          <p:cNvPr id="246" name="Google Shape;281;p26" descr="image.png"/>
          <p:cNvPicPr/>
          <p:nvPr/>
        </p:nvPicPr>
        <p:blipFill>
          <a:blip r:embed="rId3"/>
          <a:stretch/>
        </p:blipFill>
        <p:spPr>
          <a:xfrm>
            <a:off x="9360" y="9360"/>
            <a:ext cx="12171960" cy="265680"/>
          </a:xfrm>
          <a:prstGeom prst="rect">
            <a:avLst/>
          </a:prstGeom>
          <a:ln w="0">
            <a:noFill/>
          </a:ln>
        </p:spPr>
      </p:pic>
      <p:pic>
        <p:nvPicPr>
          <p:cNvPr id="247" name="Google Shape;282;p26" descr="image.png"/>
          <p:cNvPicPr/>
          <p:nvPr/>
        </p:nvPicPr>
        <p:blipFill>
          <a:blip r:embed="rId4"/>
          <a:stretch/>
        </p:blipFill>
        <p:spPr>
          <a:xfrm>
            <a:off x="9360" y="6581880"/>
            <a:ext cx="12171960" cy="265680"/>
          </a:xfrm>
          <a:prstGeom prst="rect">
            <a:avLst/>
          </a:prstGeom>
          <a:ln w="0">
            <a:noFill/>
          </a:ln>
        </p:spPr>
      </p:pic>
      <p:sp>
        <p:nvSpPr>
          <p:cNvPr id="248" name="Google Shape;283;p26"/>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Radar Cross Section (RCS)</a:t>
            </a:r>
            <a:endParaRPr b="0" lang="en-NZ" sz="2400" spc="-1" strike="noStrike">
              <a:latin typeface="Arial"/>
            </a:endParaRPr>
          </a:p>
        </p:txBody>
      </p:sp>
      <p:sp>
        <p:nvSpPr>
          <p:cNvPr id="249" name="Google Shape;284;p26"/>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250" name="Google Shape;285;p26"/>
          <p:cNvSpPr/>
          <p:nvPr/>
        </p:nvSpPr>
        <p:spPr>
          <a:xfrm>
            <a:off x="58104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Electronic Size</a:t>
            </a:r>
            <a:endParaRPr b="0" lang="en-NZ" sz="1410" spc="-1" strike="noStrike">
              <a:latin typeface="Arial"/>
            </a:endParaRPr>
          </a:p>
        </p:txBody>
      </p:sp>
      <p:sp>
        <p:nvSpPr>
          <p:cNvPr id="251" name="Google Shape;286;p26"/>
          <p:cNvSpPr/>
          <p:nvPr/>
        </p:nvSpPr>
        <p:spPr>
          <a:xfrm>
            <a:off x="581040" y="353988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RCS measures how well an object reflects radar. It is not the same as physical size.</a:t>
            </a:r>
            <a:endParaRPr b="0" lang="en-NZ" sz="1500" spc="-1" strike="noStrike">
              <a:latin typeface="Arial"/>
            </a:endParaRPr>
          </a:p>
        </p:txBody>
      </p:sp>
      <p:sp>
        <p:nvSpPr>
          <p:cNvPr id="252" name="Google Shape;287;p26"/>
          <p:cNvSpPr/>
          <p:nvPr/>
        </p:nvSpPr>
        <p:spPr>
          <a:xfrm>
            <a:off x="581040" y="430164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 jumbo jet has a huge RCS. A stealth bomber, despite being large, has the RCS of a marble.</a:t>
            </a:r>
            <a:endParaRPr b="0" lang="en-NZ" sz="1500" spc="-1" strike="noStrike">
              <a:latin typeface="Arial"/>
            </a:endParaRPr>
          </a:p>
        </p:txBody>
      </p:sp>
      <p:pic>
        <p:nvPicPr>
          <p:cNvPr id="253" name="Google Shape;288;p26"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4" name="Google Shape;293;p27" descr="image.png"/>
          <p:cNvPicPr/>
          <p:nvPr/>
        </p:nvPicPr>
        <p:blipFill>
          <a:blip r:embed="rId1"/>
          <a:stretch/>
        </p:blipFill>
        <p:spPr>
          <a:xfrm>
            <a:off x="0" y="0"/>
            <a:ext cx="12191040" cy="6856920"/>
          </a:xfrm>
          <a:prstGeom prst="rect">
            <a:avLst/>
          </a:prstGeom>
          <a:ln w="0">
            <a:noFill/>
          </a:ln>
        </p:spPr>
      </p:pic>
      <p:pic>
        <p:nvPicPr>
          <p:cNvPr id="255" name="Google Shape;294;p27" descr="image.png"/>
          <p:cNvPicPr/>
          <p:nvPr/>
        </p:nvPicPr>
        <p:blipFill>
          <a:blip r:embed="rId2"/>
          <a:stretch/>
        </p:blipFill>
        <p:spPr>
          <a:xfrm>
            <a:off x="9360" y="9360"/>
            <a:ext cx="12171960" cy="265680"/>
          </a:xfrm>
          <a:prstGeom prst="rect">
            <a:avLst/>
          </a:prstGeom>
          <a:ln w="0">
            <a:noFill/>
          </a:ln>
        </p:spPr>
      </p:pic>
      <p:pic>
        <p:nvPicPr>
          <p:cNvPr id="256" name="Google Shape;295;p27" descr="image.png"/>
          <p:cNvPicPr/>
          <p:nvPr/>
        </p:nvPicPr>
        <p:blipFill>
          <a:blip r:embed="rId3"/>
          <a:stretch/>
        </p:blipFill>
        <p:spPr>
          <a:xfrm>
            <a:off x="9360" y="6581880"/>
            <a:ext cx="12171960" cy="265680"/>
          </a:xfrm>
          <a:prstGeom prst="rect">
            <a:avLst/>
          </a:prstGeom>
          <a:ln w="0">
            <a:noFill/>
          </a:ln>
        </p:spPr>
      </p:pic>
      <p:sp>
        <p:nvSpPr>
          <p:cNvPr id="257" name="Google Shape;296;p27"/>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Frequency Bands</a:t>
            </a:r>
            <a:endParaRPr b="0" lang="en-NZ" sz="2400" spc="-1" strike="noStrike">
              <a:latin typeface="Arial"/>
            </a:endParaRPr>
          </a:p>
        </p:txBody>
      </p:sp>
      <p:sp>
        <p:nvSpPr>
          <p:cNvPr id="258" name="Google Shape;297;p27"/>
          <p:cNvSpPr/>
          <p:nvPr/>
        </p:nvSpPr>
        <p:spPr>
          <a:xfrm>
            <a:off x="581040" y="1433880"/>
            <a:ext cx="11028960" cy="18000"/>
          </a:xfrm>
          <a:prstGeom prst="rect">
            <a:avLst/>
          </a:prstGeom>
          <a:solidFill>
            <a:srgbClr val="1e293b"/>
          </a:solidFill>
          <a:ln w="0">
            <a:noFill/>
          </a:ln>
        </p:spPr>
        <p:style>
          <a:lnRef idx="0"/>
          <a:fillRef idx="0"/>
          <a:effectRef idx="0"/>
          <a:fontRef idx="minor"/>
        </p:style>
      </p:sp>
      <p:graphicFrame>
        <p:nvGraphicFramePr>
          <p:cNvPr id="259" name="Google Shape;298;p27"/>
          <p:cNvGraphicFramePr/>
          <p:nvPr/>
        </p:nvGraphicFramePr>
        <p:xfrm>
          <a:off x="581040" y="3226680"/>
          <a:ext cx="11029320" cy="1561320"/>
        </p:xfrm>
        <a:graphic>
          <a:graphicData uri="http://schemas.openxmlformats.org/drawingml/2006/table">
            <a:tbl>
              <a:tblPr/>
              <a:tblGrid>
                <a:gridCol w="2242080"/>
                <a:gridCol w="2161080"/>
                <a:gridCol w="6626520"/>
              </a:tblGrid>
              <a:tr h="390240">
                <a:tc>
                  <a:txBody>
                    <a:bodyPr lIns="63360" rIns="63360">
                      <a:noAutofit/>
                    </a:bodyPr>
                    <a:p>
                      <a:pPr>
                        <a:lnSpc>
                          <a:spcPct val="100000"/>
                        </a:lnSpc>
                        <a:tabLst>
                          <a:tab algn="l" pos="0"/>
                        </a:tabLst>
                      </a:pPr>
                      <a:r>
                        <a:rPr b="1" lang="en-US" sz="1200" spc="-1" strike="noStrike">
                          <a:solidFill>
                            <a:srgbClr val="38bdf8"/>
                          </a:solidFill>
                          <a:latin typeface="Inter"/>
                          <a:ea typeface="Inter"/>
                        </a:rPr>
                        <a:t>Band</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4f81bd"/>
                    </a:solidFill>
                  </a:tcPr>
                </a:tc>
                <a:tc>
                  <a:txBody>
                    <a:bodyPr lIns="63360" rIns="63360">
                      <a:noAutofit/>
                    </a:bodyPr>
                    <a:p>
                      <a:pPr>
                        <a:lnSpc>
                          <a:spcPct val="100000"/>
                        </a:lnSpc>
                        <a:tabLst>
                          <a:tab algn="l" pos="0"/>
                        </a:tabLst>
                      </a:pPr>
                      <a:r>
                        <a:rPr b="1" lang="en-US" sz="1200" spc="-1" strike="noStrike">
                          <a:solidFill>
                            <a:srgbClr val="38bdf8"/>
                          </a:solidFill>
                          <a:latin typeface="Inter"/>
                          <a:ea typeface="Inter"/>
                        </a:rPr>
                        <a:t>Use Case</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4f81bd"/>
                    </a:solidFill>
                  </a:tcPr>
                </a:tc>
                <a:tc>
                  <a:txBody>
                    <a:bodyPr lIns="63360" rIns="63360">
                      <a:noAutofit/>
                    </a:bodyPr>
                    <a:p>
                      <a:pPr>
                        <a:lnSpc>
                          <a:spcPct val="100000"/>
                        </a:lnSpc>
                        <a:tabLst>
                          <a:tab algn="l" pos="0"/>
                        </a:tabLst>
                      </a:pPr>
                      <a:r>
                        <a:rPr b="1" lang="en-US" sz="1200" spc="-1" strike="noStrike">
                          <a:solidFill>
                            <a:srgbClr val="38bdf8"/>
                          </a:solidFill>
                          <a:latin typeface="Inter"/>
                          <a:ea typeface="Inter"/>
                        </a:rPr>
                        <a:t>Characteristic</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4f81bd"/>
                    </a:solidFill>
                  </a:tcPr>
                </a:tc>
              </a:tr>
              <a:tr h="390240">
                <a:tc>
                  <a:txBody>
                    <a:bodyPr lIns="63360" rIns="63360">
                      <a:noAutofit/>
                    </a:bodyPr>
                    <a:p>
                      <a:pPr>
                        <a:lnSpc>
                          <a:spcPct val="100000"/>
                        </a:lnSpc>
                        <a:tabLst>
                          <a:tab algn="l" pos="0"/>
                        </a:tabLst>
                      </a:pPr>
                      <a:r>
                        <a:rPr b="1" lang="en-US" sz="1200" spc="-1" strike="noStrike">
                          <a:solidFill>
                            <a:srgbClr val="3465a4"/>
                          </a:solidFill>
                          <a:latin typeface="Inter"/>
                          <a:ea typeface="Inter"/>
                        </a:rPr>
                        <a:t>HF / VHF</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cfd7e7"/>
                    </a:solidFill>
                  </a:tcPr>
                </a:tc>
                <a:tc>
                  <a:txBody>
                    <a:bodyPr lIns="63360" rIns="63360">
                      <a:noAutofit/>
                    </a:bodyPr>
                    <a:p>
                      <a:pPr>
                        <a:lnSpc>
                          <a:spcPct val="100000"/>
                        </a:lnSpc>
                        <a:tabLst>
                          <a:tab algn="l" pos="0"/>
                        </a:tabLst>
                      </a:pPr>
                      <a:r>
                        <a:rPr b="0" lang="en-US" sz="1200" spc="-1" strike="noStrike">
                          <a:solidFill>
                            <a:srgbClr val="3465a4"/>
                          </a:solidFill>
                          <a:latin typeface="Inter"/>
                          <a:ea typeface="Inter"/>
                        </a:rPr>
                        <a:t>Early Warning</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cfd7e7"/>
                    </a:solidFill>
                  </a:tcPr>
                </a:tc>
                <a:tc>
                  <a:txBody>
                    <a:bodyPr lIns="63360" rIns="63360">
                      <a:noAutofit/>
                    </a:bodyPr>
                    <a:p>
                      <a:pPr>
                        <a:lnSpc>
                          <a:spcPct val="100000"/>
                        </a:lnSpc>
                        <a:tabLst>
                          <a:tab algn="l" pos="0"/>
                        </a:tabLst>
                      </a:pPr>
                      <a:r>
                        <a:rPr b="0" lang="en-US" sz="1200" spc="-1" strike="noStrike">
                          <a:solidFill>
                            <a:srgbClr val="3465a4"/>
                          </a:solidFill>
                          <a:latin typeface="Inter"/>
                          <a:ea typeface="Inter"/>
                        </a:rPr>
                        <a:t>Long range, low accuracy. Can see stealth.</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cfd7e7"/>
                    </a:solidFill>
                  </a:tcPr>
                </a:tc>
              </a:tr>
              <a:tr h="390240">
                <a:tc>
                  <a:txBody>
                    <a:bodyPr lIns="63360" rIns="63360">
                      <a:noAutofit/>
                    </a:bodyPr>
                    <a:p>
                      <a:pPr>
                        <a:lnSpc>
                          <a:spcPct val="100000"/>
                        </a:lnSpc>
                        <a:tabLst>
                          <a:tab algn="l" pos="0"/>
                        </a:tabLst>
                      </a:pPr>
                      <a:r>
                        <a:rPr b="1" lang="en-US" sz="1200" spc="-1" strike="noStrike">
                          <a:solidFill>
                            <a:srgbClr val="3465a4"/>
                          </a:solidFill>
                          <a:latin typeface="Inter"/>
                          <a:ea typeface="Inter"/>
                        </a:rPr>
                        <a:t>L / S Band</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e8ecf4"/>
                    </a:solidFill>
                  </a:tcPr>
                </a:tc>
                <a:tc>
                  <a:txBody>
                    <a:bodyPr lIns="63360" rIns="63360">
                      <a:noAutofit/>
                    </a:bodyPr>
                    <a:p>
                      <a:pPr>
                        <a:lnSpc>
                          <a:spcPct val="100000"/>
                        </a:lnSpc>
                        <a:tabLst>
                          <a:tab algn="l" pos="0"/>
                        </a:tabLst>
                      </a:pPr>
                      <a:r>
                        <a:rPr b="0" lang="en-US" sz="1200" spc="-1" strike="noStrike">
                          <a:solidFill>
                            <a:srgbClr val="3465a4"/>
                          </a:solidFill>
                          <a:latin typeface="Inter"/>
                          <a:ea typeface="Inter"/>
                        </a:rPr>
                        <a:t>ATC, Search</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e8ecf4"/>
                    </a:solidFill>
                  </a:tcPr>
                </a:tc>
                <a:tc>
                  <a:txBody>
                    <a:bodyPr lIns="63360" rIns="63360">
                      <a:noAutofit/>
                    </a:bodyPr>
                    <a:p>
                      <a:pPr>
                        <a:lnSpc>
                          <a:spcPct val="100000"/>
                        </a:lnSpc>
                        <a:tabLst>
                          <a:tab algn="l" pos="0"/>
                        </a:tabLst>
                      </a:pPr>
                      <a:r>
                        <a:rPr b="0" lang="en-US" sz="1200" spc="-1" strike="noStrike">
                          <a:solidFill>
                            <a:srgbClr val="3465a4"/>
                          </a:solidFill>
                          <a:latin typeface="Inter"/>
                          <a:ea typeface="Inter"/>
                        </a:rPr>
                        <a:t>Balanced range and precision.</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e8ecf4"/>
                    </a:solidFill>
                  </a:tcPr>
                </a:tc>
              </a:tr>
              <a:tr h="390960">
                <a:tc>
                  <a:txBody>
                    <a:bodyPr lIns="63360" rIns="63360">
                      <a:noAutofit/>
                    </a:bodyPr>
                    <a:p>
                      <a:pPr>
                        <a:lnSpc>
                          <a:spcPct val="100000"/>
                        </a:lnSpc>
                        <a:tabLst>
                          <a:tab algn="l" pos="0"/>
                        </a:tabLst>
                      </a:pPr>
                      <a:r>
                        <a:rPr b="1" lang="en-US" sz="1200" spc="-1" strike="noStrike">
                          <a:solidFill>
                            <a:srgbClr val="3465a4"/>
                          </a:solidFill>
                          <a:latin typeface="Inter"/>
                          <a:ea typeface="Inter"/>
                        </a:rPr>
                        <a:t>X / Ku Band</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cfd7e7"/>
                    </a:solidFill>
                  </a:tcPr>
                </a:tc>
                <a:tc>
                  <a:txBody>
                    <a:bodyPr lIns="63360" rIns="63360">
                      <a:noAutofit/>
                    </a:bodyPr>
                    <a:p>
                      <a:pPr>
                        <a:lnSpc>
                          <a:spcPct val="100000"/>
                        </a:lnSpc>
                        <a:tabLst>
                          <a:tab algn="l" pos="0"/>
                        </a:tabLst>
                      </a:pPr>
                      <a:r>
                        <a:rPr b="0" lang="en-US" sz="1200" spc="-1" strike="noStrike">
                          <a:solidFill>
                            <a:srgbClr val="3465a4"/>
                          </a:solidFill>
                          <a:latin typeface="Inter"/>
                          <a:ea typeface="Inter"/>
                        </a:rPr>
                        <a:t>Fire Control</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cfd7e7"/>
                    </a:solidFill>
                  </a:tcPr>
                </a:tc>
                <a:tc>
                  <a:txBody>
                    <a:bodyPr lIns="63360" rIns="63360">
                      <a:noAutofit/>
                    </a:bodyPr>
                    <a:p>
                      <a:pPr>
                        <a:lnSpc>
                          <a:spcPct val="100000"/>
                        </a:lnSpc>
                        <a:tabLst>
                          <a:tab algn="l" pos="0"/>
                        </a:tabLst>
                      </a:pPr>
                      <a:r>
                        <a:rPr b="0" lang="en-US" sz="1200" spc="-1" strike="noStrike">
                          <a:solidFill>
                            <a:srgbClr val="3465a4"/>
                          </a:solidFill>
                          <a:latin typeface="Inter"/>
                          <a:ea typeface="Inter"/>
                        </a:rPr>
                        <a:t>Short range, pin-point accuracy.</a:t>
                      </a:r>
                      <a:endParaRPr b="0" lang="en-NZ" sz="1200" spc="-1" strike="noStrike">
                        <a:latin typeface="Arial"/>
                      </a:endParaRPr>
                    </a:p>
                  </a:txBody>
                  <a:tcPr marL="63360" marR="63360">
                    <a:lnL w="9360">
                      <a:solidFill>
                        <a:srgbClr val="000000"/>
                      </a:solidFill>
                    </a:lnL>
                    <a:lnR w="9360">
                      <a:solidFill>
                        <a:srgbClr val="000000"/>
                      </a:solidFill>
                    </a:lnR>
                    <a:lnT w="9360">
                      <a:solidFill>
                        <a:srgbClr val="000000"/>
                      </a:solidFill>
                    </a:lnT>
                    <a:lnB w="9360">
                      <a:solidFill>
                        <a:srgbClr val="000000"/>
                      </a:solidFill>
                    </a:lnB>
                    <a:solidFill>
                      <a:srgbClr val="cfd7e7"/>
                    </a:solidFill>
                  </a:tcPr>
                </a:tc>
              </a:tr>
            </a:tbl>
          </a:graphicData>
        </a:graphic>
      </p:graphicFrame>
      <p:pic>
        <p:nvPicPr>
          <p:cNvPr id="260" name="Picture 259" descr=""/>
          <p:cNvPicPr/>
          <p:nvPr/>
        </p:nvPicPr>
        <p:blipFill>
          <a:blip r:embed="rId4"/>
          <a:stretch/>
        </p:blipFill>
        <p:spPr>
          <a:xfrm>
            <a:off x="1296000" y="1642320"/>
            <a:ext cx="9523800" cy="1416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1" name="Google Shape;293;p27_0" descr="image.png"/>
          <p:cNvPicPr/>
          <p:nvPr/>
        </p:nvPicPr>
        <p:blipFill>
          <a:blip r:embed="rId1"/>
          <a:stretch/>
        </p:blipFill>
        <p:spPr>
          <a:xfrm>
            <a:off x="1080" y="9360"/>
            <a:ext cx="12191040" cy="6856920"/>
          </a:xfrm>
          <a:prstGeom prst="rect">
            <a:avLst/>
          </a:prstGeom>
          <a:ln w="0">
            <a:noFill/>
          </a:ln>
        </p:spPr>
      </p:pic>
      <p:pic>
        <p:nvPicPr>
          <p:cNvPr id="262" name="Google Shape;294;p27_1" descr="image.png"/>
          <p:cNvPicPr/>
          <p:nvPr/>
        </p:nvPicPr>
        <p:blipFill>
          <a:blip r:embed="rId2"/>
          <a:stretch/>
        </p:blipFill>
        <p:spPr>
          <a:xfrm>
            <a:off x="9360" y="9360"/>
            <a:ext cx="12171960" cy="265680"/>
          </a:xfrm>
          <a:prstGeom prst="rect">
            <a:avLst/>
          </a:prstGeom>
          <a:ln w="0">
            <a:noFill/>
          </a:ln>
        </p:spPr>
      </p:pic>
      <p:pic>
        <p:nvPicPr>
          <p:cNvPr id="263" name="Google Shape;295;p27_1" descr="image.png"/>
          <p:cNvPicPr/>
          <p:nvPr/>
        </p:nvPicPr>
        <p:blipFill>
          <a:blip r:embed="rId3"/>
          <a:stretch/>
        </p:blipFill>
        <p:spPr>
          <a:xfrm>
            <a:off x="9360" y="6581880"/>
            <a:ext cx="12171960" cy="265680"/>
          </a:xfrm>
          <a:prstGeom prst="rect">
            <a:avLst/>
          </a:prstGeom>
          <a:ln w="0">
            <a:noFill/>
          </a:ln>
        </p:spPr>
      </p:pic>
      <p:sp>
        <p:nvSpPr>
          <p:cNvPr id="264" name="Google Shape;296;p27_1"/>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Frequency Bands (cont)</a:t>
            </a:r>
            <a:endParaRPr b="0" lang="en-NZ" sz="2400" spc="-1" strike="noStrike">
              <a:latin typeface="Arial"/>
            </a:endParaRPr>
          </a:p>
        </p:txBody>
      </p:sp>
      <p:sp>
        <p:nvSpPr>
          <p:cNvPr id="265" name="Google Shape;297;p27_1"/>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266" name="" descr=""/>
          <p:cNvPicPr/>
          <p:nvPr/>
        </p:nvPicPr>
        <p:blipFill>
          <a:blip r:embed="rId4"/>
          <a:stretch/>
        </p:blipFill>
        <p:spPr>
          <a:xfrm>
            <a:off x="2280600" y="1620000"/>
            <a:ext cx="6899400" cy="47689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7" name="Google Shape;303;p28" descr="image.png"/>
          <p:cNvPicPr/>
          <p:nvPr/>
        </p:nvPicPr>
        <p:blipFill>
          <a:blip r:embed="rId1"/>
          <a:stretch/>
        </p:blipFill>
        <p:spPr>
          <a:xfrm>
            <a:off x="-9720" y="0"/>
            <a:ext cx="12191040" cy="6856920"/>
          </a:xfrm>
          <a:prstGeom prst="rect">
            <a:avLst/>
          </a:prstGeom>
          <a:ln w="0">
            <a:noFill/>
          </a:ln>
        </p:spPr>
      </p:pic>
      <p:pic>
        <p:nvPicPr>
          <p:cNvPr id="268" name="Google Shape;305;p28" descr="image.png"/>
          <p:cNvPicPr/>
          <p:nvPr/>
        </p:nvPicPr>
        <p:blipFill>
          <a:blip r:embed="rId2"/>
          <a:stretch/>
        </p:blipFill>
        <p:spPr>
          <a:xfrm>
            <a:off x="9360" y="9360"/>
            <a:ext cx="12171960" cy="265680"/>
          </a:xfrm>
          <a:prstGeom prst="rect">
            <a:avLst/>
          </a:prstGeom>
          <a:ln w="0">
            <a:noFill/>
          </a:ln>
        </p:spPr>
      </p:pic>
      <p:pic>
        <p:nvPicPr>
          <p:cNvPr id="269" name="Google Shape;306;p28" descr="image.png"/>
          <p:cNvPicPr/>
          <p:nvPr/>
        </p:nvPicPr>
        <p:blipFill>
          <a:blip r:embed="rId3"/>
          <a:stretch/>
        </p:blipFill>
        <p:spPr>
          <a:xfrm>
            <a:off x="9360" y="6581880"/>
            <a:ext cx="12171960" cy="265680"/>
          </a:xfrm>
          <a:prstGeom prst="rect">
            <a:avLst/>
          </a:prstGeom>
          <a:ln w="0">
            <a:noFill/>
          </a:ln>
        </p:spPr>
      </p:pic>
      <p:sp>
        <p:nvSpPr>
          <p:cNvPr id="270" name="Google Shape;307;p28"/>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Pulse Train</a:t>
            </a:r>
            <a:endParaRPr b="0" lang="en-NZ" sz="2400" spc="-1" strike="noStrike">
              <a:latin typeface="Arial"/>
            </a:endParaRPr>
          </a:p>
        </p:txBody>
      </p:sp>
      <p:sp>
        <p:nvSpPr>
          <p:cNvPr id="271" name="Google Shape;308;p28"/>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272" name="Google Shape;310;p28"/>
          <p:cNvSpPr/>
          <p:nvPr/>
        </p:nvSpPr>
        <p:spPr>
          <a:xfrm>
            <a:off x="628668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Transmit and Listen</a:t>
            </a:r>
            <a:endParaRPr b="0" lang="en-NZ" sz="1410" spc="-1" strike="noStrike">
              <a:latin typeface="Arial"/>
            </a:endParaRPr>
          </a:p>
        </p:txBody>
      </p:sp>
      <p:sp>
        <p:nvSpPr>
          <p:cNvPr id="273" name="Google Shape;311;p28"/>
          <p:cNvSpPr/>
          <p:nvPr/>
        </p:nvSpPr>
        <p:spPr>
          <a:xfrm>
            <a:off x="6286680" y="353988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Radar cannot transmit and listen at the same time. It fires a burst (Tx) and then listens (Rx).</a:t>
            </a:r>
            <a:endParaRPr b="0" lang="en-NZ" sz="1500" spc="-1" strike="noStrike">
              <a:latin typeface="Arial"/>
            </a:endParaRPr>
          </a:p>
        </p:txBody>
      </p:sp>
      <p:sp>
        <p:nvSpPr>
          <p:cNvPr id="274" name="Google Shape;312;p28"/>
          <p:cNvSpPr/>
          <p:nvPr/>
        </p:nvSpPr>
        <p:spPr>
          <a:xfrm>
            <a:off x="6286680" y="430164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Duty Cycle:</a:t>
            </a:r>
            <a:r>
              <a:rPr b="0" lang="en-US" sz="1500" spc="-1" strike="noStrike">
                <a:solidFill>
                  <a:srgbClr val="cbd5e1"/>
                </a:solidFill>
                <a:latin typeface="Inter"/>
                <a:ea typeface="Inter"/>
              </a:rPr>
              <a:t> Radars spend 99% of their time listening and only 1% transmitting.</a:t>
            </a:r>
            <a:endParaRPr b="0" lang="en-NZ" sz="1500" spc="-1" strike="noStrike">
              <a:latin typeface="Arial"/>
            </a:endParaRPr>
          </a:p>
        </p:txBody>
      </p:sp>
      <p:pic>
        <p:nvPicPr>
          <p:cNvPr id="275" name="Picture 268" descr=""/>
          <p:cNvPicPr/>
          <p:nvPr/>
        </p:nvPicPr>
        <p:blipFill>
          <a:blip r:embed="rId4"/>
          <a:stretch/>
        </p:blipFill>
        <p:spPr>
          <a:xfrm>
            <a:off x="474840" y="3060000"/>
            <a:ext cx="5104440" cy="14022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6" name="Google Shape;317;p29" descr="image.png"/>
          <p:cNvPicPr/>
          <p:nvPr/>
        </p:nvPicPr>
        <p:blipFill>
          <a:blip r:embed="rId1"/>
          <a:stretch/>
        </p:blipFill>
        <p:spPr>
          <a:xfrm>
            <a:off x="0" y="0"/>
            <a:ext cx="12191040" cy="6856920"/>
          </a:xfrm>
          <a:prstGeom prst="rect">
            <a:avLst/>
          </a:prstGeom>
          <a:ln w="0">
            <a:noFill/>
          </a:ln>
        </p:spPr>
      </p:pic>
      <p:pic>
        <p:nvPicPr>
          <p:cNvPr id="277" name="Google Shape;318;p29" descr="image.png"/>
          <p:cNvPicPr/>
          <p:nvPr/>
        </p:nvPicPr>
        <p:blipFill>
          <a:blip r:embed="rId2"/>
          <a:stretch/>
        </p:blipFill>
        <p:spPr>
          <a:xfrm>
            <a:off x="581040" y="2989800"/>
            <a:ext cx="3548520" cy="2034720"/>
          </a:xfrm>
          <a:prstGeom prst="rect">
            <a:avLst/>
          </a:prstGeom>
          <a:ln w="0">
            <a:noFill/>
          </a:ln>
        </p:spPr>
      </p:pic>
      <p:pic>
        <p:nvPicPr>
          <p:cNvPr id="278" name="Google Shape;319;p29" descr="image.png"/>
          <p:cNvPicPr/>
          <p:nvPr/>
        </p:nvPicPr>
        <p:blipFill>
          <a:blip r:embed="rId3"/>
          <a:stretch/>
        </p:blipFill>
        <p:spPr>
          <a:xfrm>
            <a:off x="4321080" y="2989800"/>
            <a:ext cx="3548520" cy="2034720"/>
          </a:xfrm>
          <a:prstGeom prst="rect">
            <a:avLst/>
          </a:prstGeom>
          <a:ln w="0">
            <a:noFill/>
          </a:ln>
        </p:spPr>
      </p:pic>
      <p:pic>
        <p:nvPicPr>
          <p:cNvPr id="279" name="Google Shape;320;p29" descr="image.png"/>
          <p:cNvPicPr/>
          <p:nvPr/>
        </p:nvPicPr>
        <p:blipFill>
          <a:blip r:embed="rId4"/>
          <a:stretch/>
        </p:blipFill>
        <p:spPr>
          <a:xfrm>
            <a:off x="8061120" y="2989800"/>
            <a:ext cx="3548520" cy="2034720"/>
          </a:xfrm>
          <a:prstGeom prst="rect">
            <a:avLst/>
          </a:prstGeom>
          <a:ln w="0">
            <a:noFill/>
          </a:ln>
        </p:spPr>
      </p:pic>
      <p:pic>
        <p:nvPicPr>
          <p:cNvPr id="280" name="Google Shape;321;p29" descr="image.png"/>
          <p:cNvPicPr/>
          <p:nvPr/>
        </p:nvPicPr>
        <p:blipFill>
          <a:blip r:embed="rId5"/>
          <a:stretch/>
        </p:blipFill>
        <p:spPr>
          <a:xfrm>
            <a:off x="9360" y="9360"/>
            <a:ext cx="12171960" cy="265680"/>
          </a:xfrm>
          <a:prstGeom prst="rect">
            <a:avLst/>
          </a:prstGeom>
          <a:ln w="0">
            <a:noFill/>
          </a:ln>
        </p:spPr>
      </p:pic>
      <p:pic>
        <p:nvPicPr>
          <p:cNvPr id="281" name="Google Shape;322;p29" descr="image.png"/>
          <p:cNvPicPr/>
          <p:nvPr/>
        </p:nvPicPr>
        <p:blipFill>
          <a:blip r:embed="rId6"/>
          <a:stretch/>
        </p:blipFill>
        <p:spPr>
          <a:xfrm>
            <a:off x="9360" y="6581880"/>
            <a:ext cx="12171960" cy="265680"/>
          </a:xfrm>
          <a:prstGeom prst="rect">
            <a:avLst/>
          </a:prstGeom>
          <a:ln w="0">
            <a:noFill/>
          </a:ln>
        </p:spPr>
      </p:pic>
      <p:sp>
        <p:nvSpPr>
          <p:cNvPr id="282" name="Google Shape;323;p29"/>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PRF vs. PRI</a:t>
            </a:r>
            <a:endParaRPr b="0" lang="en-NZ" sz="2400" spc="-1" strike="noStrike">
              <a:latin typeface="Arial"/>
            </a:endParaRPr>
          </a:p>
        </p:txBody>
      </p:sp>
      <p:sp>
        <p:nvSpPr>
          <p:cNvPr id="283" name="Google Shape;324;p29"/>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284" name="Google Shape;325;p29"/>
          <p:cNvSpPr/>
          <p:nvPr/>
        </p:nvSpPr>
        <p:spPr>
          <a:xfrm>
            <a:off x="781200" y="336816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PRI</a:t>
            </a:r>
            <a:endParaRPr b="0" lang="en-NZ" sz="1410" spc="-1" strike="noStrike">
              <a:latin typeface="Arial"/>
            </a:endParaRPr>
          </a:p>
        </p:txBody>
      </p:sp>
      <p:sp>
        <p:nvSpPr>
          <p:cNvPr id="285" name="Google Shape;326;p29"/>
          <p:cNvSpPr/>
          <p:nvPr/>
        </p:nvSpPr>
        <p:spPr>
          <a:xfrm>
            <a:off x="781200" y="3777840"/>
            <a:ext cx="314856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Pulse Repetition Interval. The time from the start of one pulse to the next.</a:t>
            </a:r>
            <a:endParaRPr b="0" lang="en-NZ" sz="1500" spc="-1" strike="noStrike">
              <a:latin typeface="Arial"/>
            </a:endParaRPr>
          </a:p>
        </p:txBody>
      </p:sp>
      <p:sp>
        <p:nvSpPr>
          <p:cNvPr id="286" name="Google Shape;327;p29"/>
          <p:cNvSpPr/>
          <p:nvPr/>
        </p:nvSpPr>
        <p:spPr>
          <a:xfrm>
            <a:off x="4521240" y="336816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PRF</a:t>
            </a:r>
            <a:endParaRPr b="0" lang="en-NZ" sz="1410" spc="-1" strike="noStrike">
              <a:latin typeface="Arial"/>
            </a:endParaRPr>
          </a:p>
        </p:txBody>
      </p:sp>
      <p:sp>
        <p:nvSpPr>
          <p:cNvPr id="287" name="Google Shape;328;p29"/>
          <p:cNvSpPr/>
          <p:nvPr/>
        </p:nvSpPr>
        <p:spPr>
          <a:xfrm>
            <a:off x="4521240" y="377784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Pulse Repetition Frequency. Pulses per second.</a:t>
            </a:r>
            <a:endParaRPr b="0" lang="en-NZ" sz="1500" spc="-1" strike="noStrike">
              <a:latin typeface="Arial"/>
            </a:endParaRPr>
          </a:p>
        </p:txBody>
      </p:sp>
      <p:sp>
        <p:nvSpPr>
          <p:cNvPr id="288" name="Google Shape;329;p29"/>
          <p:cNvSpPr/>
          <p:nvPr/>
        </p:nvSpPr>
        <p:spPr>
          <a:xfrm>
            <a:off x="8261280" y="336816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Trade-off</a:t>
            </a:r>
            <a:endParaRPr b="0" lang="en-NZ" sz="1410" spc="-1" strike="noStrike">
              <a:latin typeface="Arial"/>
            </a:endParaRPr>
          </a:p>
        </p:txBody>
      </p:sp>
      <p:sp>
        <p:nvSpPr>
          <p:cNvPr id="289" name="Google Shape;330;p29"/>
          <p:cNvSpPr/>
          <p:nvPr/>
        </p:nvSpPr>
        <p:spPr>
          <a:xfrm>
            <a:off x="8261280" y="3777840"/>
            <a:ext cx="314856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High PRF = Better velocity update. Low PRF = Longer range.</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0" name="Google Shape;303;p28" descr="image.png"/>
          <p:cNvPicPr/>
          <p:nvPr/>
        </p:nvPicPr>
        <p:blipFill>
          <a:blip r:embed="rId1"/>
          <a:stretch/>
        </p:blipFill>
        <p:spPr>
          <a:xfrm>
            <a:off x="-9720" y="0"/>
            <a:ext cx="12191040" cy="6856920"/>
          </a:xfrm>
          <a:prstGeom prst="rect">
            <a:avLst/>
          </a:prstGeom>
          <a:ln w="0">
            <a:noFill/>
          </a:ln>
        </p:spPr>
      </p:pic>
      <p:pic>
        <p:nvPicPr>
          <p:cNvPr id="291" name="Google Shape;305;p28" descr="image.png"/>
          <p:cNvPicPr/>
          <p:nvPr/>
        </p:nvPicPr>
        <p:blipFill>
          <a:blip r:embed="rId2"/>
          <a:stretch/>
        </p:blipFill>
        <p:spPr>
          <a:xfrm>
            <a:off x="9360" y="9360"/>
            <a:ext cx="12171960" cy="265680"/>
          </a:xfrm>
          <a:prstGeom prst="rect">
            <a:avLst/>
          </a:prstGeom>
          <a:ln w="0">
            <a:noFill/>
          </a:ln>
        </p:spPr>
      </p:pic>
      <p:pic>
        <p:nvPicPr>
          <p:cNvPr id="292" name="Google Shape;306;p28" descr="image.png"/>
          <p:cNvPicPr/>
          <p:nvPr/>
        </p:nvPicPr>
        <p:blipFill>
          <a:blip r:embed="rId3"/>
          <a:stretch/>
        </p:blipFill>
        <p:spPr>
          <a:xfrm>
            <a:off x="9360" y="6581880"/>
            <a:ext cx="12171960" cy="265680"/>
          </a:xfrm>
          <a:prstGeom prst="rect">
            <a:avLst/>
          </a:prstGeom>
          <a:ln w="0">
            <a:noFill/>
          </a:ln>
        </p:spPr>
      </p:pic>
      <p:sp>
        <p:nvSpPr>
          <p:cNvPr id="293" name="Google Shape;307;p28"/>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Resolution pulse width</a:t>
            </a:r>
            <a:endParaRPr b="0" lang="en-NZ" sz="2400" spc="-1" strike="noStrike">
              <a:latin typeface="Arial"/>
            </a:endParaRPr>
          </a:p>
        </p:txBody>
      </p:sp>
      <p:sp>
        <p:nvSpPr>
          <p:cNvPr id="294" name="Google Shape;308;p28"/>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295" name="Google Shape;311;p28"/>
          <p:cNvSpPr/>
          <p:nvPr/>
        </p:nvSpPr>
        <p:spPr>
          <a:xfrm>
            <a:off x="6286680" y="3651120"/>
            <a:ext cx="5323320" cy="218988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NZ" sz="1600" spc="-1" strike="noStrike">
                <a:solidFill>
                  <a:srgbClr val="ffffff"/>
                </a:solidFill>
                <a:latin typeface="Arial"/>
                <a:ea typeface="DejaVu Sans"/>
              </a:rPr>
              <a:t>A radar pulse in free space occupies a physical distance equal to the pulse width multiplied by the speed of light, which is about 984 feet per microsecond. If two targets are closer together than one-half of this physical distance, the radar cannot resolve the returns in range, and only one target will be displayed.</a:t>
            </a:r>
            <a:endParaRPr b="0" lang="en-NZ" sz="1600" spc="-1" strike="noStrike">
              <a:latin typeface="Arial"/>
            </a:endParaRPr>
          </a:p>
        </p:txBody>
      </p:sp>
      <p:pic>
        <p:nvPicPr>
          <p:cNvPr id="296" name="Picture 2" descr="Lightbox"/>
          <p:cNvPicPr/>
          <p:nvPr/>
        </p:nvPicPr>
        <p:blipFill>
          <a:blip r:embed="rId4"/>
          <a:stretch/>
        </p:blipFill>
        <p:spPr>
          <a:xfrm>
            <a:off x="253800" y="2838600"/>
            <a:ext cx="5727600" cy="2692080"/>
          </a:xfrm>
          <a:prstGeom prst="rect">
            <a:avLst/>
          </a:prstGeom>
          <a:ln w="0">
            <a:noFill/>
          </a:ln>
        </p:spPr>
      </p:pic>
      <p:sp>
        <p:nvSpPr>
          <p:cNvPr id="297" name="TextBox 2"/>
          <p:cNvSpPr/>
          <p:nvPr/>
        </p:nvSpPr>
        <p:spPr>
          <a:xfrm>
            <a:off x="6210360" y="2276640"/>
            <a:ext cx="5589720" cy="1063800"/>
          </a:xfrm>
          <a:prstGeom prst="rect">
            <a:avLst/>
          </a:prstGeom>
          <a:noFill/>
          <a:ln w="0">
            <a:noFill/>
          </a:ln>
        </p:spPr>
        <p:style>
          <a:lnRef idx="0"/>
          <a:fillRef idx="0"/>
          <a:effectRef idx="0"/>
          <a:fontRef idx="minor"/>
        </p:style>
        <p:txBody>
          <a:bodyPr lIns="90000" rIns="90000" tIns="45000" bIns="45000">
            <a:spAutoFit/>
          </a:bodyPr>
          <a:p>
            <a:pPr>
              <a:lnSpc>
                <a:spcPct val="100000"/>
              </a:lnSpc>
            </a:pPr>
            <a:r>
              <a:rPr b="0" lang="en-NZ" sz="1600" spc="-1" strike="noStrike">
                <a:solidFill>
                  <a:srgbClr val="ffffff"/>
                </a:solidFill>
                <a:latin typeface="Arial"/>
                <a:ea typeface="DejaVu Sans"/>
              </a:rPr>
              <a:t>Range resolution is the ability of radar to separate two targets that are close together in range and are at approximately the same azimuth. The range resolution capability is determined by pulse width.</a:t>
            </a:r>
            <a:endParaRPr b="0" lang="en-NZ" sz="16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8" name="Google Shape;335;p30" descr="image.png"/>
          <p:cNvPicPr/>
          <p:nvPr/>
        </p:nvPicPr>
        <p:blipFill>
          <a:blip r:embed="rId1"/>
          <a:stretch/>
        </p:blipFill>
        <p:spPr>
          <a:xfrm>
            <a:off x="0" y="0"/>
            <a:ext cx="12191040" cy="6856920"/>
          </a:xfrm>
          <a:prstGeom prst="rect">
            <a:avLst/>
          </a:prstGeom>
          <a:ln w="0">
            <a:noFill/>
          </a:ln>
        </p:spPr>
      </p:pic>
      <p:pic>
        <p:nvPicPr>
          <p:cNvPr id="299" name="Google Shape;336;p30" descr="image.png"/>
          <p:cNvPicPr/>
          <p:nvPr/>
        </p:nvPicPr>
        <p:blipFill>
          <a:blip r:embed="rId2"/>
          <a:stretch/>
        </p:blipFill>
        <p:spPr>
          <a:xfrm>
            <a:off x="581040" y="2894760"/>
            <a:ext cx="11028960" cy="2225160"/>
          </a:xfrm>
          <a:prstGeom prst="rect">
            <a:avLst/>
          </a:prstGeom>
          <a:ln w="0">
            <a:noFill/>
          </a:ln>
        </p:spPr>
      </p:pic>
      <p:pic>
        <p:nvPicPr>
          <p:cNvPr id="300" name="Google Shape;337;p30" descr="image.png"/>
          <p:cNvPicPr/>
          <p:nvPr/>
        </p:nvPicPr>
        <p:blipFill>
          <a:blip r:embed="rId3"/>
          <a:stretch/>
        </p:blipFill>
        <p:spPr>
          <a:xfrm>
            <a:off x="9360" y="9360"/>
            <a:ext cx="12171960" cy="265680"/>
          </a:xfrm>
          <a:prstGeom prst="rect">
            <a:avLst/>
          </a:prstGeom>
          <a:ln w="0">
            <a:noFill/>
          </a:ln>
        </p:spPr>
      </p:pic>
      <p:pic>
        <p:nvPicPr>
          <p:cNvPr id="301" name="Google Shape;338;p30" descr="image.png"/>
          <p:cNvPicPr/>
          <p:nvPr/>
        </p:nvPicPr>
        <p:blipFill>
          <a:blip r:embed="rId4"/>
          <a:stretch/>
        </p:blipFill>
        <p:spPr>
          <a:xfrm>
            <a:off x="9360" y="6581880"/>
            <a:ext cx="12171960" cy="265680"/>
          </a:xfrm>
          <a:prstGeom prst="rect">
            <a:avLst/>
          </a:prstGeom>
          <a:ln w="0">
            <a:noFill/>
          </a:ln>
        </p:spPr>
      </p:pic>
      <p:sp>
        <p:nvSpPr>
          <p:cNvPr id="302" name="Google Shape;339;p30"/>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Range Ambiguity</a:t>
            </a:r>
            <a:endParaRPr b="0" lang="en-NZ" sz="2400" spc="-1" strike="noStrike">
              <a:latin typeface="Arial"/>
            </a:endParaRPr>
          </a:p>
        </p:txBody>
      </p:sp>
      <p:sp>
        <p:nvSpPr>
          <p:cNvPr id="303" name="Google Shape;340;p30"/>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04" name="Google Shape;341;p30"/>
          <p:cNvSpPr/>
          <p:nvPr/>
        </p:nvSpPr>
        <p:spPr>
          <a:xfrm>
            <a:off x="781200" y="327312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"Second Time Around" Echo</a:t>
            </a:r>
            <a:endParaRPr b="0" lang="en-NZ" sz="1410" spc="-1" strike="noStrike">
              <a:latin typeface="Arial"/>
            </a:endParaRPr>
          </a:p>
        </p:txBody>
      </p:sp>
      <p:sp>
        <p:nvSpPr>
          <p:cNvPr id="305" name="Google Shape;342;p30"/>
          <p:cNvSpPr/>
          <p:nvPr/>
        </p:nvSpPr>
        <p:spPr>
          <a:xfrm>
            <a:off x="781200" y="36824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If a target is too far away, its echo might arrive </a:t>
            </a:r>
            <a:r>
              <a:rPr b="0" i="1" lang="en-US" sz="1500" spc="-1" strike="noStrike">
                <a:solidFill>
                  <a:srgbClr val="cbd5e1"/>
                </a:solidFill>
                <a:latin typeface="Inter"/>
                <a:ea typeface="Inter"/>
              </a:rPr>
              <a:t>after</a:t>
            </a:r>
            <a:r>
              <a:rPr b="0" lang="en-US" sz="1500" spc="-1" strike="noStrike">
                <a:solidFill>
                  <a:srgbClr val="cbd5e1"/>
                </a:solidFill>
                <a:latin typeface="Inter"/>
                <a:ea typeface="Inter"/>
              </a:rPr>
              <a:t> the radar fires the next pulse.</a:t>
            </a:r>
            <a:endParaRPr b="0" lang="en-NZ" sz="1500" spc="-1" strike="noStrike">
              <a:latin typeface="Arial"/>
            </a:endParaRPr>
          </a:p>
        </p:txBody>
      </p:sp>
      <p:sp>
        <p:nvSpPr>
          <p:cNvPr id="306" name="Google Shape;343;p30"/>
          <p:cNvSpPr/>
          <p:nvPr/>
        </p:nvSpPr>
        <p:spPr>
          <a:xfrm>
            <a:off x="781200" y="4158720"/>
            <a:ext cx="106290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radar assumes the echo belongs to the second pulse and displays the target as being very close (a ghost target). This limits the Maximum Unambiguous Range.</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7" name="Google Shape;348;p31" descr="image.png"/>
          <p:cNvPicPr/>
          <p:nvPr/>
        </p:nvPicPr>
        <p:blipFill>
          <a:blip r:embed="rId1"/>
          <a:stretch/>
        </p:blipFill>
        <p:spPr>
          <a:xfrm>
            <a:off x="0" y="0"/>
            <a:ext cx="12191040" cy="6856920"/>
          </a:xfrm>
          <a:prstGeom prst="rect">
            <a:avLst/>
          </a:prstGeom>
          <a:ln w="0">
            <a:noFill/>
          </a:ln>
        </p:spPr>
      </p:pic>
      <p:pic>
        <p:nvPicPr>
          <p:cNvPr id="308" name="Google Shape;349;p31" descr="image.png"/>
          <p:cNvPicPr/>
          <p:nvPr/>
        </p:nvPicPr>
        <p:blipFill>
          <a:blip r:embed="rId2"/>
          <a:stretch/>
        </p:blipFill>
        <p:spPr>
          <a:xfrm>
            <a:off x="581040" y="2919960"/>
            <a:ext cx="11028960" cy="2174760"/>
          </a:xfrm>
          <a:prstGeom prst="rect">
            <a:avLst/>
          </a:prstGeom>
          <a:ln w="0">
            <a:noFill/>
          </a:ln>
        </p:spPr>
      </p:pic>
      <p:pic>
        <p:nvPicPr>
          <p:cNvPr id="309" name="Google Shape;350;p31" descr="image.png"/>
          <p:cNvPicPr/>
          <p:nvPr/>
        </p:nvPicPr>
        <p:blipFill>
          <a:blip r:embed="rId3"/>
          <a:stretch/>
        </p:blipFill>
        <p:spPr>
          <a:xfrm>
            <a:off x="9360" y="9360"/>
            <a:ext cx="12171960" cy="265680"/>
          </a:xfrm>
          <a:prstGeom prst="rect">
            <a:avLst/>
          </a:prstGeom>
          <a:ln w="0">
            <a:noFill/>
          </a:ln>
        </p:spPr>
      </p:pic>
      <p:pic>
        <p:nvPicPr>
          <p:cNvPr id="310" name="Google Shape;351;p31" descr="image.png"/>
          <p:cNvPicPr/>
          <p:nvPr/>
        </p:nvPicPr>
        <p:blipFill>
          <a:blip r:embed="rId4"/>
          <a:stretch/>
        </p:blipFill>
        <p:spPr>
          <a:xfrm>
            <a:off x="9360" y="6581880"/>
            <a:ext cx="12171960" cy="265680"/>
          </a:xfrm>
          <a:prstGeom prst="rect">
            <a:avLst/>
          </a:prstGeom>
          <a:ln w="0">
            <a:noFill/>
          </a:ln>
        </p:spPr>
      </p:pic>
      <p:sp>
        <p:nvSpPr>
          <p:cNvPr id="311" name="Google Shape;352;p31"/>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Pulse Width (Tau)</a:t>
            </a:r>
            <a:endParaRPr b="0" lang="en-NZ" sz="2400" spc="-1" strike="noStrike">
              <a:latin typeface="Arial"/>
            </a:endParaRPr>
          </a:p>
        </p:txBody>
      </p:sp>
      <p:sp>
        <p:nvSpPr>
          <p:cNvPr id="312" name="Google Shape;353;p31"/>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13" name="Google Shape;354;p31"/>
          <p:cNvSpPr/>
          <p:nvPr/>
        </p:nvSpPr>
        <p:spPr>
          <a:xfrm>
            <a:off x="781200" y="329832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Energy vs Clarity</a:t>
            </a:r>
            <a:endParaRPr b="0" lang="en-NZ" sz="1410" spc="-1" strike="noStrike">
              <a:latin typeface="Arial"/>
            </a:endParaRPr>
          </a:p>
        </p:txBody>
      </p:sp>
      <p:sp>
        <p:nvSpPr>
          <p:cNvPr id="314" name="Google Shape;355;p31"/>
          <p:cNvSpPr/>
          <p:nvPr/>
        </p:nvSpPr>
        <p:spPr>
          <a:xfrm>
            <a:off x="971640" y="3695400"/>
            <a:ext cx="104382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Long Pulse:</a:t>
            </a:r>
            <a:r>
              <a:rPr b="0" lang="en-US" sz="1500" spc="-1" strike="noStrike">
                <a:solidFill>
                  <a:srgbClr val="cbd5e1"/>
                </a:solidFill>
                <a:latin typeface="Inter"/>
                <a:ea typeface="Inter"/>
              </a:rPr>
              <a:t> Contains more energy. Can see further.</a:t>
            </a:r>
            <a:endParaRPr b="0" lang="en-NZ" sz="1500" spc="-1" strike="noStrike">
              <a:latin typeface="Arial"/>
            </a:endParaRPr>
          </a:p>
        </p:txBody>
      </p:sp>
      <p:sp>
        <p:nvSpPr>
          <p:cNvPr id="315" name="Google Shape;356;p31"/>
          <p:cNvSpPr/>
          <p:nvPr/>
        </p:nvSpPr>
        <p:spPr>
          <a:xfrm>
            <a:off x="971640" y="4076640"/>
            <a:ext cx="104382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Short Pulse:</a:t>
            </a:r>
            <a:r>
              <a:rPr b="0" lang="en-US" sz="1500" spc="-1" strike="noStrike">
                <a:solidFill>
                  <a:srgbClr val="cbd5e1"/>
                </a:solidFill>
                <a:latin typeface="Inter"/>
                <a:ea typeface="Inter"/>
              </a:rPr>
              <a:t> Provides better resolution. Can distinguish close targets.</a:t>
            </a:r>
            <a:endParaRPr b="0" lang="en-NZ" sz="1500" spc="-1" strike="noStrike">
              <a:latin typeface="Arial"/>
            </a:endParaRPr>
          </a:p>
        </p:txBody>
      </p:sp>
      <p:sp>
        <p:nvSpPr>
          <p:cNvPr id="316" name="Google Shape;357;p31"/>
          <p:cNvSpPr/>
          <p:nvPr/>
        </p:nvSpPr>
        <p:spPr>
          <a:xfrm>
            <a:off x="971640" y="4457520"/>
            <a:ext cx="104382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Problem:</a:t>
            </a:r>
            <a:r>
              <a:rPr b="0" lang="en-US" sz="1500" spc="-1" strike="noStrike">
                <a:solidFill>
                  <a:srgbClr val="cbd5e1"/>
                </a:solidFill>
                <a:latin typeface="Inter"/>
                <a:ea typeface="Inter"/>
              </a:rPr>
              <a:t> You usually want both.</a:t>
            </a:r>
            <a:endParaRPr b="0" lang="en-NZ" sz="1500" spc="-1" strike="noStrike">
              <a:latin typeface="Arial"/>
            </a:endParaRPr>
          </a:p>
        </p:txBody>
      </p:sp>
      <p:sp>
        <p:nvSpPr>
          <p:cNvPr id="317" name="Google Shape;358;p31"/>
          <p:cNvSpPr/>
          <p:nvPr/>
        </p:nvSpPr>
        <p:spPr>
          <a:xfrm>
            <a:off x="781200" y="369540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
        <p:nvSpPr>
          <p:cNvPr id="318" name="Google Shape;359;p31"/>
          <p:cNvSpPr/>
          <p:nvPr/>
        </p:nvSpPr>
        <p:spPr>
          <a:xfrm>
            <a:off x="781200" y="407664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
        <p:nvSpPr>
          <p:cNvPr id="319" name="Google Shape;360;p31"/>
          <p:cNvSpPr/>
          <p:nvPr/>
        </p:nvSpPr>
        <p:spPr>
          <a:xfrm>
            <a:off x="781200" y="445752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0" name="Google Shape;365;p32" descr="image.png"/>
          <p:cNvPicPr/>
          <p:nvPr/>
        </p:nvPicPr>
        <p:blipFill>
          <a:blip r:embed="rId1"/>
          <a:stretch/>
        </p:blipFill>
        <p:spPr>
          <a:xfrm>
            <a:off x="0" y="0"/>
            <a:ext cx="12191040" cy="6856920"/>
          </a:xfrm>
          <a:prstGeom prst="rect">
            <a:avLst/>
          </a:prstGeom>
          <a:ln w="0">
            <a:noFill/>
          </a:ln>
        </p:spPr>
      </p:pic>
      <p:pic>
        <p:nvPicPr>
          <p:cNvPr id="321" name="Google Shape;366;p32" descr="image.png"/>
          <p:cNvPicPr/>
          <p:nvPr/>
        </p:nvPicPr>
        <p:blipFill>
          <a:blip r:embed="rId2"/>
          <a:stretch/>
        </p:blipFill>
        <p:spPr>
          <a:xfrm>
            <a:off x="6286680" y="1864800"/>
            <a:ext cx="5323320" cy="4285080"/>
          </a:xfrm>
          <a:prstGeom prst="rect">
            <a:avLst/>
          </a:prstGeom>
          <a:ln w="0">
            <a:noFill/>
          </a:ln>
        </p:spPr>
      </p:pic>
      <p:pic>
        <p:nvPicPr>
          <p:cNvPr id="322" name="Google Shape;367;p32" descr="image.png"/>
          <p:cNvPicPr/>
          <p:nvPr/>
        </p:nvPicPr>
        <p:blipFill>
          <a:blip r:embed="rId3"/>
          <a:stretch/>
        </p:blipFill>
        <p:spPr>
          <a:xfrm>
            <a:off x="9360" y="9360"/>
            <a:ext cx="12171960" cy="265680"/>
          </a:xfrm>
          <a:prstGeom prst="rect">
            <a:avLst/>
          </a:prstGeom>
          <a:ln w="0">
            <a:noFill/>
          </a:ln>
        </p:spPr>
      </p:pic>
      <p:pic>
        <p:nvPicPr>
          <p:cNvPr id="323" name="Google Shape;368;p32" descr="image.png"/>
          <p:cNvPicPr/>
          <p:nvPr/>
        </p:nvPicPr>
        <p:blipFill>
          <a:blip r:embed="rId4"/>
          <a:stretch/>
        </p:blipFill>
        <p:spPr>
          <a:xfrm>
            <a:off x="9360" y="6581880"/>
            <a:ext cx="12171960" cy="265680"/>
          </a:xfrm>
          <a:prstGeom prst="rect">
            <a:avLst/>
          </a:prstGeom>
          <a:ln w="0">
            <a:noFill/>
          </a:ln>
        </p:spPr>
      </p:pic>
      <p:sp>
        <p:nvSpPr>
          <p:cNvPr id="324" name="Google Shape;369;p32"/>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Range Resolution</a:t>
            </a:r>
            <a:endParaRPr b="0" lang="en-NZ" sz="2400" spc="-1" strike="noStrike">
              <a:latin typeface="Arial"/>
            </a:endParaRPr>
          </a:p>
        </p:txBody>
      </p:sp>
      <p:sp>
        <p:nvSpPr>
          <p:cNvPr id="325" name="Google Shape;370;p32"/>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26" name="Google Shape;371;p32"/>
          <p:cNvSpPr/>
          <p:nvPr/>
        </p:nvSpPr>
        <p:spPr>
          <a:xfrm>
            <a:off x="581040" y="327312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Resolving Targets</a:t>
            </a:r>
            <a:endParaRPr b="0" lang="en-NZ" sz="1410" spc="-1" strike="noStrike">
              <a:latin typeface="Arial"/>
            </a:endParaRPr>
          </a:p>
        </p:txBody>
      </p:sp>
      <p:sp>
        <p:nvSpPr>
          <p:cNvPr id="327" name="Google Shape;372;p32"/>
          <p:cNvSpPr/>
          <p:nvPr/>
        </p:nvSpPr>
        <p:spPr>
          <a:xfrm>
            <a:off x="581040" y="368244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If two planes are flying closer together than half the pulse length, the radar sees one big "blip."</a:t>
            </a:r>
            <a:endParaRPr b="0" lang="en-NZ" sz="1500" spc="-1" strike="noStrike">
              <a:latin typeface="Arial"/>
            </a:endParaRPr>
          </a:p>
        </p:txBody>
      </p:sp>
      <p:sp>
        <p:nvSpPr>
          <p:cNvPr id="328" name="Google Shape;373;p32"/>
          <p:cNvSpPr/>
          <p:nvPr/>
        </p:nvSpPr>
        <p:spPr>
          <a:xfrm>
            <a:off x="581040" y="4444560"/>
            <a:ext cx="532332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Short pulses are required to separate formation flights.</a:t>
            </a:r>
            <a:endParaRPr b="0" lang="en-NZ" sz="1500" spc="-1" strike="noStrike">
              <a:latin typeface="Arial"/>
            </a:endParaRPr>
          </a:p>
        </p:txBody>
      </p:sp>
      <p:pic>
        <p:nvPicPr>
          <p:cNvPr id="329" name="Google Shape;374;p32"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Google Shape;379;p33" descr="image.png"/>
          <p:cNvPicPr/>
          <p:nvPr/>
        </p:nvPicPr>
        <p:blipFill>
          <a:blip r:embed="rId1"/>
          <a:stretch/>
        </p:blipFill>
        <p:spPr>
          <a:xfrm>
            <a:off x="0" y="0"/>
            <a:ext cx="12191040" cy="6856920"/>
          </a:xfrm>
          <a:prstGeom prst="rect">
            <a:avLst/>
          </a:prstGeom>
          <a:ln w="0">
            <a:noFill/>
          </a:ln>
        </p:spPr>
      </p:pic>
      <p:pic>
        <p:nvPicPr>
          <p:cNvPr id="331" name="Google Shape;380;p33" descr="image.png"/>
          <p:cNvPicPr/>
          <p:nvPr/>
        </p:nvPicPr>
        <p:blipFill>
          <a:blip r:embed="rId2"/>
          <a:stretch/>
        </p:blipFill>
        <p:spPr>
          <a:xfrm>
            <a:off x="581040" y="2894760"/>
            <a:ext cx="11028960" cy="2225160"/>
          </a:xfrm>
          <a:prstGeom prst="rect">
            <a:avLst/>
          </a:prstGeom>
          <a:ln w="0">
            <a:noFill/>
          </a:ln>
        </p:spPr>
      </p:pic>
      <p:pic>
        <p:nvPicPr>
          <p:cNvPr id="332" name="Google Shape;381;p33" descr="image.png"/>
          <p:cNvPicPr/>
          <p:nvPr/>
        </p:nvPicPr>
        <p:blipFill>
          <a:blip r:embed="rId3"/>
          <a:stretch/>
        </p:blipFill>
        <p:spPr>
          <a:xfrm>
            <a:off x="9360" y="9360"/>
            <a:ext cx="12171960" cy="265680"/>
          </a:xfrm>
          <a:prstGeom prst="rect">
            <a:avLst/>
          </a:prstGeom>
          <a:ln w="0">
            <a:noFill/>
          </a:ln>
        </p:spPr>
      </p:pic>
      <p:pic>
        <p:nvPicPr>
          <p:cNvPr id="333" name="Google Shape;382;p33" descr="image.png"/>
          <p:cNvPicPr/>
          <p:nvPr/>
        </p:nvPicPr>
        <p:blipFill>
          <a:blip r:embed="rId4"/>
          <a:stretch/>
        </p:blipFill>
        <p:spPr>
          <a:xfrm>
            <a:off x="9360" y="6581880"/>
            <a:ext cx="12171960" cy="265680"/>
          </a:xfrm>
          <a:prstGeom prst="rect">
            <a:avLst/>
          </a:prstGeom>
          <a:ln w="0">
            <a:noFill/>
          </a:ln>
        </p:spPr>
      </p:pic>
      <p:sp>
        <p:nvSpPr>
          <p:cNvPr id="334" name="Google Shape;383;p33"/>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Solution: Pulse Compression</a:t>
            </a:r>
            <a:endParaRPr b="0" lang="en-NZ" sz="2400" spc="-1" strike="noStrike">
              <a:latin typeface="Arial"/>
            </a:endParaRPr>
          </a:p>
        </p:txBody>
      </p:sp>
      <p:sp>
        <p:nvSpPr>
          <p:cNvPr id="335" name="Google Shape;384;p33"/>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36" name="Google Shape;385;p33"/>
          <p:cNvSpPr/>
          <p:nvPr/>
        </p:nvSpPr>
        <p:spPr>
          <a:xfrm>
            <a:off x="781200" y="327312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Chirping</a:t>
            </a:r>
            <a:endParaRPr b="0" lang="en-NZ" sz="1410" spc="-1" strike="noStrike">
              <a:latin typeface="Arial"/>
            </a:endParaRPr>
          </a:p>
        </p:txBody>
      </p:sp>
      <p:sp>
        <p:nvSpPr>
          <p:cNvPr id="337" name="Google Shape;386;p33"/>
          <p:cNvSpPr/>
          <p:nvPr/>
        </p:nvSpPr>
        <p:spPr>
          <a:xfrm>
            <a:off x="781200" y="36824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How to get long range (energy) AND high resolution (short pulse)?</a:t>
            </a:r>
            <a:endParaRPr b="0" lang="en-NZ" sz="1500" spc="-1" strike="noStrike">
              <a:latin typeface="Arial"/>
            </a:endParaRPr>
          </a:p>
        </p:txBody>
      </p:sp>
      <p:sp>
        <p:nvSpPr>
          <p:cNvPr id="338" name="Google Shape;387;p33"/>
          <p:cNvSpPr/>
          <p:nvPr/>
        </p:nvSpPr>
        <p:spPr>
          <a:xfrm>
            <a:off x="781200" y="4158720"/>
            <a:ext cx="106290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Technique:</a:t>
            </a:r>
            <a:r>
              <a:rPr b="0" lang="en-US" sz="1500" spc="-1" strike="noStrike">
                <a:solidFill>
                  <a:srgbClr val="cbd5e1"/>
                </a:solidFill>
                <a:latin typeface="Inter"/>
                <a:ea typeface="Inter"/>
              </a:rPr>
              <a:t> Transmit a long pulse that changes frequency (chirp). The receiver "compresses" this chirp mathematically into a sharp spike.</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9" name="Google Shape;392;p34" descr="image.png"/>
          <p:cNvPicPr/>
          <p:nvPr/>
        </p:nvPicPr>
        <p:blipFill>
          <a:blip r:embed="rId1"/>
          <a:stretch/>
        </p:blipFill>
        <p:spPr>
          <a:xfrm>
            <a:off x="0" y="0"/>
            <a:ext cx="12191040" cy="6856920"/>
          </a:xfrm>
          <a:prstGeom prst="rect">
            <a:avLst/>
          </a:prstGeom>
          <a:ln w="0">
            <a:noFill/>
          </a:ln>
        </p:spPr>
      </p:pic>
      <p:pic>
        <p:nvPicPr>
          <p:cNvPr id="340" name="Google Shape;393;p34" descr="image.png"/>
          <p:cNvPicPr/>
          <p:nvPr/>
        </p:nvPicPr>
        <p:blipFill>
          <a:blip r:embed="rId2"/>
          <a:stretch/>
        </p:blipFill>
        <p:spPr>
          <a:xfrm>
            <a:off x="581040" y="2894760"/>
            <a:ext cx="11028960" cy="2225160"/>
          </a:xfrm>
          <a:prstGeom prst="rect">
            <a:avLst/>
          </a:prstGeom>
          <a:ln w="0">
            <a:noFill/>
          </a:ln>
        </p:spPr>
      </p:pic>
      <p:pic>
        <p:nvPicPr>
          <p:cNvPr id="341" name="Google Shape;394;p34" descr="image.png"/>
          <p:cNvPicPr/>
          <p:nvPr/>
        </p:nvPicPr>
        <p:blipFill>
          <a:blip r:embed="rId3"/>
          <a:stretch/>
        </p:blipFill>
        <p:spPr>
          <a:xfrm>
            <a:off x="9360" y="9360"/>
            <a:ext cx="12171960" cy="265680"/>
          </a:xfrm>
          <a:prstGeom prst="rect">
            <a:avLst/>
          </a:prstGeom>
          <a:ln w="0">
            <a:noFill/>
          </a:ln>
        </p:spPr>
      </p:pic>
      <p:pic>
        <p:nvPicPr>
          <p:cNvPr id="342" name="Google Shape;395;p34" descr="image.png"/>
          <p:cNvPicPr/>
          <p:nvPr/>
        </p:nvPicPr>
        <p:blipFill>
          <a:blip r:embed="rId4"/>
          <a:stretch/>
        </p:blipFill>
        <p:spPr>
          <a:xfrm>
            <a:off x="9360" y="6581880"/>
            <a:ext cx="12171960" cy="265680"/>
          </a:xfrm>
          <a:prstGeom prst="rect">
            <a:avLst/>
          </a:prstGeom>
          <a:ln w="0">
            <a:noFill/>
          </a:ln>
        </p:spPr>
      </p:pic>
      <p:sp>
        <p:nvSpPr>
          <p:cNvPr id="343" name="Google Shape;396;p34"/>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Minimum Range (Blind Zone)</a:t>
            </a:r>
            <a:endParaRPr b="0" lang="en-NZ" sz="2400" spc="-1" strike="noStrike">
              <a:latin typeface="Arial"/>
            </a:endParaRPr>
          </a:p>
        </p:txBody>
      </p:sp>
      <p:sp>
        <p:nvSpPr>
          <p:cNvPr id="344" name="Google Shape;397;p34"/>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45" name="Google Shape;398;p34"/>
          <p:cNvSpPr/>
          <p:nvPr/>
        </p:nvSpPr>
        <p:spPr>
          <a:xfrm>
            <a:off x="781200" y="327312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Receiver is Off</a:t>
            </a:r>
            <a:endParaRPr b="0" lang="en-NZ" sz="1410" spc="-1" strike="noStrike">
              <a:latin typeface="Arial"/>
            </a:endParaRPr>
          </a:p>
        </p:txBody>
      </p:sp>
      <p:sp>
        <p:nvSpPr>
          <p:cNvPr id="346" name="Google Shape;399;p34"/>
          <p:cNvSpPr/>
          <p:nvPr/>
        </p:nvSpPr>
        <p:spPr>
          <a:xfrm>
            <a:off x="781200" y="36824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While transmitting the pulse, the receiver is disconnected to prevent damage.</a:t>
            </a:r>
            <a:endParaRPr b="0" lang="en-NZ" sz="1500" spc="-1" strike="noStrike">
              <a:latin typeface="Arial"/>
            </a:endParaRPr>
          </a:p>
        </p:txBody>
      </p:sp>
      <p:sp>
        <p:nvSpPr>
          <p:cNvPr id="347" name="Google Shape;400;p34"/>
          <p:cNvSpPr/>
          <p:nvPr/>
        </p:nvSpPr>
        <p:spPr>
          <a:xfrm>
            <a:off x="781200" y="4158720"/>
            <a:ext cx="106290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This creates a "Blind Zone" around the radar. Any target close enough to return an echo before the pulse finishes cannot be seen.</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8" name="Google Shape;405;p35" descr="image.png"/>
          <p:cNvPicPr/>
          <p:nvPr/>
        </p:nvPicPr>
        <p:blipFill>
          <a:blip r:embed="rId1"/>
          <a:stretch/>
        </p:blipFill>
        <p:spPr>
          <a:xfrm>
            <a:off x="9360" y="0"/>
            <a:ext cx="12191040" cy="6856920"/>
          </a:xfrm>
          <a:prstGeom prst="rect">
            <a:avLst/>
          </a:prstGeom>
          <a:ln w="0">
            <a:noFill/>
          </a:ln>
        </p:spPr>
      </p:pic>
      <p:pic>
        <p:nvPicPr>
          <p:cNvPr id="349" name="Google Shape;407;p35" descr="image.png"/>
          <p:cNvPicPr/>
          <p:nvPr/>
        </p:nvPicPr>
        <p:blipFill>
          <a:blip r:embed="rId2"/>
          <a:stretch/>
        </p:blipFill>
        <p:spPr>
          <a:xfrm>
            <a:off x="9360" y="9360"/>
            <a:ext cx="12171960" cy="265680"/>
          </a:xfrm>
          <a:prstGeom prst="rect">
            <a:avLst/>
          </a:prstGeom>
          <a:ln w="0">
            <a:noFill/>
          </a:ln>
        </p:spPr>
      </p:pic>
      <p:pic>
        <p:nvPicPr>
          <p:cNvPr id="350" name="Google Shape;408;p35" descr="image.png"/>
          <p:cNvPicPr/>
          <p:nvPr/>
        </p:nvPicPr>
        <p:blipFill>
          <a:blip r:embed="rId3"/>
          <a:stretch/>
        </p:blipFill>
        <p:spPr>
          <a:xfrm>
            <a:off x="9360" y="6581880"/>
            <a:ext cx="12171960" cy="265680"/>
          </a:xfrm>
          <a:prstGeom prst="rect">
            <a:avLst/>
          </a:prstGeom>
          <a:ln w="0">
            <a:noFill/>
          </a:ln>
        </p:spPr>
      </p:pic>
      <p:sp>
        <p:nvSpPr>
          <p:cNvPr id="351" name="Google Shape;409;p35"/>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Range Gating</a:t>
            </a:r>
            <a:endParaRPr b="0" lang="en-NZ" sz="2400" spc="-1" strike="noStrike">
              <a:latin typeface="Arial"/>
            </a:endParaRPr>
          </a:p>
        </p:txBody>
      </p:sp>
      <p:sp>
        <p:nvSpPr>
          <p:cNvPr id="352" name="Google Shape;410;p35"/>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53" name="Google Shape;412;p35"/>
          <p:cNvSpPr/>
          <p:nvPr/>
        </p:nvSpPr>
        <p:spPr>
          <a:xfrm>
            <a:off x="628668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Slicing Time</a:t>
            </a:r>
            <a:endParaRPr b="0" lang="en-NZ" sz="1410" spc="-1" strike="noStrike">
              <a:latin typeface="Arial"/>
            </a:endParaRPr>
          </a:p>
        </p:txBody>
      </p:sp>
      <p:sp>
        <p:nvSpPr>
          <p:cNvPr id="354" name="Google Shape;413;p35"/>
          <p:cNvSpPr/>
          <p:nvPr/>
        </p:nvSpPr>
        <p:spPr>
          <a:xfrm>
            <a:off x="6286680" y="33969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receiver chops the listening time into small buckets called </a:t>
            </a:r>
            <a:r>
              <a:rPr b="1" lang="en-US" sz="1500" spc="-1" strike="noStrike">
                <a:solidFill>
                  <a:srgbClr val="cbd5e1"/>
                </a:solidFill>
                <a:latin typeface="Inter"/>
                <a:ea typeface="Inter"/>
              </a:rPr>
              <a:t>Range Gates</a:t>
            </a:r>
            <a:r>
              <a:rPr b="0" lang="en-US" sz="1500" spc="-1" strike="noStrike">
                <a:solidFill>
                  <a:srgbClr val="cbd5e1"/>
                </a:solidFill>
                <a:latin typeface="Inter"/>
                <a:ea typeface="Inter"/>
              </a:rPr>
              <a:t>.</a:t>
            </a:r>
            <a:endParaRPr b="0" lang="en-NZ" sz="1500" spc="-1" strike="noStrike">
              <a:latin typeface="Arial"/>
            </a:endParaRPr>
          </a:p>
        </p:txBody>
      </p:sp>
      <p:sp>
        <p:nvSpPr>
          <p:cNvPr id="355" name="Google Shape;414;p35"/>
          <p:cNvSpPr/>
          <p:nvPr/>
        </p:nvSpPr>
        <p:spPr>
          <a:xfrm>
            <a:off x="6286680" y="415872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If an echo falls into "Gate #50", we know exactly how far away it is. This allows the processor to ignore noise from all other gates.</a:t>
            </a:r>
            <a:endParaRPr b="0" lang="en-NZ" sz="1500" spc="-1" strike="noStrike">
              <a:latin typeface="Arial"/>
            </a:endParaRPr>
          </a:p>
        </p:txBody>
      </p:sp>
      <p:pic>
        <p:nvPicPr>
          <p:cNvPr id="356" name="" descr=""/>
          <p:cNvPicPr/>
          <p:nvPr/>
        </p:nvPicPr>
        <p:blipFill>
          <a:blip r:embed="rId4"/>
          <a:stretch/>
        </p:blipFill>
        <p:spPr>
          <a:xfrm>
            <a:off x="180000" y="2520000"/>
            <a:ext cx="5746680" cy="28800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7" name="Google Shape;419;p36" descr="image.png"/>
          <p:cNvPicPr/>
          <p:nvPr/>
        </p:nvPicPr>
        <p:blipFill>
          <a:blip r:embed="rId1"/>
          <a:stretch/>
        </p:blipFill>
        <p:spPr>
          <a:xfrm>
            <a:off x="0" y="0"/>
            <a:ext cx="12191040" cy="6856920"/>
          </a:xfrm>
          <a:prstGeom prst="rect">
            <a:avLst/>
          </a:prstGeom>
          <a:ln w="0">
            <a:noFill/>
          </a:ln>
        </p:spPr>
      </p:pic>
      <p:pic>
        <p:nvPicPr>
          <p:cNvPr id="358" name="Google Shape;420;p36" descr="image.png"/>
          <p:cNvPicPr/>
          <p:nvPr/>
        </p:nvPicPr>
        <p:blipFill>
          <a:blip r:embed="rId2"/>
          <a:stretch/>
        </p:blipFill>
        <p:spPr>
          <a:xfrm>
            <a:off x="581040" y="3037680"/>
            <a:ext cx="11028960" cy="1939320"/>
          </a:xfrm>
          <a:prstGeom prst="rect">
            <a:avLst/>
          </a:prstGeom>
          <a:ln w="0">
            <a:noFill/>
          </a:ln>
        </p:spPr>
      </p:pic>
      <p:pic>
        <p:nvPicPr>
          <p:cNvPr id="359" name="Google Shape;421;p36" descr="image.png"/>
          <p:cNvPicPr/>
          <p:nvPr/>
        </p:nvPicPr>
        <p:blipFill>
          <a:blip r:embed="rId3"/>
          <a:stretch/>
        </p:blipFill>
        <p:spPr>
          <a:xfrm>
            <a:off x="9360" y="9360"/>
            <a:ext cx="12171960" cy="265680"/>
          </a:xfrm>
          <a:prstGeom prst="rect">
            <a:avLst/>
          </a:prstGeom>
          <a:ln w="0">
            <a:noFill/>
          </a:ln>
        </p:spPr>
      </p:pic>
      <p:pic>
        <p:nvPicPr>
          <p:cNvPr id="360" name="Google Shape;422;p36" descr="image.png"/>
          <p:cNvPicPr/>
          <p:nvPr/>
        </p:nvPicPr>
        <p:blipFill>
          <a:blip r:embed="rId4"/>
          <a:stretch/>
        </p:blipFill>
        <p:spPr>
          <a:xfrm>
            <a:off x="9360" y="6581880"/>
            <a:ext cx="12171960" cy="265680"/>
          </a:xfrm>
          <a:prstGeom prst="rect">
            <a:avLst/>
          </a:prstGeom>
          <a:ln w="0">
            <a:noFill/>
          </a:ln>
        </p:spPr>
      </p:pic>
      <p:sp>
        <p:nvSpPr>
          <p:cNvPr id="361" name="Google Shape;423;p36"/>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Antenna Gain</a:t>
            </a:r>
            <a:endParaRPr b="0" lang="en-NZ" sz="2400" spc="-1" strike="noStrike">
              <a:latin typeface="Arial"/>
            </a:endParaRPr>
          </a:p>
        </p:txBody>
      </p:sp>
      <p:sp>
        <p:nvSpPr>
          <p:cNvPr id="362" name="Google Shape;424;p36"/>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63" name="Google Shape;425;p36"/>
          <p:cNvSpPr/>
          <p:nvPr/>
        </p:nvSpPr>
        <p:spPr>
          <a:xfrm>
            <a:off x="781200" y="341604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Focusing the Energy</a:t>
            </a:r>
            <a:endParaRPr b="0" lang="en-NZ" sz="1410" spc="-1" strike="noStrike">
              <a:latin typeface="Arial"/>
            </a:endParaRPr>
          </a:p>
        </p:txBody>
      </p:sp>
      <p:sp>
        <p:nvSpPr>
          <p:cNvPr id="364" name="Google Shape;426;p36"/>
          <p:cNvSpPr/>
          <p:nvPr/>
        </p:nvSpPr>
        <p:spPr>
          <a:xfrm>
            <a:off x="781200" y="382536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An isotropic antenna radiates everywhere (like a candle). A radar antenna focuses energy (like a flashlight).</a:t>
            </a:r>
            <a:endParaRPr b="0" lang="en-NZ" sz="1500" spc="-1" strike="noStrike">
              <a:latin typeface="Arial"/>
            </a:endParaRPr>
          </a:p>
        </p:txBody>
      </p:sp>
      <p:sp>
        <p:nvSpPr>
          <p:cNvPr id="365" name="Google Shape;427;p36"/>
          <p:cNvSpPr/>
          <p:nvPr/>
        </p:nvSpPr>
        <p:spPr>
          <a:xfrm>
            <a:off x="781200" y="43016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Gain</a:t>
            </a:r>
            <a:r>
              <a:rPr b="0" lang="en-US" sz="1500" spc="-1" strike="noStrike">
                <a:solidFill>
                  <a:srgbClr val="cbd5e1"/>
                </a:solidFill>
                <a:latin typeface="Inter"/>
                <a:ea typeface="Inter"/>
              </a:rPr>
              <a:t> is the ratio of focused power vs isotropic power. High gain = longer range.</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6" name="Google Shape;432;p37" descr="image.png"/>
          <p:cNvPicPr/>
          <p:nvPr/>
        </p:nvPicPr>
        <p:blipFill>
          <a:blip r:embed="rId1"/>
          <a:stretch/>
        </p:blipFill>
        <p:spPr>
          <a:xfrm>
            <a:off x="0" y="0"/>
            <a:ext cx="12191040" cy="6856920"/>
          </a:xfrm>
          <a:prstGeom prst="rect">
            <a:avLst/>
          </a:prstGeom>
          <a:ln w="0">
            <a:noFill/>
          </a:ln>
        </p:spPr>
      </p:pic>
      <p:pic>
        <p:nvPicPr>
          <p:cNvPr id="367" name="Google Shape;433;p37" descr="image.png"/>
          <p:cNvPicPr/>
          <p:nvPr/>
        </p:nvPicPr>
        <p:blipFill>
          <a:blip r:embed="rId2"/>
          <a:stretch/>
        </p:blipFill>
        <p:spPr>
          <a:xfrm>
            <a:off x="581040" y="2894760"/>
            <a:ext cx="11028960" cy="2225160"/>
          </a:xfrm>
          <a:prstGeom prst="rect">
            <a:avLst/>
          </a:prstGeom>
          <a:ln w="0">
            <a:noFill/>
          </a:ln>
        </p:spPr>
      </p:pic>
      <p:pic>
        <p:nvPicPr>
          <p:cNvPr id="368" name="Google Shape;434;p37" descr="image.png"/>
          <p:cNvPicPr/>
          <p:nvPr/>
        </p:nvPicPr>
        <p:blipFill>
          <a:blip r:embed="rId3"/>
          <a:stretch/>
        </p:blipFill>
        <p:spPr>
          <a:xfrm>
            <a:off x="9360" y="9360"/>
            <a:ext cx="12171960" cy="265680"/>
          </a:xfrm>
          <a:prstGeom prst="rect">
            <a:avLst/>
          </a:prstGeom>
          <a:ln w="0">
            <a:noFill/>
          </a:ln>
        </p:spPr>
      </p:pic>
      <p:pic>
        <p:nvPicPr>
          <p:cNvPr id="369" name="Google Shape;435;p37" descr="image.png"/>
          <p:cNvPicPr/>
          <p:nvPr/>
        </p:nvPicPr>
        <p:blipFill>
          <a:blip r:embed="rId4"/>
          <a:stretch/>
        </p:blipFill>
        <p:spPr>
          <a:xfrm>
            <a:off x="9360" y="6581880"/>
            <a:ext cx="12171960" cy="265680"/>
          </a:xfrm>
          <a:prstGeom prst="rect">
            <a:avLst/>
          </a:prstGeom>
          <a:ln w="0">
            <a:noFill/>
          </a:ln>
        </p:spPr>
      </p:pic>
      <p:sp>
        <p:nvSpPr>
          <p:cNvPr id="370" name="Google Shape;436;p37"/>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Azimuth Measurement</a:t>
            </a:r>
            <a:endParaRPr b="0" lang="en-NZ" sz="2400" spc="-1" strike="noStrike">
              <a:latin typeface="Arial"/>
            </a:endParaRPr>
          </a:p>
        </p:txBody>
      </p:sp>
      <p:sp>
        <p:nvSpPr>
          <p:cNvPr id="371" name="Google Shape;437;p37"/>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72" name="Google Shape;438;p37"/>
          <p:cNvSpPr/>
          <p:nvPr/>
        </p:nvSpPr>
        <p:spPr>
          <a:xfrm>
            <a:off x="781200" y="327312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Scanning</a:t>
            </a:r>
            <a:endParaRPr b="0" lang="en-NZ" sz="1410" spc="-1" strike="noStrike">
              <a:latin typeface="Arial"/>
            </a:endParaRPr>
          </a:p>
        </p:txBody>
      </p:sp>
      <p:sp>
        <p:nvSpPr>
          <p:cNvPr id="373" name="Google Shape;439;p37"/>
          <p:cNvSpPr/>
          <p:nvPr/>
        </p:nvSpPr>
        <p:spPr>
          <a:xfrm>
            <a:off x="781200" y="36824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Traditional radars rotate 360 degrees.</a:t>
            </a:r>
            <a:endParaRPr b="0" lang="en-NZ" sz="1500" spc="-1" strike="noStrike">
              <a:latin typeface="Arial"/>
            </a:endParaRPr>
          </a:p>
        </p:txBody>
      </p:sp>
      <p:sp>
        <p:nvSpPr>
          <p:cNvPr id="374" name="Google Shape;440;p37"/>
          <p:cNvSpPr/>
          <p:nvPr/>
        </p:nvSpPr>
        <p:spPr>
          <a:xfrm>
            <a:off x="781200" y="4158720"/>
            <a:ext cx="106290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target's direction (Azimuth) is determined by the direction the antenna is pointing at the exact moment the echo is received.</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5" name="Google Shape;445;p38" descr="image.png"/>
          <p:cNvPicPr/>
          <p:nvPr/>
        </p:nvPicPr>
        <p:blipFill>
          <a:blip r:embed="rId1"/>
          <a:stretch/>
        </p:blipFill>
        <p:spPr>
          <a:xfrm>
            <a:off x="0" y="0"/>
            <a:ext cx="12191040" cy="6856920"/>
          </a:xfrm>
          <a:prstGeom prst="rect">
            <a:avLst/>
          </a:prstGeom>
          <a:ln w="0">
            <a:noFill/>
          </a:ln>
        </p:spPr>
      </p:pic>
      <p:pic>
        <p:nvPicPr>
          <p:cNvPr id="376" name="Google Shape;446;p38" descr="image.png"/>
          <p:cNvPicPr/>
          <p:nvPr/>
        </p:nvPicPr>
        <p:blipFill>
          <a:blip r:embed="rId2"/>
          <a:stretch/>
        </p:blipFill>
        <p:spPr>
          <a:xfrm>
            <a:off x="6286680" y="1864800"/>
            <a:ext cx="5323320" cy="4285080"/>
          </a:xfrm>
          <a:prstGeom prst="rect">
            <a:avLst/>
          </a:prstGeom>
          <a:ln w="0">
            <a:noFill/>
          </a:ln>
        </p:spPr>
      </p:pic>
      <p:pic>
        <p:nvPicPr>
          <p:cNvPr id="377" name="Google Shape;447;p38" descr="image.png"/>
          <p:cNvPicPr/>
          <p:nvPr/>
        </p:nvPicPr>
        <p:blipFill>
          <a:blip r:embed="rId3"/>
          <a:stretch/>
        </p:blipFill>
        <p:spPr>
          <a:xfrm>
            <a:off x="9360" y="9360"/>
            <a:ext cx="12171960" cy="265680"/>
          </a:xfrm>
          <a:prstGeom prst="rect">
            <a:avLst/>
          </a:prstGeom>
          <a:ln w="0">
            <a:noFill/>
          </a:ln>
        </p:spPr>
      </p:pic>
      <p:pic>
        <p:nvPicPr>
          <p:cNvPr id="378" name="Google Shape;448;p38" descr="image.png"/>
          <p:cNvPicPr/>
          <p:nvPr/>
        </p:nvPicPr>
        <p:blipFill>
          <a:blip r:embed="rId4"/>
          <a:stretch/>
        </p:blipFill>
        <p:spPr>
          <a:xfrm>
            <a:off x="9360" y="6581880"/>
            <a:ext cx="12171960" cy="265680"/>
          </a:xfrm>
          <a:prstGeom prst="rect">
            <a:avLst/>
          </a:prstGeom>
          <a:ln w="0">
            <a:noFill/>
          </a:ln>
        </p:spPr>
      </p:pic>
      <p:sp>
        <p:nvSpPr>
          <p:cNvPr id="379" name="Google Shape;449;p38"/>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Angular Resolution (Beamwidth)</a:t>
            </a:r>
            <a:endParaRPr b="0" lang="en-NZ" sz="2400" spc="-1" strike="noStrike">
              <a:latin typeface="Arial"/>
            </a:endParaRPr>
          </a:p>
        </p:txBody>
      </p:sp>
      <p:sp>
        <p:nvSpPr>
          <p:cNvPr id="380" name="Google Shape;450;p38"/>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381" name="Google Shape;451;p38"/>
          <p:cNvSpPr/>
          <p:nvPr/>
        </p:nvSpPr>
        <p:spPr>
          <a:xfrm>
            <a:off x="58104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Separating Targets by Angle</a:t>
            </a:r>
            <a:endParaRPr b="0" lang="en-NZ" sz="1410" spc="-1" strike="noStrike">
              <a:latin typeface="Arial"/>
            </a:endParaRPr>
          </a:p>
        </p:txBody>
      </p:sp>
      <p:sp>
        <p:nvSpPr>
          <p:cNvPr id="382" name="Google Shape;452;p38"/>
          <p:cNvSpPr/>
          <p:nvPr/>
        </p:nvSpPr>
        <p:spPr>
          <a:xfrm>
            <a:off x="581040" y="33969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If the radar beam is wide, two planes flying side-by-side will be illuminated simultaneously.</a:t>
            </a:r>
            <a:endParaRPr b="0" lang="en-NZ" sz="1500" spc="-1" strike="noStrike">
              <a:latin typeface="Arial"/>
            </a:endParaRPr>
          </a:p>
        </p:txBody>
      </p:sp>
      <p:sp>
        <p:nvSpPr>
          <p:cNvPr id="383" name="Google Shape;453;p38"/>
          <p:cNvSpPr/>
          <p:nvPr/>
        </p:nvSpPr>
        <p:spPr>
          <a:xfrm>
            <a:off x="581040" y="415872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radar will see one giant "blob." To distinguish them, the beamwidth must be narrower than the gap between the planes.</a:t>
            </a:r>
            <a:endParaRPr b="0" lang="en-NZ" sz="1500" spc="-1" strike="noStrike">
              <a:latin typeface="Arial"/>
            </a:endParaRPr>
          </a:p>
        </p:txBody>
      </p:sp>
      <p:pic>
        <p:nvPicPr>
          <p:cNvPr id="384" name="Google Shape;454;p38"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5" name="Google Shape;459;p39" descr="image.png"/>
          <p:cNvPicPr/>
          <p:nvPr/>
        </p:nvPicPr>
        <p:blipFill>
          <a:blip r:embed="rId1"/>
          <a:stretch/>
        </p:blipFill>
        <p:spPr>
          <a:xfrm>
            <a:off x="0" y="0"/>
            <a:ext cx="12191040" cy="6856920"/>
          </a:xfrm>
          <a:prstGeom prst="rect">
            <a:avLst/>
          </a:prstGeom>
          <a:ln w="0">
            <a:noFill/>
          </a:ln>
        </p:spPr>
      </p:pic>
      <p:pic>
        <p:nvPicPr>
          <p:cNvPr id="386" name="Google Shape;460;p39" descr="image.png"/>
          <p:cNvPicPr/>
          <p:nvPr/>
        </p:nvPicPr>
        <p:blipFill>
          <a:blip r:embed="rId2"/>
          <a:stretch/>
        </p:blipFill>
        <p:spPr>
          <a:xfrm>
            <a:off x="581040" y="1864800"/>
            <a:ext cx="5323320" cy="4285080"/>
          </a:xfrm>
          <a:prstGeom prst="rect">
            <a:avLst/>
          </a:prstGeom>
          <a:ln w="0">
            <a:noFill/>
          </a:ln>
        </p:spPr>
      </p:pic>
      <p:pic>
        <p:nvPicPr>
          <p:cNvPr id="387" name="Google Shape;461;p39" descr="image.png"/>
          <p:cNvPicPr/>
          <p:nvPr/>
        </p:nvPicPr>
        <p:blipFill>
          <a:blip r:embed="rId3"/>
          <a:stretch/>
        </p:blipFill>
        <p:spPr>
          <a:xfrm>
            <a:off x="9360" y="9360"/>
            <a:ext cx="12171960" cy="265680"/>
          </a:xfrm>
          <a:prstGeom prst="rect">
            <a:avLst/>
          </a:prstGeom>
          <a:ln w="0">
            <a:noFill/>
          </a:ln>
        </p:spPr>
      </p:pic>
      <p:pic>
        <p:nvPicPr>
          <p:cNvPr id="388" name="Google Shape;462;p39" descr="image.png"/>
          <p:cNvPicPr/>
          <p:nvPr/>
        </p:nvPicPr>
        <p:blipFill>
          <a:blip r:embed="rId4"/>
          <a:stretch/>
        </p:blipFill>
        <p:spPr>
          <a:xfrm>
            <a:off x="9360" y="6581880"/>
            <a:ext cx="12171960" cy="265680"/>
          </a:xfrm>
          <a:prstGeom prst="rect">
            <a:avLst/>
          </a:prstGeom>
          <a:ln w="0">
            <a:noFill/>
          </a:ln>
        </p:spPr>
      </p:pic>
      <p:sp>
        <p:nvSpPr>
          <p:cNvPr id="389" name="Google Shape;463;p39"/>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Antenna Sidelobes</a:t>
            </a:r>
            <a:endParaRPr b="0" lang="en-NZ" sz="2400" spc="-1" strike="noStrike">
              <a:latin typeface="Arial"/>
            </a:endParaRPr>
          </a:p>
        </p:txBody>
      </p:sp>
      <p:sp>
        <p:nvSpPr>
          <p:cNvPr id="390" name="Google Shape;464;p39"/>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391" name="Google Shape;465;p39" descr="image.png"/>
          <p:cNvPicPr/>
          <p:nvPr/>
        </p:nvPicPr>
        <p:blipFill>
          <a:blip r:embed="rId5"/>
          <a:stretch/>
        </p:blipFill>
        <p:spPr>
          <a:xfrm>
            <a:off x="590400" y="1874160"/>
            <a:ext cx="5304240" cy="4266000"/>
          </a:xfrm>
          <a:prstGeom prst="rect">
            <a:avLst/>
          </a:prstGeom>
          <a:ln w="0">
            <a:noFill/>
          </a:ln>
        </p:spPr>
      </p:pic>
      <p:sp>
        <p:nvSpPr>
          <p:cNvPr id="392" name="Google Shape;466;p39"/>
          <p:cNvSpPr/>
          <p:nvPr/>
        </p:nvSpPr>
        <p:spPr>
          <a:xfrm>
            <a:off x="628668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Energy Leaks</a:t>
            </a:r>
            <a:endParaRPr b="0" lang="en-NZ" sz="1410" spc="-1" strike="noStrike">
              <a:latin typeface="Arial"/>
            </a:endParaRPr>
          </a:p>
        </p:txBody>
      </p:sp>
      <p:sp>
        <p:nvSpPr>
          <p:cNvPr id="393" name="Google Shape;467;p39"/>
          <p:cNvSpPr/>
          <p:nvPr/>
        </p:nvSpPr>
        <p:spPr>
          <a:xfrm>
            <a:off x="6286680" y="33969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Physics dictates that you cannot have a perfect beam. Some energy leaks out the sides (Sidelobes).</a:t>
            </a:r>
            <a:endParaRPr b="0" lang="en-NZ" sz="1500" spc="-1" strike="noStrike">
              <a:latin typeface="Arial"/>
            </a:endParaRPr>
          </a:p>
        </p:txBody>
      </p:sp>
      <p:sp>
        <p:nvSpPr>
          <p:cNvPr id="394" name="Google Shape;468;p39"/>
          <p:cNvSpPr/>
          <p:nvPr/>
        </p:nvSpPr>
        <p:spPr>
          <a:xfrm>
            <a:off x="6286680" y="415872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 strong target in a sidelobe can be mistaken for a target in the main beam, creating "Ghost Targets" in the wrong direction.</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5" name="Google Shape;473;p40" descr="image.png"/>
          <p:cNvPicPr/>
          <p:nvPr/>
        </p:nvPicPr>
        <p:blipFill>
          <a:blip r:embed="rId1"/>
          <a:stretch/>
        </p:blipFill>
        <p:spPr>
          <a:xfrm>
            <a:off x="-9720" y="9360"/>
            <a:ext cx="12191040" cy="6856920"/>
          </a:xfrm>
          <a:prstGeom prst="rect">
            <a:avLst/>
          </a:prstGeom>
          <a:ln w="0">
            <a:noFill/>
          </a:ln>
        </p:spPr>
      </p:pic>
      <p:pic>
        <p:nvPicPr>
          <p:cNvPr id="396" name="Google Shape;475;p40" descr="image.png"/>
          <p:cNvPicPr/>
          <p:nvPr/>
        </p:nvPicPr>
        <p:blipFill>
          <a:blip r:embed="rId2"/>
          <a:stretch/>
        </p:blipFill>
        <p:spPr>
          <a:xfrm>
            <a:off x="9360" y="9360"/>
            <a:ext cx="12171960" cy="265680"/>
          </a:xfrm>
          <a:prstGeom prst="rect">
            <a:avLst/>
          </a:prstGeom>
          <a:ln w="0">
            <a:noFill/>
          </a:ln>
        </p:spPr>
      </p:pic>
      <p:pic>
        <p:nvPicPr>
          <p:cNvPr id="397" name="Google Shape;476;p40" descr="image.png"/>
          <p:cNvPicPr/>
          <p:nvPr/>
        </p:nvPicPr>
        <p:blipFill>
          <a:blip r:embed="rId3"/>
          <a:stretch/>
        </p:blipFill>
        <p:spPr>
          <a:xfrm>
            <a:off x="9360" y="6581880"/>
            <a:ext cx="12171960" cy="265680"/>
          </a:xfrm>
          <a:prstGeom prst="rect">
            <a:avLst/>
          </a:prstGeom>
          <a:ln w="0">
            <a:noFill/>
          </a:ln>
        </p:spPr>
      </p:pic>
      <p:sp>
        <p:nvSpPr>
          <p:cNvPr id="398" name="Google Shape;477;p40"/>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Cone of Silence</a:t>
            </a:r>
            <a:endParaRPr b="0" lang="en-NZ" sz="2400" spc="-1" strike="noStrike">
              <a:latin typeface="Arial"/>
            </a:endParaRPr>
          </a:p>
        </p:txBody>
      </p:sp>
      <p:sp>
        <p:nvSpPr>
          <p:cNvPr id="399" name="Google Shape;478;p40"/>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400" name="Google Shape;479;p40"/>
          <p:cNvSpPr/>
          <p:nvPr/>
        </p:nvSpPr>
        <p:spPr>
          <a:xfrm>
            <a:off x="58104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Overhead Blind Spot</a:t>
            </a:r>
            <a:endParaRPr b="0" lang="en-NZ" sz="1410" spc="-1" strike="noStrike">
              <a:latin typeface="Arial"/>
            </a:endParaRPr>
          </a:p>
        </p:txBody>
      </p:sp>
      <p:sp>
        <p:nvSpPr>
          <p:cNvPr id="401" name="Google Shape;480;p40"/>
          <p:cNvSpPr/>
          <p:nvPr/>
        </p:nvSpPr>
        <p:spPr>
          <a:xfrm>
            <a:off x="581040" y="33969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Radars scan the horizon. They physically cannot look straight up.</a:t>
            </a:r>
            <a:endParaRPr b="0" lang="en-NZ" sz="1500" spc="-1" strike="noStrike">
              <a:latin typeface="Arial"/>
            </a:endParaRPr>
          </a:p>
        </p:txBody>
      </p:sp>
      <p:sp>
        <p:nvSpPr>
          <p:cNvPr id="402" name="Google Shape;481;p40"/>
          <p:cNvSpPr/>
          <p:nvPr/>
        </p:nvSpPr>
        <p:spPr>
          <a:xfrm>
            <a:off x="581040" y="415872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This creates an inverted cone of blindness directly above the radar site. Aircraft flying directly overhead will disappear from the scope briefly.</a:t>
            </a:r>
            <a:endParaRPr b="0" lang="en-NZ" sz="1500" spc="-1" strike="noStrike">
              <a:latin typeface="Arial"/>
            </a:endParaRPr>
          </a:p>
        </p:txBody>
      </p:sp>
      <p:pic>
        <p:nvPicPr>
          <p:cNvPr id="403" name="Picture 389" descr=""/>
          <p:cNvPicPr/>
          <p:nvPr/>
        </p:nvPicPr>
        <p:blipFill>
          <a:blip r:embed="rId4"/>
          <a:stretch/>
        </p:blipFill>
        <p:spPr>
          <a:xfrm>
            <a:off x="7200000" y="1530360"/>
            <a:ext cx="3779640" cy="1889280"/>
          </a:xfrm>
          <a:prstGeom prst="rect">
            <a:avLst/>
          </a:prstGeom>
          <a:ln w="0">
            <a:noFill/>
          </a:ln>
        </p:spPr>
      </p:pic>
      <p:pic>
        <p:nvPicPr>
          <p:cNvPr id="404" name="Picture 390" descr=""/>
          <p:cNvPicPr/>
          <p:nvPr/>
        </p:nvPicPr>
        <p:blipFill>
          <a:blip r:embed="rId5"/>
          <a:stretch/>
        </p:blipFill>
        <p:spPr>
          <a:xfrm>
            <a:off x="7200000" y="3770280"/>
            <a:ext cx="3779640" cy="18892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5" name="Google Shape;487;p41" descr="image.png"/>
          <p:cNvPicPr/>
          <p:nvPr/>
        </p:nvPicPr>
        <p:blipFill>
          <a:blip r:embed="rId1"/>
          <a:stretch/>
        </p:blipFill>
        <p:spPr>
          <a:xfrm>
            <a:off x="0" y="0"/>
            <a:ext cx="12191040" cy="6856920"/>
          </a:xfrm>
          <a:prstGeom prst="rect">
            <a:avLst/>
          </a:prstGeom>
          <a:ln w="0">
            <a:noFill/>
          </a:ln>
        </p:spPr>
      </p:pic>
      <p:pic>
        <p:nvPicPr>
          <p:cNvPr id="406" name="Google Shape;488;p41" descr="image.png"/>
          <p:cNvPicPr/>
          <p:nvPr/>
        </p:nvPicPr>
        <p:blipFill>
          <a:blip r:embed="rId2"/>
          <a:stretch/>
        </p:blipFill>
        <p:spPr>
          <a:xfrm>
            <a:off x="581040" y="3037680"/>
            <a:ext cx="11028960" cy="1939320"/>
          </a:xfrm>
          <a:prstGeom prst="rect">
            <a:avLst/>
          </a:prstGeom>
          <a:ln w="0">
            <a:noFill/>
          </a:ln>
        </p:spPr>
      </p:pic>
      <p:pic>
        <p:nvPicPr>
          <p:cNvPr id="407" name="Google Shape;489;p41" descr="image.png"/>
          <p:cNvPicPr/>
          <p:nvPr/>
        </p:nvPicPr>
        <p:blipFill>
          <a:blip r:embed="rId3"/>
          <a:stretch/>
        </p:blipFill>
        <p:spPr>
          <a:xfrm>
            <a:off x="9360" y="9360"/>
            <a:ext cx="12171960" cy="265680"/>
          </a:xfrm>
          <a:prstGeom prst="rect">
            <a:avLst/>
          </a:prstGeom>
          <a:ln w="0">
            <a:noFill/>
          </a:ln>
        </p:spPr>
      </p:pic>
      <p:pic>
        <p:nvPicPr>
          <p:cNvPr id="408" name="Google Shape;490;p41" descr="image.png"/>
          <p:cNvPicPr/>
          <p:nvPr/>
        </p:nvPicPr>
        <p:blipFill>
          <a:blip r:embed="rId4"/>
          <a:stretch/>
        </p:blipFill>
        <p:spPr>
          <a:xfrm>
            <a:off x="9360" y="6581880"/>
            <a:ext cx="12171960" cy="265680"/>
          </a:xfrm>
          <a:prstGeom prst="rect">
            <a:avLst/>
          </a:prstGeom>
          <a:ln w="0">
            <a:noFill/>
          </a:ln>
        </p:spPr>
      </p:pic>
      <p:sp>
        <p:nvSpPr>
          <p:cNvPr id="409" name="Google Shape;491;p41"/>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3D Radar (Elevation)</a:t>
            </a:r>
            <a:endParaRPr b="0" lang="en-NZ" sz="2400" spc="-1" strike="noStrike">
              <a:latin typeface="Arial"/>
            </a:endParaRPr>
          </a:p>
        </p:txBody>
      </p:sp>
      <p:sp>
        <p:nvSpPr>
          <p:cNvPr id="410" name="Google Shape;492;p41"/>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411" name="Google Shape;493;p41"/>
          <p:cNvSpPr/>
          <p:nvPr/>
        </p:nvSpPr>
        <p:spPr>
          <a:xfrm>
            <a:off x="781200" y="341604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Finding Height</a:t>
            </a:r>
            <a:endParaRPr b="0" lang="en-NZ" sz="1410" spc="-1" strike="noStrike">
              <a:latin typeface="Arial"/>
            </a:endParaRPr>
          </a:p>
        </p:txBody>
      </p:sp>
      <p:sp>
        <p:nvSpPr>
          <p:cNvPr id="412" name="Google Shape;494;p41"/>
          <p:cNvSpPr/>
          <p:nvPr/>
        </p:nvSpPr>
        <p:spPr>
          <a:xfrm>
            <a:off x="781200" y="382536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2D radars (like airport surveillance) only give Range and Direction.</a:t>
            </a:r>
            <a:endParaRPr b="0" lang="en-NZ" sz="1500" spc="-1" strike="noStrike">
              <a:latin typeface="Arial"/>
            </a:endParaRPr>
          </a:p>
        </p:txBody>
      </p:sp>
      <p:sp>
        <p:nvSpPr>
          <p:cNvPr id="413" name="Google Shape;495;p41"/>
          <p:cNvSpPr/>
          <p:nvPr/>
        </p:nvSpPr>
        <p:spPr>
          <a:xfrm>
            <a:off x="781200" y="43016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3D radars (Military/Weather) stack multiple beams vertically or steer the beam up/down to measure altitude.</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4" name="Google Shape;500;p42" descr="image.png"/>
          <p:cNvPicPr/>
          <p:nvPr/>
        </p:nvPicPr>
        <p:blipFill>
          <a:blip r:embed="rId1"/>
          <a:stretch/>
        </p:blipFill>
        <p:spPr>
          <a:xfrm>
            <a:off x="0" y="0"/>
            <a:ext cx="12191040" cy="6856920"/>
          </a:xfrm>
          <a:prstGeom prst="rect">
            <a:avLst/>
          </a:prstGeom>
          <a:ln w="0">
            <a:noFill/>
          </a:ln>
        </p:spPr>
      </p:pic>
      <p:pic>
        <p:nvPicPr>
          <p:cNvPr id="415" name="Google Shape;501;p42" descr="image.png"/>
          <p:cNvPicPr/>
          <p:nvPr/>
        </p:nvPicPr>
        <p:blipFill>
          <a:blip r:embed="rId2"/>
          <a:stretch/>
        </p:blipFill>
        <p:spPr>
          <a:xfrm>
            <a:off x="6286680" y="1864800"/>
            <a:ext cx="5323320" cy="4285080"/>
          </a:xfrm>
          <a:prstGeom prst="rect">
            <a:avLst/>
          </a:prstGeom>
          <a:ln w="0">
            <a:noFill/>
          </a:ln>
        </p:spPr>
      </p:pic>
      <p:pic>
        <p:nvPicPr>
          <p:cNvPr id="416" name="Google Shape;502;p42" descr="image.png"/>
          <p:cNvPicPr/>
          <p:nvPr/>
        </p:nvPicPr>
        <p:blipFill>
          <a:blip r:embed="rId3"/>
          <a:stretch/>
        </p:blipFill>
        <p:spPr>
          <a:xfrm>
            <a:off x="9360" y="9360"/>
            <a:ext cx="12171960" cy="265680"/>
          </a:xfrm>
          <a:prstGeom prst="rect">
            <a:avLst/>
          </a:prstGeom>
          <a:ln w="0">
            <a:noFill/>
          </a:ln>
        </p:spPr>
      </p:pic>
      <p:pic>
        <p:nvPicPr>
          <p:cNvPr id="417" name="Google Shape;503;p42" descr="image.png"/>
          <p:cNvPicPr/>
          <p:nvPr/>
        </p:nvPicPr>
        <p:blipFill>
          <a:blip r:embed="rId4"/>
          <a:stretch/>
        </p:blipFill>
        <p:spPr>
          <a:xfrm>
            <a:off x="9360" y="6581880"/>
            <a:ext cx="12171960" cy="265680"/>
          </a:xfrm>
          <a:prstGeom prst="rect">
            <a:avLst/>
          </a:prstGeom>
          <a:ln w="0">
            <a:noFill/>
          </a:ln>
        </p:spPr>
      </p:pic>
      <p:sp>
        <p:nvSpPr>
          <p:cNvPr id="418" name="Google Shape;504;p42"/>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Line of Sight</a:t>
            </a:r>
            <a:endParaRPr b="0" lang="en-NZ" sz="2400" spc="-1" strike="noStrike">
              <a:latin typeface="Arial"/>
            </a:endParaRPr>
          </a:p>
        </p:txBody>
      </p:sp>
      <p:sp>
        <p:nvSpPr>
          <p:cNvPr id="419" name="Google Shape;505;p42"/>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420" name="Google Shape;506;p42"/>
          <p:cNvSpPr/>
          <p:nvPr/>
        </p:nvSpPr>
        <p:spPr>
          <a:xfrm>
            <a:off x="58104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Earth Curvature</a:t>
            </a:r>
            <a:endParaRPr b="0" lang="en-NZ" sz="1410" spc="-1" strike="noStrike">
              <a:latin typeface="Arial"/>
            </a:endParaRPr>
          </a:p>
        </p:txBody>
      </p:sp>
      <p:sp>
        <p:nvSpPr>
          <p:cNvPr id="421" name="Google Shape;507;p42"/>
          <p:cNvSpPr/>
          <p:nvPr/>
        </p:nvSpPr>
        <p:spPr>
          <a:xfrm>
            <a:off x="581040" y="353988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Radar beams travel in straight lines. The Earth is curved.</a:t>
            </a:r>
            <a:endParaRPr b="0" lang="en-NZ" sz="1500" spc="-1" strike="noStrike">
              <a:latin typeface="Arial"/>
            </a:endParaRPr>
          </a:p>
        </p:txBody>
      </p:sp>
      <p:sp>
        <p:nvSpPr>
          <p:cNvPr id="422" name="Google Shape;508;p42"/>
          <p:cNvSpPr/>
          <p:nvPr/>
        </p:nvSpPr>
        <p:spPr>
          <a:xfrm>
            <a:off x="581040" y="401580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At 100 miles away, the earth curves significantly. Low-flying aircraft can hide "under the radar horizon," invisible to the radar.</a:t>
            </a:r>
            <a:endParaRPr b="0" lang="en-NZ" sz="1500" spc="-1" strike="noStrike">
              <a:latin typeface="Arial"/>
            </a:endParaRPr>
          </a:p>
        </p:txBody>
      </p:sp>
      <p:pic>
        <p:nvPicPr>
          <p:cNvPr id="423" name="Google Shape;509;p42"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4" name="Google Shape;514;p43" descr="image.png"/>
          <p:cNvPicPr/>
          <p:nvPr/>
        </p:nvPicPr>
        <p:blipFill>
          <a:blip r:embed="rId1"/>
          <a:stretch/>
        </p:blipFill>
        <p:spPr>
          <a:xfrm>
            <a:off x="0" y="0"/>
            <a:ext cx="12191040" cy="6856920"/>
          </a:xfrm>
          <a:prstGeom prst="rect">
            <a:avLst/>
          </a:prstGeom>
          <a:ln w="0">
            <a:noFill/>
          </a:ln>
        </p:spPr>
      </p:pic>
      <p:pic>
        <p:nvPicPr>
          <p:cNvPr id="425" name="Google Shape;515;p43" descr="image.png"/>
          <p:cNvPicPr/>
          <p:nvPr/>
        </p:nvPicPr>
        <p:blipFill>
          <a:blip r:embed="rId2"/>
          <a:stretch/>
        </p:blipFill>
        <p:spPr>
          <a:xfrm>
            <a:off x="581040" y="1864800"/>
            <a:ext cx="5323320" cy="4285080"/>
          </a:xfrm>
          <a:prstGeom prst="rect">
            <a:avLst/>
          </a:prstGeom>
          <a:ln w="0">
            <a:noFill/>
          </a:ln>
        </p:spPr>
      </p:pic>
      <p:pic>
        <p:nvPicPr>
          <p:cNvPr id="426" name="Google Shape;516;p43" descr="image.png"/>
          <p:cNvPicPr/>
          <p:nvPr/>
        </p:nvPicPr>
        <p:blipFill>
          <a:blip r:embed="rId3"/>
          <a:stretch/>
        </p:blipFill>
        <p:spPr>
          <a:xfrm>
            <a:off x="9360" y="9360"/>
            <a:ext cx="12171960" cy="265680"/>
          </a:xfrm>
          <a:prstGeom prst="rect">
            <a:avLst/>
          </a:prstGeom>
          <a:ln w="0">
            <a:noFill/>
          </a:ln>
        </p:spPr>
      </p:pic>
      <p:pic>
        <p:nvPicPr>
          <p:cNvPr id="427" name="Google Shape;517;p43" descr="image.png"/>
          <p:cNvPicPr/>
          <p:nvPr/>
        </p:nvPicPr>
        <p:blipFill>
          <a:blip r:embed="rId4"/>
          <a:stretch/>
        </p:blipFill>
        <p:spPr>
          <a:xfrm>
            <a:off x="9360" y="6581880"/>
            <a:ext cx="12171960" cy="265680"/>
          </a:xfrm>
          <a:prstGeom prst="rect">
            <a:avLst/>
          </a:prstGeom>
          <a:ln w="0">
            <a:noFill/>
          </a:ln>
        </p:spPr>
      </p:pic>
      <p:sp>
        <p:nvSpPr>
          <p:cNvPr id="428" name="Google Shape;518;p43"/>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Terrain Masking</a:t>
            </a:r>
            <a:endParaRPr b="0" lang="en-NZ" sz="2400" spc="-1" strike="noStrike">
              <a:latin typeface="Arial"/>
            </a:endParaRPr>
          </a:p>
        </p:txBody>
      </p:sp>
      <p:sp>
        <p:nvSpPr>
          <p:cNvPr id="429" name="Google Shape;519;p43"/>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430" name="Google Shape;520;p43" descr="image.png"/>
          <p:cNvPicPr/>
          <p:nvPr/>
        </p:nvPicPr>
        <p:blipFill>
          <a:blip r:embed="rId5"/>
          <a:stretch/>
        </p:blipFill>
        <p:spPr>
          <a:xfrm>
            <a:off x="590400" y="1874160"/>
            <a:ext cx="5304240" cy="4266000"/>
          </a:xfrm>
          <a:prstGeom prst="rect">
            <a:avLst/>
          </a:prstGeom>
          <a:ln w="0">
            <a:noFill/>
          </a:ln>
        </p:spPr>
      </p:pic>
      <p:sp>
        <p:nvSpPr>
          <p:cNvPr id="431" name="Google Shape;521;p43"/>
          <p:cNvSpPr/>
          <p:nvPr/>
        </p:nvSpPr>
        <p:spPr>
          <a:xfrm>
            <a:off x="628668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Shadow Zones</a:t>
            </a:r>
            <a:endParaRPr b="0" lang="en-NZ" sz="1410" spc="-1" strike="noStrike">
              <a:latin typeface="Arial"/>
            </a:endParaRPr>
          </a:p>
        </p:txBody>
      </p:sp>
      <p:sp>
        <p:nvSpPr>
          <p:cNvPr id="432" name="Google Shape;522;p43"/>
          <p:cNvSpPr/>
          <p:nvPr/>
        </p:nvSpPr>
        <p:spPr>
          <a:xfrm>
            <a:off x="6286680" y="3539880"/>
            <a:ext cx="532332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Radar beams cannot pass through mountains.</a:t>
            </a:r>
            <a:endParaRPr b="0" lang="en-NZ" sz="1500" spc="-1" strike="noStrike">
              <a:latin typeface="Arial"/>
            </a:endParaRPr>
          </a:p>
        </p:txBody>
      </p:sp>
      <p:sp>
        <p:nvSpPr>
          <p:cNvPr id="433" name="Google Shape;523;p43"/>
          <p:cNvSpPr/>
          <p:nvPr/>
        </p:nvSpPr>
        <p:spPr>
          <a:xfrm>
            <a:off x="6286680" y="401580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Any airspace behind a mountain range is a "Shadow Zone." Military pilots use this "Terrain Masking" to fly undetected.</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4" name="Google Shape;528;p44" descr="image.png"/>
          <p:cNvPicPr/>
          <p:nvPr/>
        </p:nvPicPr>
        <p:blipFill>
          <a:blip r:embed="rId1"/>
          <a:stretch/>
        </p:blipFill>
        <p:spPr>
          <a:xfrm>
            <a:off x="0" y="0"/>
            <a:ext cx="12191040" cy="6856920"/>
          </a:xfrm>
          <a:prstGeom prst="rect">
            <a:avLst/>
          </a:prstGeom>
          <a:ln w="0">
            <a:noFill/>
          </a:ln>
        </p:spPr>
      </p:pic>
      <p:pic>
        <p:nvPicPr>
          <p:cNvPr id="435" name="Google Shape;529;p44" descr="image.png"/>
          <p:cNvPicPr/>
          <p:nvPr/>
        </p:nvPicPr>
        <p:blipFill>
          <a:blip r:embed="rId2"/>
          <a:stretch/>
        </p:blipFill>
        <p:spPr>
          <a:xfrm>
            <a:off x="581040" y="1864800"/>
            <a:ext cx="5323320" cy="4285080"/>
          </a:xfrm>
          <a:prstGeom prst="rect">
            <a:avLst/>
          </a:prstGeom>
          <a:ln w="0">
            <a:noFill/>
          </a:ln>
        </p:spPr>
      </p:pic>
      <p:pic>
        <p:nvPicPr>
          <p:cNvPr id="436" name="Google Shape;530;p44" descr="image.png"/>
          <p:cNvPicPr/>
          <p:nvPr/>
        </p:nvPicPr>
        <p:blipFill>
          <a:blip r:embed="rId3"/>
          <a:stretch/>
        </p:blipFill>
        <p:spPr>
          <a:xfrm>
            <a:off x="9360" y="9360"/>
            <a:ext cx="12171960" cy="265680"/>
          </a:xfrm>
          <a:prstGeom prst="rect">
            <a:avLst/>
          </a:prstGeom>
          <a:ln w="0">
            <a:noFill/>
          </a:ln>
        </p:spPr>
      </p:pic>
      <p:pic>
        <p:nvPicPr>
          <p:cNvPr id="437" name="Google Shape;531;p44" descr="image.png"/>
          <p:cNvPicPr/>
          <p:nvPr/>
        </p:nvPicPr>
        <p:blipFill>
          <a:blip r:embed="rId4"/>
          <a:stretch/>
        </p:blipFill>
        <p:spPr>
          <a:xfrm>
            <a:off x="9360" y="6581880"/>
            <a:ext cx="12171960" cy="265680"/>
          </a:xfrm>
          <a:prstGeom prst="rect">
            <a:avLst/>
          </a:prstGeom>
          <a:ln w="0">
            <a:noFill/>
          </a:ln>
        </p:spPr>
      </p:pic>
      <p:sp>
        <p:nvSpPr>
          <p:cNvPr id="438" name="Google Shape;532;p44"/>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Multipath Effect</a:t>
            </a:r>
            <a:endParaRPr b="0" lang="en-NZ" sz="2400" spc="-1" strike="noStrike">
              <a:latin typeface="Arial"/>
            </a:endParaRPr>
          </a:p>
        </p:txBody>
      </p:sp>
      <p:sp>
        <p:nvSpPr>
          <p:cNvPr id="439" name="Google Shape;533;p44"/>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440" name="Google Shape;534;p44" descr="image.png"/>
          <p:cNvPicPr/>
          <p:nvPr/>
        </p:nvPicPr>
        <p:blipFill>
          <a:blip r:embed="rId5"/>
          <a:stretch/>
        </p:blipFill>
        <p:spPr>
          <a:xfrm>
            <a:off x="590400" y="1874160"/>
            <a:ext cx="5304240" cy="4266000"/>
          </a:xfrm>
          <a:prstGeom prst="rect">
            <a:avLst/>
          </a:prstGeom>
          <a:ln w="0">
            <a:noFill/>
          </a:ln>
        </p:spPr>
      </p:pic>
      <p:sp>
        <p:nvSpPr>
          <p:cNvPr id="441" name="Google Shape;535;p44"/>
          <p:cNvSpPr/>
          <p:nvPr/>
        </p:nvSpPr>
        <p:spPr>
          <a:xfrm>
            <a:off x="628668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The Ghost Below</a:t>
            </a:r>
            <a:endParaRPr b="0" lang="en-NZ" sz="1410" spc="-1" strike="noStrike">
              <a:latin typeface="Arial"/>
            </a:endParaRPr>
          </a:p>
        </p:txBody>
      </p:sp>
      <p:sp>
        <p:nvSpPr>
          <p:cNvPr id="442" name="Google Shape;536;p44"/>
          <p:cNvSpPr/>
          <p:nvPr/>
        </p:nvSpPr>
        <p:spPr>
          <a:xfrm>
            <a:off x="6286680" y="33969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Radar beams can bounce off the sea or flat ground before hitting the target.</a:t>
            </a:r>
            <a:endParaRPr b="0" lang="en-NZ" sz="1500" spc="-1" strike="noStrike">
              <a:latin typeface="Arial"/>
            </a:endParaRPr>
          </a:p>
        </p:txBody>
      </p:sp>
      <p:sp>
        <p:nvSpPr>
          <p:cNvPr id="443" name="Google Shape;537;p44"/>
          <p:cNvSpPr/>
          <p:nvPr/>
        </p:nvSpPr>
        <p:spPr>
          <a:xfrm>
            <a:off x="6286680" y="415872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radar sees two returns: the direct path and the longer "bounce" path. This confuses the altitude calculation, causing the target to jitter.</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4" name="Google Shape;542;p45" descr="image.png"/>
          <p:cNvPicPr/>
          <p:nvPr/>
        </p:nvPicPr>
        <p:blipFill>
          <a:blip r:embed="rId1"/>
          <a:stretch/>
        </p:blipFill>
        <p:spPr>
          <a:xfrm>
            <a:off x="0" y="0"/>
            <a:ext cx="12191040" cy="6856920"/>
          </a:xfrm>
          <a:prstGeom prst="rect">
            <a:avLst/>
          </a:prstGeom>
          <a:ln w="0">
            <a:noFill/>
          </a:ln>
        </p:spPr>
      </p:pic>
      <p:pic>
        <p:nvPicPr>
          <p:cNvPr id="445" name="Google Shape;543;p45" descr="image.png"/>
          <p:cNvPicPr/>
          <p:nvPr/>
        </p:nvPicPr>
        <p:blipFill>
          <a:blip r:embed="rId2"/>
          <a:stretch/>
        </p:blipFill>
        <p:spPr>
          <a:xfrm>
            <a:off x="581040" y="1864800"/>
            <a:ext cx="5323320" cy="4285080"/>
          </a:xfrm>
          <a:prstGeom prst="rect">
            <a:avLst/>
          </a:prstGeom>
          <a:ln w="0">
            <a:noFill/>
          </a:ln>
        </p:spPr>
      </p:pic>
      <p:pic>
        <p:nvPicPr>
          <p:cNvPr id="446" name="Google Shape;544;p45" descr="image.png"/>
          <p:cNvPicPr/>
          <p:nvPr/>
        </p:nvPicPr>
        <p:blipFill>
          <a:blip r:embed="rId3"/>
          <a:stretch/>
        </p:blipFill>
        <p:spPr>
          <a:xfrm>
            <a:off x="9360" y="9360"/>
            <a:ext cx="12171960" cy="265680"/>
          </a:xfrm>
          <a:prstGeom prst="rect">
            <a:avLst/>
          </a:prstGeom>
          <a:ln w="0">
            <a:noFill/>
          </a:ln>
        </p:spPr>
      </p:pic>
      <p:pic>
        <p:nvPicPr>
          <p:cNvPr id="447" name="Google Shape;545;p45" descr="image.png"/>
          <p:cNvPicPr/>
          <p:nvPr/>
        </p:nvPicPr>
        <p:blipFill>
          <a:blip r:embed="rId4"/>
          <a:stretch/>
        </p:blipFill>
        <p:spPr>
          <a:xfrm>
            <a:off x="9360" y="6581880"/>
            <a:ext cx="12171960" cy="265680"/>
          </a:xfrm>
          <a:prstGeom prst="rect">
            <a:avLst/>
          </a:prstGeom>
          <a:ln w="0">
            <a:noFill/>
          </a:ln>
        </p:spPr>
      </p:pic>
      <p:sp>
        <p:nvSpPr>
          <p:cNvPr id="448" name="Google Shape;546;p45"/>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Ionosphere Scattering (OTHR)</a:t>
            </a:r>
            <a:endParaRPr b="0" lang="en-NZ" sz="2400" spc="-1" strike="noStrike">
              <a:latin typeface="Arial"/>
            </a:endParaRPr>
          </a:p>
        </p:txBody>
      </p:sp>
      <p:sp>
        <p:nvSpPr>
          <p:cNvPr id="449" name="Google Shape;547;p45"/>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450" name="Google Shape;548;p45" descr="image.png"/>
          <p:cNvPicPr/>
          <p:nvPr/>
        </p:nvPicPr>
        <p:blipFill>
          <a:blip r:embed="rId5"/>
          <a:stretch/>
        </p:blipFill>
        <p:spPr>
          <a:xfrm>
            <a:off x="590400" y="1874160"/>
            <a:ext cx="5304240" cy="4266000"/>
          </a:xfrm>
          <a:prstGeom prst="rect">
            <a:avLst/>
          </a:prstGeom>
          <a:ln w="0">
            <a:noFill/>
          </a:ln>
        </p:spPr>
      </p:pic>
      <p:sp>
        <p:nvSpPr>
          <p:cNvPr id="451" name="Google Shape;549;p45"/>
          <p:cNvSpPr/>
          <p:nvPr/>
        </p:nvSpPr>
        <p:spPr>
          <a:xfrm>
            <a:off x="628668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Skywave Radar</a:t>
            </a:r>
            <a:endParaRPr b="0" lang="en-NZ" sz="1410" spc="-1" strike="noStrike">
              <a:latin typeface="Arial"/>
            </a:endParaRPr>
          </a:p>
        </p:txBody>
      </p:sp>
      <p:sp>
        <p:nvSpPr>
          <p:cNvPr id="452" name="Google Shape;550;p45"/>
          <p:cNvSpPr/>
          <p:nvPr/>
        </p:nvSpPr>
        <p:spPr>
          <a:xfrm>
            <a:off x="6286680" y="33969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High Frequency (HF) waves can bounce off the Ionosphere layer in the atmosphere.</a:t>
            </a:r>
            <a:endParaRPr b="0" lang="en-NZ" sz="1500" spc="-1" strike="noStrike">
              <a:latin typeface="Arial"/>
            </a:endParaRPr>
          </a:p>
        </p:txBody>
      </p:sp>
      <p:sp>
        <p:nvSpPr>
          <p:cNvPr id="453" name="Google Shape;551;p45"/>
          <p:cNvSpPr/>
          <p:nvPr/>
        </p:nvSpPr>
        <p:spPr>
          <a:xfrm>
            <a:off x="6286680" y="415872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This allows Over-The-Horizon Radar (OTHR) to see thousands of miles, detecting targets beyond the curvature of the Earth.</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4" name="Google Shape;556;p46" descr="image.png"/>
          <p:cNvPicPr/>
          <p:nvPr/>
        </p:nvPicPr>
        <p:blipFill>
          <a:blip r:embed="rId1"/>
          <a:stretch/>
        </p:blipFill>
        <p:spPr>
          <a:xfrm>
            <a:off x="0" y="0"/>
            <a:ext cx="12191040" cy="6856920"/>
          </a:xfrm>
          <a:prstGeom prst="rect">
            <a:avLst/>
          </a:prstGeom>
          <a:ln w="0">
            <a:noFill/>
          </a:ln>
        </p:spPr>
      </p:pic>
      <p:pic>
        <p:nvPicPr>
          <p:cNvPr id="455" name="Google Shape;557;p46" descr="image.png"/>
          <p:cNvPicPr/>
          <p:nvPr/>
        </p:nvPicPr>
        <p:blipFill>
          <a:blip r:embed="rId2"/>
          <a:stretch/>
        </p:blipFill>
        <p:spPr>
          <a:xfrm>
            <a:off x="581040" y="3132720"/>
            <a:ext cx="3548520" cy="1748880"/>
          </a:xfrm>
          <a:prstGeom prst="rect">
            <a:avLst/>
          </a:prstGeom>
          <a:ln w="0">
            <a:noFill/>
          </a:ln>
        </p:spPr>
      </p:pic>
      <p:pic>
        <p:nvPicPr>
          <p:cNvPr id="456" name="Google Shape;558;p46" descr="image.png"/>
          <p:cNvPicPr/>
          <p:nvPr/>
        </p:nvPicPr>
        <p:blipFill>
          <a:blip r:embed="rId3"/>
          <a:stretch/>
        </p:blipFill>
        <p:spPr>
          <a:xfrm>
            <a:off x="4321080" y="3132720"/>
            <a:ext cx="3548520" cy="1748880"/>
          </a:xfrm>
          <a:prstGeom prst="rect">
            <a:avLst/>
          </a:prstGeom>
          <a:ln w="0">
            <a:noFill/>
          </a:ln>
        </p:spPr>
      </p:pic>
      <p:pic>
        <p:nvPicPr>
          <p:cNvPr id="457" name="Google Shape;559;p46" descr="image.png"/>
          <p:cNvPicPr/>
          <p:nvPr/>
        </p:nvPicPr>
        <p:blipFill>
          <a:blip r:embed="rId4"/>
          <a:stretch/>
        </p:blipFill>
        <p:spPr>
          <a:xfrm>
            <a:off x="8061120" y="3132720"/>
            <a:ext cx="3548520" cy="1748880"/>
          </a:xfrm>
          <a:prstGeom prst="rect">
            <a:avLst/>
          </a:prstGeom>
          <a:ln w="0">
            <a:noFill/>
          </a:ln>
        </p:spPr>
      </p:pic>
      <p:pic>
        <p:nvPicPr>
          <p:cNvPr id="458" name="Google Shape;560;p46" descr="image.png"/>
          <p:cNvPicPr/>
          <p:nvPr/>
        </p:nvPicPr>
        <p:blipFill>
          <a:blip r:embed="rId5"/>
          <a:stretch/>
        </p:blipFill>
        <p:spPr>
          <a:xfrm>
            <a:off x="9360" y="9360"/>
            <a:ext cx="12171960" cy="265680"/>
          </a:xfrm>
          <a:prstGeom prst="rect">
            <a:avLst/>
          </a:prstGeom>
          <a:ln w="0">
            <a:noFill/>
          </a:ln>
        </p:spPr>
      </p:pic>
      <p:pic>
        <p:nvPicPr>
          <p:cNvPr id="459" name="Google Shape;561;p46" descr="image.png"/>
          <p:cNvPicPr/>
          <p:nvPr/>
        </p:nvPicPr>
        <p:blipFill>
          <a:blip r:embed="rId6"/>
          <a:stretch/>
        </p:blipFill>
        <p:spPr>
          <a:xfrm>
            <a:off x="9360" y="6581880"/>
            <a:ext cx="12171960" cy="265680"/>
          </a:xfrm>
          <a:prstGeom prst="rect">
            <a:avLst/>
          </a:prstGeom>
          <a:ln w="0">
            <a:noFill/>
          </a:ln>
        </p:spPr>
      </p:pic>
      <p:sp>
        <p:nvSpPr>
          <p:cNvPr id="460" name="Google Shape;562;p46"/>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Radar Clutter</a:t>
            </a:r>
            <a:endParaRPr b="0" lang="en-NZ" sz="2400" spc="-1" strike="noStrike">
              <a:latin typeface="Arial"/>
            </a:endParaRPr>
          </a:p>
        </p:txBody>
      </p:sp>
      <p:sp>
        <p:nvSpPr>
          <p:cNvPr id="461" name="Google Shape;563;p46"/>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462" name="Google Shape;564;p46"/>
          <p:cNvSpPr/>
          <p:nvPr/>
        </p:nvSpPr>
        <p:spPr>
          <a:xfrm>
            <a:off x="78120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Ground Clutter</a:t>
            </a:r>
            <a:endParaRPr b="0" lang="en-NZ" sz="1410" spc="-1" strike="noStrike">
              <a:latin typeface="Arial"/>
            </a:endParaRPr>
          </a:p>
        </p:txBody>
      </p:sp>
      <p:sp>
        <p:nvSpPr>
          <p:cNvPr id="463" name="Google Shape;565;p46"/>
          <p:cNvSpPr/>
          <p:nvPr/>
        </p:nvSpPr>
        <p:spPr>
          <a:xfrm>
            <a:off x="78120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Reflections from buildings, mountains, and trees.</a:t>
            </a:r>
            <a:endParaRPr b="0" lang="en-NZ" sz="1500" spc="-1" strike="noStrike">
              <a:latin typeface="Arial"/>
            </a:endParaRPr>
          </a:p>
        </p:txBody>
      </p:sp>
      <p:sp>
        <p:nvSpPr>
          <p:cNvPr id="464" name="Google Shape;566;p46"/>
          <p:cNvSpPr/>
          <p:nvPr/>
        </p:nvSpPr>
        <p:spPr>
          <a:xfrm>
            <a:off x="452124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Sea Clutter</a:t>
            </a:r>
            <a:endParaRPr b="0" lang="en-NZ" sz="1410" spc="-1" strike="noStrike">
              <a:latin typeface="Arial"/>
            </a:endParaRPr>
          </a:p>
        </p:txBody>
      </p:sp>
      <p:sp>
        <p:nvSpPr>
          <p:cNvPr id="465" name="Google Shape;567;p46"/>
          <p:cNvSpPr/>
          <p:nvPr/>
        </p:nvSpPr>
        <p:spPr>
          <a:xfrm>
            <a:off x="452124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Reflections from waves (Sea State).</a:t>
            </a:r>
            <a:endParaRPr b="0" lang="en-NZ" sz="1500" spc="-1" strike="noStrike">
              <a:latin typeface="Arial"/>
            </a:endParaRPr>
          </a:p>
        </p:txBody>
      </p:sp>
      <p:sp>
        <p:nvSpPr>
          <p:cNvPr id="466" name="Google Shape;568;p46"/>
          <p:cNvSpPr/>
          <p:nvPr/>
        </p:nvSpPr>
        <p:spPr>
          <a:xfrm>
            <a:off x="826128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Volume Clutter</a:t>
            </a:r>
            <a:endParaRPr b="0" lang="en-NZ" sz="1410" spc="-1" strike="noStrike">
              <a:latin typeface="Arial"/>
            </a:endParaRPr>
          </a:p>
        </p:txBody>
      </p:sp>
      <p:sp>
        <p:nvSpPr>
          <p:cNvPr id="467" name="Google Shape;569;p46"/>
          <p:cNvSpPr/>
          <p:nvPr/>
        </p:nvSpPr>
        <p:spPr>
          <a:xfrm>
            <a:off x="826128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Reflections from rain, hail, or chaff.</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8" name="Google Shape;574;p47" descr="image.png"/>
          <p:cNvPicPr/>
          <p:nvPr/>
        </p:nvPicPr>
        <p:blipFill>
          <a:blip r:embed="rId1"/>
          <a:stretch/>
        </p:blipFill>
        <p:spPr>
          <a:xfrm>
            <a:off x="0" y="0"/>
            <a:ext cx="12191040" cy="6856920"/>
          </a:xfrm>
          <a:prstGeom prst="rect">
            <a:avLst/>
          </a:prstGeom>
          <a:ln w="0">
            <a:noFill/>
          </a:ln>
        </p:spPr>
      </p:pic>
      <p:pic>
        <p:nvPicPr>
          <p:cNvPr id="469" name="Google Shape;575;p47" descr="image.png"/>
          <p:cNvPicPr/>
          <p:nvPr/>
        </p:nvPicPr>
        <p:blipFill>
          <a:blip r:embed="rId2"/>
          <a:stretch/>
        </p:blipFill>
        <p:spPr>
          <a:xfrm>
            <a:off x="581040" y="3037680"/>
            <a:ext cx="11028960" cy="1939320"/>
          </a:xfrm>
          <a:prstGeom prst="rect">
            <a:avLst/>
          </a:prstGeom>
          <a:ln w="0">
            <a:noFill/>
          </a:ln>
        </p:spPr>
      </p:pic>
      <p:pic>
        <p:nvPicPr>
          <p:cNvPr id="470" name="Google Shape;576;p47" descr="image.png"/>
          <p:cNvPicPr/>
          <p:nvPr/>
        </p:nvPicPr>
        <p:blipFill>
          <a:blip r:embed="rId3"/>
          <a:stretch/>
        </p:blipFill>
        <p:spPr>
          <a:xfrm>
            <a:off x="9360" y="9360"/>
            <a:ext cx="12171960" cy="265680"/>
          </a:xfrm>
          <a:prstGeom prst="rect">
            <a:avLst/>
          </a:prstGeom>
          <a:ln w="0">
            <a:noFill/>
          </a:ln>
        </p:spPr>
      </p:pic>
      <p:pic>
        <p:nvPicPr>
          <p:cNvPr id="471" name="Google Shape;577;p47" descr="image.png"/>
          <p:cNvPicPr/>
          <p:nvPr/>
        </p:nvPicPr>
        <p:blipFill>
          <a:blip r:embed="rId4"/>
          <a:stretch/>
        </p:blipFill>
        <p:spPr>
          <a:xfrm>
            <a:off x="9360" y="6581880"/>
            <a:ext cx="12171960" cy="265680"/>
          </a:xfrm>
          <a:prstGeom prst="rect">
            <a:avLst/>
          </a:prstGeom>
          <a:ln w="0">
            <a:noFill/>
          </a:ln>
        </p:spPr>
      </p:pic>
      <p:sp>
        <p:nvSpPr>
          <p:cNvPr id="472" name="Google Shape;578;p47"/>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Doppler Effect</a:t>
            </a:r>
            <a:endParaRPr b="0" lang="en-NZ" sz="2400" spc="-1" strike="noStrike">
              <a:latin typeface="Arial"/>
            </a:endParaRPr>
          </a:p>
        </p:txBody>
      </p:sp>
      <p:sp>
        <p:nvSpPr>
          <p:cNvPr id="473" name="Google Shape;579;p47"/>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474" name="Google Shape;580;p47"/>
          <p:cNvSpPr/>
          <p:nvPr/>
        </p:nvSpPr>
        <p:spPr>
          <a:xfrm>
            <a:off x="781200" y="341604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Detecting Motion</a:t>
            </a:r>
            <a:endParaRPr b="0" lang="en-NZ" sz="1410" spc="-1" strike="noStrike">
              <a:latin typeface="Arial"/>
            </a:endParaRPr>
          </a:p>
        </p:txBody>
      </p:sp>
      <p:sp>
        <p:nvSpPr>
          <p:cNvPr id="475" name="Google Shape;581;p47"/>
          <p:cNvSpPr/>
          <p:nvPr/>
        </p:nvSpPr>
        <p:spPr>
          <a:xfrm>
            <a:off x="781200" y="382536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When a target moves toward the radar, the reflected frequency increases (Shift Up).</a:t>
            </a:r>
            <a:endParaRPr b="0" lang="en-NZ" sz="1500" spc="-1" strike="noStrike">
              <a:latin typeface="Arial"/>
            </a:endParaRPr>
          </a:p>
        </p:txBody>
      </p:sp>
      <p:sp>
        <p:nvSpPr>
          <p:cNvPr id="476" name="Google Shape;582;p47"/>
          <p:cNvSpPr/>
          <p:nvPr/>
        </p:nvSpPr>
        <p:spPr>
          <a:xfrm>
            <a:off x="781200" y="43016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When it moves away, the frequency decreases (Shift Down). Radar uses this to measure speed instantly.</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7" name="Google Shape;587;p48" descr="image.png"/>
          <p:cNvPicPr/>
          <p:nvPr/>
        </p:nvPicPr>
        <p:blipFill>
          <a:blip r:embed="rId1"/>
          <a:stretch/>
        </p:blipFill>
        <p:spPr>
          <a:xfrm>
            <a:off x="0" y="0"/>
            <a:ext cx="12191040" cy="6856920"/>
          </a:xfrm>
          <a:prstGeom prst="rect">
            <a:avLst/>
          </a:prstGeom>
          <a:ln w="0">
            <a:noFill/>
          </a:ln>
        </p:spPr>
      </p:pic>
      <p:pic>
        <p:nvPicPr>
          <p:cNvPr id="478" name="Google Shape;588;p48" descr="image.png"/>
          <p:cNvPicPr/>
          <p:nvPr/>
        </p:nvPicPr>
        <p:blipFill>
          <a:blip r:embed="rId2"/>
          <a:stretch/>
        </p:blipFill>
        <p:spPr>
          <a:xfrm>
            <a:off x="581040" y="2894760"/>
            <a:ext cx="11028960" cy="2225160"/>
          </a:xfrm>
          <a:prstGeom prst="rect">
            <a:avLst/>
          </a:prstGeom>
          <a:ln w="0">
            <a:noFill/>
          </a:ln>
        </p:spPr>
      </p:pic>
      <p:pic>
        <p:nvPicPr>
          <p:cNvPr id="479" name="Google Shape;589;p48" descr="image.png"/>
          <p:cNvPicPr/>
          <p:nvPr/>
        </p:nvPicPr>
        <p:blipFill>
          <a:blip r:embed="rId3"/>
          <a:stretch/>
        </p:blipFill>
        <p:spPr>
          <a:xfrm>
            <a:off x="9360" y="9360"/>
            <a:ext cx="12171960" cy="265680"/>
          </a:xfrm>
          <a:prstGeom prst="rect">
            <a:avLst/>
          </a:prstGeom>
          <a:ln w="0">
            <a:noFill/>
          </a:ln>
        </p:spPr>
      </p:pic>
      <p:pic>
        <p:nvPicPr>
          <p:cNvPr id="480" name="Google Shape;590;p48" descr="image.png"/>
          <p:cNvPicPr/>
          <p:nvPr/>
        </p:nvPicPr>
        <p:blipFill>
          <a:blip r:embed="rId4"/>
          <a:stretch/>
        </p:blipFill>
        <p:spPr>
          <a:xfrm>
            <a:off x="9360" y="6581880"/>
            <a:ext cx="12171960" cy="265680"/>
          </a:xfrm>
          <a:prstGeom prst="rect">
            <a:avLst/>
          </a:prstGeom>
          <a:ln w="0">
            <a:noFill/>
          </a:ln>
        </p:spPr>
      </p:pic>
      <p:sp>
        <p:nvSpPr>
          <p:cNvPr id="481" name="Google Shape;591;p48"/>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Speed Gating (Doppler Filters)</a:t>
            </a:r>
            <a:endParaRPr b="0" lang="en-NZ" sz="2400" spc="-1" strike="noStrike">
              <a:latin typeface="Arial"/>
            </a:endParaRPr>
          </a:p>
        </p:txBody>
      </p:sp>
      <p:sp>
        <p:nvSpPr>
          <p:cNvPr id="482" name="Google Shape;592;p48"/>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483" name="Google Shape;593;p48"/>
          <p:cNvSpPr/>
          <p:nvPr/>
        </p:nvSpPr>
        <p:spPr>
          <a:xfrm>
            <a:off x="781200" y="327312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Filtering by Speed</a:t>
            </a:r>
            <a:endParaRPr b="0" lang="en-NZ" sz="1410" spc="-1" strike="noStrike">
              <a:latin typeface="Arial"/>
            </a:endParaRPr>
          </a:p>
        </p:txBody>
      </p:sp>
      <p:sp>
        <p:nvSpPr>
          <p:cNvPr id="484" name="Google Shape;594;p48"/>
          <p:cNvSpPr/>
          <p:nvPr/>
        </p:nvSpPr>
        <p:spPr>
          <a:xfrm>
            <a:off x="781200" y="36824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Returns are sorted into "Doppler Bins" based on their shift.</a:t>
            </a:r>
            <a:endParaRPr b="0" lang="en-NZ" sz="1500" spc="-1" strike="noStrike">
              <a:latin typeface="Arial"/>
            </a:endParaRPr>
          </a:p>
        </p:txBody>
      </p:sp>
      <p:sp>
        <p:nvSpPr>
          <p:cNvPr id="485" name="Google Shape;595;p48"/>
          <p:cNvSpPr/>
          <p:nvPr/>
        </p:nvSpPr>
        <p:spPr>
          <a:xfrm>
            <a:off x="781200" y="4158720"/>
            <a:ext cx="106290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Stationary objects</a:t>
            </a:r>
            <a:r>
              <a:rPr b="0" lang="en-US" sz="1500" spc="-1" strike="noStrike">
                <a:solidFill>
                  <a:srgbClr val="cbd5e1"/>
                </a:solidFill>
                <a:latin typeface="Inter"/>
                <a:ea typeface="Inter"/>
              </a:rPr>
              <a:t> (mountains) fall into the Zero-Velocity bin. </a:t>
            </a:r>
            <a:r>
              <a:rPr b="1" lang="en-US" sz="1500" spc="-1" strike="noStrike">
                <a:solidFill>
                  <a:srgbClr val="cbd5e1"/>
                </a:solidFill>
                <a:latin typeface="Inter"/>
                <a:ea typeface="Inter"/>
              </a:rPr>
              <a:t>Aircraft</a:t>
            </a:r>
            <a:r>
              <a:rPr b="0" lang="en-US" sz="1500" spc="-1" strike="noStrike">
                <a:solidFill>
                  <a:srgbClr val="cbd5e1"/>
                </a:solidFill>
                <a:latin typeface="Inter"/>
                <a:ea typeface="Inter"/>
              </a:rPr>
              <a:t> fall into High-Velocity bins. This allows us to erase the mountains electronically.</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6" name="Google Shape;600;p49" descr="image.png"/>
          <p:cNvPicPr/>
          <p:nvPr/>
        </p:nvPicPr>
        <p:blipFill>
          <a:blip r:embed="rId1"/>
          <a:stretch/>
        </p:blipFill>
        <p:spPr>
          <a:xfrm>
            <a:off x="0" y="0"/>
            <a:ext cx="12191040" cy="6856920"/>
          </a:xfrm>
          <a:prstGeom prst="rect">
            <a:avLst/>
          </a:prstGeom>
          <a:ln w="0">
            <a:noFill/>
          </a:ln>
        </p:spPr>
      </p:pic>
      <p:pic>
        <p:nvPicPr>
          <p:cNvPr id="487" name="Google Shape;601;p49" descr="image.png"/>
          <p:cNvPicPr/>
          <p:nvPr/>
        </p:nvPicPr>
        <p:blipFill>
          <a:blip r:embed="rId2"/>
          <a:stretch/>
        </p:blipFill>
        <p:spPr>
          <a:xfrm>
            <a:off x="581040" y="3037680"/>
            <a:ext cx="11028960" cy="1939320"/>
          </a:xfrm>
          <a:prstGeom prst="rect">
            <a:avLst/>
          </a:prstGeom>
          <a:ln w="0">
            <a:noFill/>
          </a:ln>
        </p:spPr>
      </p:pic>
      <p:pic>
        <p:nvPicPr>
          <p:cNvPr id="488" name="Google Shape;602;p49" descr="image.png"/>
          <p:cNvPicPr/>
          <p:nvPr/>
        </p:nvPicPr>
        <p:blipFill>
          <a:blip r:embed="rId3"/>
          <a:stretch/>
        </p:blipFill>
        <p:spPr>
          <a:xfrm>
            <a:off x="9360" y="9360"/>
            <a:ext cx="12171960" cy="265680"/>
          </a:xfrm>
          <a:prstGeom prst="rect">
            <a:avLst/>
          </a:prstGeom>
          <a:ln w="0">
            <a:noFill/>
          </a:ln>
        </p:spPr>
      </p:pic>
      <p:pic>
        <p:nvPicPr>
          <p:cNvPr id="489" name="Google Shape;603;p49" descr="image.png"/>
          <p:cNvPicPr/>
          <p:nvPr/>
        </p:nvPicPr>
        <p:blipFill>
          <a:blip r:embed="rId4"/>
          <a:stretch/>
        </p:blipFill>
        <p:spPr>
          <a:xfrm>
            <a:off x="9360" y="6581880"/>
            <a:ext cx="12171960" cy="265680"/>
          </a:xfrm>
          <a:prstGeom prst="rect">
            <a:avLst/>
          </a:prstGeom>
          <a:ln w="0">
            <a:noFill/>
          </a:ln>
        </p:spPr>
      </p:pic>
      <p:sp>
        <p:nvSpPr>
          <p:cNvPr id="490" name="Google Shape;604;p49"/>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Moving Target Indication (MTI)</a:t>
            </a:r>
            <a:endParaRPr b="0" lang="en-NZ" sz="2400" spc="-1" strike="noStrike">
              <a:latin typeface="Arial"/>
            </a:endParaRPr>
          </a:p>
        </p:txBody>
      </p:sp>
      <p:sp>
        <p:nvSpPr>
          <p:cNvPr id="491" name="Google Shape;605;p49"/>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492" name="Google Shape;606;p49"/>
          <p:cNvSpPr/>
          <p:nvPr/>
        </p:nvSpPr>
        <p:spPr>
          <a:xfrm>
            <a:off x="781200" y="341604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Seeing Only Motion</a:t>
            </a:r>
            <a:endParaRPr b="0" lang="en-NZ" sz="1410" spc="-1" strike="noStrike">
              <a:latin typeface="Arial"/>
            </a:endParaRPr>
          </a:p>
        </p:txBody>
      </p:sp>
      <p:sp>
        <p:nvSpPr>
          <p:cNvPr id="493" name="Google Shape;607;p49"/>
          <p:cNvSpPr/>
          <p:nvPr/>
        </p:nvSpPr>
        <p:spPr>
          <a:xfrm>
            <a:off x="781200" y="382536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MTI radar ignores anything that isn't moving.</a:t>
            </a:r>
            <a:endParaRPr b="0" lang="en-NZ" sz="1500" spc="-1" strike="noStrike">
              <a:latin typeface="Arial"/>
            </a:endParaRPr>
          </a:p>
        </p:txBody>
      </p:sp>
      <p:sp>
        <p:nvSpPr>
          <p:cNvPr id="494" name="Google Shape;608;p49"/>
          <p:cNvSpPr/>
          <p:nvPr/>
        </p:nvSpPr>
        <p:spPr>
          <a:xfrm>
            <a:off x="781200" y="43016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The Trade-off:</a:t>
            </a:r>
            <a:r>
              <a:rPr b="0" lang="en-US" sz="1500" spc="-1" strike="noStrike">
                <a:solidFill>
                  <a:srgbClr val="cbd5e1"/>
                </a:solidFill>
                <a:latin typeface="Inter"/>
                <a:ea typeface="Inter"/>
              </a:rPr>
              <a:t> It removes clutter, but it also hides stationary targets like hovering helicopters or balloons.</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5" name="Google Shape;613;p50" descr="image.png"/>
          <p:cNvPicPr/>
          <p:nvPr/>
        </p:nvPicPr>
        <p:blipFill>
          <a:blip r:embed="rId1"/>
          <a:stretch/>
        </p:blipFill>
        <p:spPr>
          <a:xfrm>
            <a:off x="0" y="0"/>
            <a:ext cx="12191040" cy="6856920"/>
          </a:xfrm>
          <a:prstGeom prst="rect">
            <a:avLst/>
          </a:prstGeom>
          <a:ln w="0">
            <a:noFill/>
          </a:ln>
        </p:spPr>
      </p:pic>
      <p:pic>
        <p:nvPicPr>
          <p:cNvPr id="496" name="Google Shape;614;p50" descr="image.png"/>
          <p:cNvPicPr/>
          <p:nvPr/>
        </p:nvPicPr>
        <p:blipFill>
          <a:blip r:embed="rId2"/>
          <a:stretch/>
        </p:blipFill>
        <p:spPr>
          <a:xfrm>
            <a:off x="6286680" y="1864800"/>
            <a:ext cx="5323320" cy="4285080"/>
          </a:xfrm>
          <a:prstGeom prst="rect">
            <a:avLst/>
          </a:prstGeom>
          <a:ln w="0">
            <a:noFill/>
          </a:ln>
        </p:spPr>
      </p:pic>
      <p:pic>
        <p:nvPicPr>
          <p:cNvPr id="497" name="Google Shape;615;p50" descr="image.png"/>
          <p:cNvPicPr/>
          <p:nvPr/>
        </p:nvPicPr>
        <p:blipFill>
          <a:blip r:embed="rId3"/>
          <a:stretch/>
        </p:blipFill>
        <p:spPr>
          <a:xfrm>
            <a:off x="9360" y="9360"/>
            <a:ext cx="12171960" cy="265680"/>
          </a:xfrm>
          <a:prstGeom prst="rect">
            <a:avLst/>
          </a:prstGeom>
          <a:ln w="0">
            <a:noFill/>
          </a:ln>
        </p:spPr>
      </p:pic>
      <p:pic>
        <p:nvPicPr>
          <p:cNvPr id="498" name="Google Shape;616;p50" descr="image.png"/>
          <p:cNvPicPr/>
          <p:nvPr/>
        </p:nvPicPr>
        <p:blipFill>
          <a:blip r:embed="rId4"/>
          <a:stretch/>
        </p:blipFill>
        <p:spPr>
          <a:xfrm>
            <a:off x="9360" y="6581880"/>
            <a:ext cx="12171960" cy="265680"/>
          </a:xfrm>
          <a:prstGeom prst="rect">
            <a:avLst/>
          </a:prstGeom>
          <a:ln w="0">
            <a:noFill/>
          </a:ln>
        </p:spPr>
      </p:pic>
      <p:sp>
        <p:nvSpPr>
          <p:cNvPr id="499" name="Google Shape;617;p50"/>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The Doppler Notch</a:t>
            </a:r>
            <a:endParaRPr b="0" lang="en-NZ" sz="2400" spc="-1" strike="noStrike">
              <a:latin typeface="Arial"/>
            </a:endParaRPr>
          </a:p>
        </p:txBody>
      </p:sp>
      <p:sp>
        <p:nvSpPr>
          <p:cNvPr id="500" name="Google Shape;618;p50"/>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501" name="Google Shape;619;p50"/>
          <p:cNvSpPr/>
          <p:nvPr/>
        </p:nvSpPr>
        <p:spPr>
          <a:xfrm>
            <a:off x="58104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Hiding in the Filter</a:t>
            </a:r>
            <a:endParaRPr b="0" lang="en-NZ" sz="1410" spc="-1" strike="noStrike">
              <a:latin typeface="Arial"/>
            </a:endParaRPr>
          </a:p>
        </p:txBody>
      </p:sp>
      <p:sp>
        <p:nvSpPr>
          <p:cNvPr id="502" name="Google Shape;620;p50"/>
          <p:cNvSpPr/>
          <p:nvPr/>
        </p:nvSpPr>
        <p:spPr>
          <a:xfrm>
            <a:off x="581040" y="353988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If an aircraft flies perfectly perpendicular (90°) to the radar, its closing speed is zero.</a:t>
            </a:r>
            <a:endParaRPr b="0" lang="en-NZ" sz="1500" spc="-1" strike="noStrike">
              <a:latin typeface="Arial"/>
            </a:endParaRPr>
          </a:p>
        </p:txBody>
      </p:sp>
      <p:sp>
        <p:nvSpPr>
          <p:cNvPr id="503" name="Google Shape;621;p50"/>
          <p:cNvSpPr/>
          <p:nvPr/>
        </p:nvSpPr>
        <p:spPr>
          <a:xfrm>
            <a:off x="581040" y="430164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 Doppler filter assumes it is a mountain and hides it. Pilots call this maneuver "Notching."</a:t>
            </a:r>
            <a:endParaRPr b="0" lang="en-NZ" sz="1500" spc="-1" strike="noStrike">
              <a:latin typeface="Arial"/>
            </a:endParaRPr>
          </a:p>
        </p:txBody>
      </p:sp>
      <p:pic>
        <p:nvPicPr>
          <p:cNvPr id="504" name="Google Shape;622;p50"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5" name="Google Shape;627;p51" descr="image.png"/>
          <p:cNvPicPr/>
          <p:nvPr/>
        </p:nvPicPr>
        <p:blipFill>
          <a:blip r:embed="rId1"/>
          <a:stretch/>
        </p:blipFill>
        <p:spPr>
          <a:xfrm>
            <a:off x="0" y="0"/>
            <a:ext cx="12191040" cy="6856920"/>
          </a:xfrm>
          <a:prstGeom prst="rect">
            <a:avLst/>
          </a:prstGeom>
          <a:ln w="0">
            <a:noFill/>
          </a:ln>
        </p:spPr>
      </p:pic>
      <p:pic>
        <p:nvPicPr>
          <p:cNvPr id="506" name="Google Shape;628;p51" descr="image.png"/>
          <p:cNvPicPr/>
          <p:nvPr/>
        </p:nvPicPr>
        <p:blipFill>
          <a:blip r:embed="rId2"/>
          <a:stretch/>
        </p:blipFill>
        <p:spPr>
          <a:xfrm>
            <a:off x="581040" y="3037680"/>
            <a:ext cx="11028960" cy="1939320"/>
          </a:xfrm>
          <a:prstGeom prst="rect">
            <a:avLst/>
          </a:prstGeom>
          <a:ln w="0">
            <a:noFill/>
          </a:ln>
        </p:spPr>
      </p:pic>
      <p:pic>
        <p:nvPicPr>
          <p:cNvPr id="507" name="Google Shape;629;p51" descr="image.png"/>
          <p:cNvPicPr/>
          <p:nvPr/>
        </p:nvPicPr>
        <p:blipFill>
          <a:blip r:embed="rId3"/>
          <a:stretch/>
        </p:blipFill>
        <p:spPr>
          <a:xfrm>
            <a:off x="9360" y="9360"/>
            <a:ext cx="12171960" cy="265680"/>
          </a:xfrm>
          <a:prstGeom prst="rect">
            <a:avLst/>
          </a:prstGeom>
          <a:ln w="0">
            <a:noFill/>
          </a:ln>
        </p:spPr>
      </p:pic>
      <p:pic>
        <p:nvPicPr>
          <p:cNvPr id="508" name="Google Shape;630;p51" descr="image.png"/>
          <p:cNvPicPr/>
          <p:nvPr/>
        </p:nvPicPr>
        <p:blipFill>
          <a:blip r:embed="rId4"/>
          <a:stretch/>
        </p:blipFill>
        <p:spPr>
          <a:xfrm>
            <a:off x="9360" y="6581880"/>
            <a:ext cx="12171960" cy="265680"/>
          </a:xfrm>
          <a:prstGeom prst="rect">
            <a:avLst/>
          </a:prstGeom>
          <a:ln w="0">
            <a:noFill/>
          </a:ln>
        </p:spPr>
      </p:pic>
      <p:sp>
        <p:nvSpPr>
          <p:cNvPr id="509" name="Google Shape;631;p51"/>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Blind Speeds</a:t>
            </a:r>
            <a:endParaRPr b="0" lang="en-NZ" sz="2400" spc="-1" strike="noStrike">
              <a:latin typeface="Arial"/>
            </a:endParaRPr>
          </a:p>
        </p:txBody>
      </p:sp>
      <p:sp>
        <p:nvSpPr>
          <p:cNvPr id="510" name="Google Shape;632;p51"/>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511" name="Google Shape;633;p51"/>
          <p:cNvSpPr/>
          <p:nvPr/>
        </p:nvSpPr>
        <p:spPr>
          <a:xfrm>
            <a:off x="781200" y="341604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Sampling Errors</a:t>
            </a:r>
            <a:endParaRPr b="0" lang="en-NZ" sz="1410" spc="-1" strike="noStrike">
              <a:latin typeface="Arial"/>
            </a:endParaRPr>
          </a:p>
        </p:txBody>
      </p:sp>
      <p:sp>
        <p:nvSpPr>
          <p:cNvPr id="512" name="Google Shape;634;p51"/>
          <p:cNvSpPr/>
          <p:nvPr/>
        </p:nvSpPr>
        <p:spPr>
          <a:xfrm>
            <a:off x="781200" y="382536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Due to the pulse timing (PRF), certain specific target speeds can align perfectly with the pulse rate.</a:t>
            </a:r>
            <a:endParaRPr b="0" lang="en-NZ" sz="1500" spc="-1" strike="noStrike">
              <a:latin typeface="Arial"/>
            </a:endParaRPr>
          </a:p>
        </p:txBody>
      </p:sp>
      <p:sp>
        <p:nvSpPr>
          <p:cNvPr id="513" name="Google Shape;635;p51"/>
          <p:cNvSpPr/>
          <p:nvPr/>
        </p:nvSpPr>
        <p:spPr>
          <a:xfrm>
            <a:off x="781200" y="4301640"/>
            <a:ext cx="106290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At these speeds, the Doppler shift appears to be zero to the processor, making the target invisible.</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4" name="Google Shape;234;p23_0" descr="image.png"/>
          <p:cNvPicPr/>
          <p:nvPr/>
        </p:nvPicPr>
        <p:blipFill>
          <a:blip r:embed="rId1"/>
          <a:stretch/>
        </p:blipFill>
        <p:spPr>
          <a:xfrm>
            <a:off x="1080" y="9360"/>
            <a:ext cx="12191040" cy="6856920"/>
          </a:xfrm>
          <a:prstGeom prst="rect">
            <a:avLst/>
          </a:prstGeom>
          <a:ln w="0">
            <a:noFill/>
          </a:ln>
        </p:spPr>
      </p:pic>
      <p:pic>
        <p:nvPicPr>
          <p:cNvPr id="515" name="Google Shape;236;p23_1" descr="image.png"/>
          <p:cNvPicPr/>
          <p:nvPr/>
        </p:nvPicPr>
        <p:blipFill>
          <a:blip r:embed="rId2"/>
          <a:stretch/>
        </p:blipFill>
        <p:spPr>
          <a:xfrm>
            <a:off x="9360" y="9360"/>
            <a:ext cx="12171960" cy="265680"/>
          </a:xfrm>
          <a:prstGeom prst="rect">
            <a:avLst/>
          </a:prstGeom>
          <a:ln w="0">
            <a:noFill/>
          </a:ln>
        </p:spPr>
      </p:pic>
      <p:pic>
        <p:nvPicPr>
          <p:cNvPr id="516" name="Google Shape;237;p23_1" descr="image.png"/>
          <p:cNvPicPr/>
          <p:nvPr/>
        </p:nvPicPr>
        <p:blipFill>
          <a:blip r:embed="rId3"/>
          <a:stretch/>
        </p:blipFill>
        <p:spPr>
          <a:xfrm>
            <a:off x="9360" y="6581880"/>
            <a:ext cx="12171960" cy="265680"/>
          </a:xfrm>
          <a:prstGeom prst="rect">
            <a:avLst/>
          </a:prstGeom>
          <a:ln w="0">
            <a:noFill/>
          </a:ln>
        </p:spPr>
      </p:pic>
      <p:sp>
        <p:nvSpPr>
          <p:cNvPr id="517" name="Google Shape;239;p23_1"/>
          <p:cNvSpPr/>
          <p:nvPr/>
        </p:nvSpPr>
        <p:spPr>
          <a:xfrm>
            <a:off x="545040" y="893880"/>
            <a:ext cx="11028960" cy="18000"/>
          </a:xfrm>
          <a:prstGeom prst="rect">
            <a:avLst/>
          </a:prstGeom>
          <a:solidFill>
            <a:srgbClr val="1e293b"/>
          </a:solidFill>
          <a:ln w="0">
            <a:noFill/>
          </a:ln>
        </p:spPr>
        <p:style>
          <a:lnRef idx="0"/>
          <a:fillRef idx="0"/>
          <a:effectRef idx="0"/>
          <a:fontRef idx="minor"/>
        </p:style>
      </p:sp>
      <p:pic>
        <p:nvPicPr>
          <p:cNvPr id="518" name="" descr=""/>
          <p:cNvPicPr/>
          <p:nvPr/>
        </p:nvPicPr>
        <p:blipFill>
          <a:blip r:embed="rId4"/>
          <a:stretch/>
        </p:blipFill>
        <p:spPr>
          <a:xfrm>
            <a:off x="326520" y="1076040"/>
            <a:ext cx="5955480" cy="4683960"/>
          </a:xfrm>
          <a:prstGeom prst="rect">
            <a:avLst/>
          </a:prstGeom>
          <a:ln w="0">
            <a:noFill/>
          </a:ln>
        </p:spPr>
      </p:pic>
      <p:sp>
        <p:nvSpPr>
          <p:cNvPr id="519" name=""/>
          <p:cNvSpPr txBox="1"/>
          <p:nvPr/>
        </p:nvSpPr>
        <p:spPr>
          <a:xfrm>
            <a:off x="576000" y="504000"/>
            <a:ext cx="4140000" cy="346680"/>
          </a:xfrm>
          <a:prstGeom prst="rect">
            <a:avLst/>
          </a:prstGeom>
          <a:noFill/>
          <a:ln w="0">
            <a:noFill/>
          </a:ln>
        </p:spPr>
        <p:txBody>
          <a:bodyPr lIns="90000" rIns="90000" tIns="45000" bIns="45000">
            <a:noAutofit/>
          </a:bodyPr>
          <a:p>
            <a:r>
              <a:rPr b="1" lang="en-NZ" sz="1800" spc="-1" strike="noStrike">
                <a:solidFill>
                  <a:srgbClr val="ffffff"/>
                </a:solidFill>
                <a:latin typeface="Arial"/>
              </a:rPr>
              <a:t>Radar Display Types</a:t>
            </a:r>
            <a:endParaRPr b="1" lang="en-NZ" sz="1800" spc="-1" strike="noStrike">
              <a:solidFill>
                <a:srgbClr val="ffffff"/>
              </a:solidFill>
              <a:latin typeface="Arial"/>
            </a:endParaRPr>
          </a:p>
        </p:txBody>
      </p:sp>
      <p:sp>
        <p:nvSpPr>
          <p:cNvPr id="520" name=""/>
          <p:cNvSpPr txBox="1"/>
          <p:nvPr/>
        </p:nvSpPr>
        <p:spPr>
          <a:xfrm>
            <a:off x="6480000" y="1045800"/>
            <a:ext cx="5400000" cy="643320"/>
          </a:xfrm>
          <a:prstGeom prst="rect">
            <a:avLst/>
          </a:prstGeom>
          <a:noFill/>
          <a:ln w="0">
            <a:noFill/>
          </a:ln>
        </p:spPr>
        <p:txBody>
          <a:bodyPr lIns="90000" rIns="90000" tIns="45000" bIns="45000">
            <a:noAutofit/>
          </a:bodyPr>
          <a:p>
            <a:r>
              <a:rPr b="1" lang="en-NZ" sz="1300" spc="-1" strike="noStrike">
                <a:solidFill>
                  <a:srgbClr val="ffffff"/>
                </a:solidFill>
                <a:latin typeface="Arial"/>
              </a:rPr>
              <a:t>A-scope</a:t>
            </a:r>
            <a:r>
              <a:rPr b="0" lang="en-NZ" sz="1300" spc="-1" strike="noStrike">
                <a:solidFill>
                  <a:srgbClr val="ffffff"/>
                </a:solidFill>
                <a:latin typeface="Arial"/>
              </a:rPr>
              <a:t>: Shows the amplitude (strength) of the echo signal versus the range or time. It is often used with other displays, like the PPI, for more detailed tracking.</a:t>
            </a:r>
            <a:endParaRPr b="0" lang="en-NZ" sz="1300" spc="-1" strike="noStrike">
              <a:solidFill>
                <a:srgbClr val="ffffff"/>
              </a:solidFill>
              <a:latin typeface="Arial"/>
            </a:endParaRPr>
          </a:p>
        </p:txBody>
      </p:sp>
      <p:sp>
        <p:nvSpPr>
          <p:cNvPr id="521" name=""/>
          <p:cNvSpPr txBox="1"/>
          <p:nvPr/>
        </p:nvSpPr>
        <p:spPr>
          <a:xfrm>
            <a:off x="6480000" y="1800000"/>
            <a:ext cx="5580000" cy="540000"/>
          </a:xfrm>
          <a:prstGeom prst="rect">
            <a:avLst/>
          </a:prstGeom>
          <a:noFill/>
          <a:ln w="0">
            <a:noFill/>
          </a:ln>
        </p:spPr>
        <p:txBody>
          <a:bodyPr lIns="90000" rIns="90000" tIns="45000" bIns="45000">
            <a:noAutofit/>
          </a:bodyPr>
          <a:p>
            <a:r>
              <a:rPr b="1" lang="en-NZ" sz="1300" spc="-1" strike="noStrike">
                <a:solidFill>
                  <a:srgbClr val="ffffff"/>
                </a:solidFill>
                <a:latin typeface="Arial"/>
              </a:rPr>
              <a:t>B-scope</a:t>
            </a:r>
            <a:r>
              <a:rPr b="0" lang="en-NZ" sz="1300" spc="-1" strike="noStrike">
                <a:solidFill>
                  <a:srgbClr val="ffffff"/>
                </a:solidFill>
                <a:latin typeface="Arial"/>
              </a:rPr>
              <a:t>: Displays azimuth angle against range. It shows targets within a selected range and can be used for surface radar.</a:t>
            </a:r>
            <a:endParaRPr b="0" lang="en-NZ" sz="1300" spc="-1" strike="noStrike">
              <a:solidFill>
                <a:srgbClr val="ffffff"/>
              </a:solidFill>
              <a:latin typeface="Arial"/>
            </a:endParaRPr>
          </a:p>
        </p:txBody>
      </p:sp>
      <p:sp>
        <p:nvSpPr>
          <p:cNvPr id="522" name=""/>
          <p:cNvSpPr txBox="1"/>
          <p:nvPr/>
        </p:nvSpPr>
        <p:spPr>
          <a:xfrm>
            <a:off x="6494760" y="2305800"/>
            <a:ext cx="5457240" cy="643320"/>
          </a:xfrm>
          <a:prstGeom prst="rect">
            <a:avLst/>
          </a:prstGeom>
          <a:noFill/>
          <a:ln w="0">
            <a:noFill/>
          </a:ln>
        </p:spPr>
        <p:txBody>
          <a:bodyPr lIns="90000" rIns="90000" tIns="45000" bIns="45000">
            <a:noAutofit/>
          </a:bodyPr>
          <a:p>
            <a:r>
              <a:rPr b="1" lang="en-NZ" sz="1300" spc="-1" strike="noStrike">
                <a:solidFill>
                  <a:srgbClr val="ffffff"/>
                </a:solidFill>
                <a:latin typeface="Arial"/>
              </a:rPr>
              <a:t>C-scope</a:t>
            </a:r>
            <a:r>
              <a:rPr b="0" lang="en-NZ" sz="1300" spc="-1" strike="noStrike">
                <a:solidFill>
                  <a:srgbClr val="ffffff"/>
                </a:solidFill>
                <a:latin typeface="Arial"/>
              </a:rPr>
              <a:t>: A rectangular display that shows azimuth angle on the horizontal axis and elevation angle on the vertical axis. It is often used in tracking radars.</a:t>
            </a:r>
            <a:endParaRPr b="0" lang="en-NZ" sz="1300" spc="-1" strike="noStrike">
              <a:solidFill>
                <a:srgbClr val="ffffff"/>
              </a:solidFill>
              <a:latin typeface="Arial"/>
            </a:endParaRPr>
          </a:p>
        </p:txBody>
      </p:sp>
      <p:sp>
        <p:nvSpPr>
          <p:cNvPr id="523" name=""/>
          <p:cNvSpPr txBox="1"/>
          <p:nvPr/>
        </p:nvSpPr>
        <p:spPr>
          <a:xfrm>
            <a:off x="6480000" y="3060000"/>
            <a:ext cx="5580000" cy="1882080"/>
          </a:xfrm>
          <a:prstGeom prst="rect">
            <a:avLst/>
          </a:prstGeom>
          <a:noFill/>
          <a:ln w="0">
            <a:noFill/>
          </a:ln>
        </p:spPr>
        <p:txBody>
          <a:bodyPr lIns="90000" rIns="90000" tIns="45000" bIns="45000">
            <a:noAutofit/>
          </a:bodyPr>
          <a:p>
            <a:r>
              <a:rPr b="1" lang="en-NZ" sz="1300" spc="-1" strike="noStrike">
                <a:solidFill>
                  <a:srgbClr val="ffffff"/>
                </a:solidFill>
                <a:latin typeface="Arial"/>
              </a:rPr>
              <a:t>PPI (Plan-Position Indicator)</a:t>
            </a:r>
            <a:r>
              <a:rPr b="0" lang="en-NZ" sz="1300" spc="-1" strike="noStrike">
                <a:solidFill>
                  <a:srgbClr val="ffffff"/>
                </a:solidFill>
                <a:latin typeface="Arial"/>
              </a:rPr>
              <a:t>: A circular display that shows a map-like view of targets. It plots the position of targets in polar coordinates, with the radar at the center, showing range (distance from the center) and azimuth (angle).</a:t>
            </a:r>
            <a:endParaRPr b="0" lang="en-NZ"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4" name="Google Shape;668;p54" descr="image.png"/>
          <p:cNvPicPr/>
          <p:nvPr/>
        </p:nvPicPr>
        <p:blipFill>
          <a:blip r:embed="rId1"/>
          <a:stretch/>
        </p:blipFill>
        <p:spPr>
          <a:xfrm>
            <a:off x="0" y="0"/>
            <a:ext cx="12191040" cy="6856920"/>
          </a:xfrm>
          <a:prstGeom prst="rect">
            <a:avLst/>
          </a:prstGeom>
          <a:ln w="0">
            <a:noFill/>
          </a:ln>
        </p:spPr>
      </p:pic>
      <p:pic>
        <p:nvPicPr>
          <p:cNvPr id="525" name="Google Shape;669;p54" descr="image.png"/>
          <p:cNvPicPr/>
          <p:nvPr/>
        </p:nvPicPr>
        <p:blipFill>
          <a:blip r:embed="rId2"/>
          <a:stretch/>
        </p:blipFill>
        <p:spPr>
          <a:xfrm>
            <a:off x="581040" y="1864800"/>
            <a:ext cx="5323320" cy="4285080"/>
          </a:xfrm>
          <a:prstGeom prst="rect">
            <a:avLst/>
          </a:prstGeom>
          <a:ln w="0">
            <a:noFill/>
          </a:ln>
        </p:spPr>
      </p:pic>
      <p:pic>
        <p:nvPicPr>
          <p:cNvPr id="526" name="Google Shape;670;p54" descr="image.png"/>
          <p:cNvPicPr/>
          <p:nvPr/>
        </p:nvPicPr>
        <p:blipFill>
          <a:blip r:embed="rId3"/>
          <a:stretch/>
        </p:blipFill>
        <p:spPr>
          <a:xfrm>
            <a:off x="9360" y="9360"/>
            <a:ext cx="12171960" cy="265680"/>
          </a:xfrm>
          <a:prstGeom prst="rect">
            <a:avLst/>
          </a:prstGeom>
          <a:ln w="0">
            <a:noFill/>
          </a:ln>
        </p:spPr>
      </p:pic>
      <p:pic>
        <p:nvPicPr>
          <p:cNvPr id="527" name="Google Shape;671;p54" descr="image.png"/>
          <p:cNvPicPr/>
          <p:nvPr/>
        </p:nvPicPr>
        <p:blipFill>
          <a:blip r:embed="rId4"/>
          <a:stretch/>
        </p:blipFill>
        <p:spPr>
          <a:xfrm>
            <a:off x="9360" y="6581880"/>
            <a:ext cx="12171960" cy="265680"/>
          </a:xfrm>
          <a:prstGeom prst="rect">
            <a:avLst/>
          </a:prstGeom>
          <a:ln w="0">
            <a:noFill/>
          </a:ln>
        </p:spPr>
      </p:pic>
      <p:sp>
        <p:nvSpPr>
          <p:cNvPr id="528" name="Google Shape;672;p54"/>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Phased Arrays (AESA)</a:t>
            </a:r>
            <a:endParaRPr b="0" lang="en-NZ" sz="2400" spc="-1" strike="noStrike">
              <a:latin typeface="Arial"/>
            </a:endParaRPr>
          </a:p>
        </p:txBody>
      </p:sp>
      <p:sp>
        <p:nvSpPr>
          <p:cNvPr id="529" name="Google Shape;673;p54"/>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530" name="Google Shape;674;p54" descr="image.png"/>
          <p:cNvPicPr/>
          <p:nvPr/>
        </p:nvPicPr>
        <p:blipFill>
          <a:blip r:embed="rId5"/>
          <a:stretch/>
        </p:blipFill>
        <p:spPr>
          <a:xfrm>
            <a:off x="590400" y="1874160"/>
            <a:ext cx="5304240" cy="4266000"/>
          </a:xfrm>
          <a:prstGeom prst="rect">
            <a:avLst/>
          </a:prstGeom>
          <a:ln w="0">
            <a:noFill/>
          </a:ln>
        </p:spPr>
      </p:pic>
      <p:sp>
        <p:nvSpPr>
          <p:cNvPr id="531" name="Google Shape;675;p54"/>
          <p:cNvSpPr/>
          <p:nvPr/>
        </p:nvSpPr>
        <p:spPr>
          <a:xfrm>
            <a:off x="6286680" y="327312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No Moving Parts</a:t>
            </a:r>
            <a:endParaRPr b="0" lang="en-NZ" sz="1410" spc="-1" strike="noStrike">
              <a:latin typeface="Arial"/>
            </a:endParaRPr>
          </a:p>
        </p:txBody>
      </p:sp>
      <p:sp>
        <p:nvSpPr>
          <p:cNvPr id="532" name="Google Shape;676;p54"/>
          <p:cNvSpPr/>
          <p:nvPr/>
        </p:nvSpPr>
        <p:spPr>
          <a:xfrm>
            <a:off x="6286680" y="3682440"/>
            <a:ext cx="532332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Active Electronically Scanned Arrays do not spin.</a:t>
            </a:r>
            <a:endParaRPr b="0" lang="en-NZ" sz="1500" spc="-1" strike="noStrike">
              <a:latin typeface="Arial"/>
            </a:endParaRPr>
          </a:p>
        </p:txBody>
      </p:sp>
      <p:sp>
        <p:nvSpPr>
          <p:cNvPr id="533" name="Google Shape;677;p54"/>
          <p:cNvSpPr/>
          <p:nvPr/>
        </p:nvSpPr>
        <p:spPr>
          <a:xfrm>
            <a:off x="6286680" y="415872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They rely on interference patterns from thousands of tiny modules to "steer" the beam electronically.</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4" name="Google Shape;682;p55" descr="image.png"/>
          <p:cNvPicPr/>
          <p:nvPr/>
        </p:nvPicPr>
        <p:blipFill>
          <a:blip r:embed="rId1"/>
          <a:stretch/>
        </p:blipFill>
        <p:spPr>
          <a:xfrm>
            <a:off x="0" y="0"/>
            <a:ext cx="12191040" cy="6856920"/>
          </a:xfrm>
          <a:prstGeom prst="rect">
            <a:avLst/>
          </a:prstGeom>
          <a:ln w="0">
            <a:noFill/>
          </a:ln>
        </p:spPr>
      </p:pic>
      <p:pic>
        <p:nvPicPr>
          <p:cNvPr id="535" name="Google Shape;683;p55" descr="image.png"/>
          <p:cNvPicPr/>
          <p:nvPr/>
        </p:nvPicPr>
        <p:blipFill>
          <a:blip r:embed="rId2"/>
          <a:stretch/>
        </p:blipFill>
        <p:spPr>
          <a:xfrm>
            <a:off x="581040" y="3132720"/>
            <a:ext cx="3548520" cy="1748880"/>
          </a:xfrm>
          <a:prstGeom prst="rect">
            <a:avLst/>
          </a:prstGeom>
          <a:ln w="0">
            <a:noFill/>
          </a:ln>
        </p:spPr>
      </p:pic>
      <p:pic>
        <p:nvPicPr>
          <p:cNvPr id="536" name="Google Shape;684;p55" descr="image.png"/>
          <p:cNvPicPr/>
          <p:nvPr/>
        </p:nvPicPr>
        <p:blipFill>
          <a:blip r:embed="rId3"/>
          <a:stretch/>
        </p:blipFill>
        <p:spPr>
          <a:xfrm>
            <a:off x="4321080" y="3132720"/>
            <a:ext cx="3548520" cy="1748880"/>
          </a:xfrm>
          <a:prstGeom prst="rect">
            <a:avLst/>
          </a:prstGeom>
          <a:ln w="0">
            <a:noFill/>
          </a:ln>
        </p:spPr>
      </p:pic>
      <p:pic>
        <p:nvPicPr>
          <p:cNvPr id="537" name="Google Shape;685;p55" descr="image.png"/>
          <p:cNvPicPr/>
          <p:nvPr/>
        </p:nvPicPr>
        <p:blipFill>
          <a:blip r:embed="rId4"/>
          <a:stretch/>
        </p:blipFill>
        <p:spPr>
          <a:xfrm>
            <a:off x="8061120" y="3132720"/>
            <a:ext cx="3548520" cy="1748880"/>
          </a:xfrm>
          <a:prstGeom prst="rect">
            <a:avLst/>
          </a:prstGeom>
          <a:ln w="0">
            <a:noFill/>
          </a:ln>
        </p:spPr>
      </p:pic>
      <p:pic>
        <p:nvPicPr>
          <p:cNvPr id="538" name="Google Shape;686;p55" descr="image.png"/>
          <p:cNvPicPr/>
          <p:nvPr/>
        </p:nvPicPr>
        <p:blipFill>
          <a:blip r:embed="rId5"/>
          <a:stretch/>
        </p:blipFill>
        <p:spPr>
          <a:xfrm>
            <a:off x="9360" y="9360"/>
            <a:ext cx="12171960" cy="265680"/>
          </a:xfrm>
          <a:prstGeom prst="rect">
            <a:avLst/>
          </a:prstGeom>
          <a:ln w="0">
            <a:noFill/>
          </a:ln>
        </p:spPr>
      </p:pic>
      <p:pic>
        <p:nvPicPr>
          <p:cNvPr id="539" name="Google Shape;687;p55" descr="image.png"/>
          <p:cNvPicPr/>
          <p:nvPr/>
        </p:nvPicPr>
        <p:blipFill>
          <a:blip r:embed="rId6"/>
          <a:stretch/>
        </p:blipFill>
        <p:spPr>
          <a:xfrm>
            <a:off x="9360" y="6581880"/>
            <a:ext cx="12171960" cy="265680"/>
          </a:xfrm>
          <a:prstGeom prst="rect">
            <a:avLst/>
          </a:prstGeom>
          <a:ln w="0">
            <a:noFill/>
          </a:ln>
        </p:spPr>
      </p:pic>
      <p:sp>
        <p:nvSpPr>
          <p:cNvPr id="540" name="Google Shape;688;p55"/>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AESA Advantages</a:t>
            </a:r>
            <a:endParaRPr b="0" lang="en-NZ" sz="2400" spc="-1" strike="noStrike">
              <a:latin typeface="Arial"/>
            </a:endParaRPr>
          </a:p>
        </p:txBody>
      </p:sp>
      <p:sp>
        <p:nvSpPr>
          <p:cNvPr id="541" name="Google Shape;689;p55"/>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542" name="Google Shape;690;p55"/>
          <p:cNvSpPr/>
          <p:nvPr/>
        </p:nvSpPr>
        <p:spPr>
          <a:xfrm>
            <a:off x="78120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Speed</a:t>
            </a:r>
            <a:endParaRPr b="0" lang="en-NZ" sz="1410" spc="-1" strike="noStrike">
              <a:latin typeface="Arial"/>
            </a:endParaRPr>
          </a:p>
        </p:txBody>
      </p:sp>
      <p:sp>
        <p:nvSpPr>
          <p:cNvPr id="543" name="Google Shape;691;p55"/>
          <p:cNvSpPr/>
          <p:nvPr/>
        </p:nvSpPr>
        <p:spPr>
          <a:xfrm>
            <a:off x="78120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Can scan the entire sky in milliseconds.</a:t>
            </a:r>
            <a:endParaRPr b="0" lang="en-NZ" sz="1500" spc="-1" strike="noStrike">
              <a:latin typeface="Arial"/>
            </a:endParaRPr>
          </a:p>
        </p:txBody>
      </p:sp>
      <p:sp>
        <p:nvSpPr>
          <p:cNvPr id="544" name="Google Shape;692;p55"/>
          <p:cNvSpPr/>
          <p:nvPr/>
        </p:nvSpPr>
        <p:spPr>
          <a:xfrm>
            <a:off x="452124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Multi-Tasking</a:t>
            </a:r>
            <a:endParaRPr b="0" lang="en-NZ" sz="1410" spc="-1" strike="noStrike">
              <a:latin typeface="Arial"/>
            </a:endParaRPr>
          </a:p>
        </p:txBody>
      </p:sp>
      <p:sp>
        <p:nvSpPr>
          <p:cNvPr id="545" name="Google Shape;693;p55"/>
          <p:cNvSpPr/>
          <p:nvPr/>
        </p:nvSpPr>
        <p:spPr>
          <a:xfrm>
            <a:off x="452124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Can track a target and scan for new ones simultaneously.</a:t>
            </a:r>
            <a:endParaRPr b="0" lang="en-NZ" sz="1500" spc="-1" strike="noStrike">
              <a:latin typeface="Arial"/>
            </a:endParaRPr>
          </a:p>
        </p:txBody>
      </p:sp>
      <p:sp>
        <p:nvSpPr>
          <p:cNvPr id="546" name="Google Shape;694;p55"/>
          <p:cNvSpPr/>
          <p:nvPr/>
        </p:nvSpPr>
        <p:spPr>
          <a:xfrm>
            <a:off x="8261280" y="351108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Reliability</a:t>
            </a:r>
            <a:endParaRPr b="0" lang="en-NZ" sz="1410" spc="-1" strike="noStrike">
              <a:latin typeface="Arial"/>
            </a:endParaRPr>
          </a:p>
        </p:txBody>
      </p:sp>
      <p:sp>
        <p:nvSpPr>
          <p:cNvPr id="547" name="Google Shape;695;p55"/>
          <p:cNvSpPr/>
          <p:nvPr/>
        </p:nvSpPr>
        <p:spPr>
          <a:xfrm>
            <a:off x="8261280" y="392076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If 10% of modules fail, the radar still works perfectly.</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8" name="Google Shape;700;p56" descr="image.png"/>
          <p:cNvPicPr/>
          <p:nvPr/>
        </p:nvPicPr>
        <p:blipFill>
          <a:blip r:embed="rId1"/>
          <a:stretch/>
        </p:blipFill>
        <p:spPr>
          <a:xfrm>
            <a:off x="0" y="0"/>
            <a:ext cx="12191040" cy="6856920"/>
          </a:xfrm>
          <a:prstGeom prst="rect">
            <a:avLst/>
          </a:prstGeom>
          <a:ln w="0">
            <a:noFill/>
          </a:ln>
        </p:spPr>
      </p:pic>
      <p:pic>
        <p:nvPicPr>
          <p:cNvPr id="549" name="Google Shape;701;p56" descr="image.png"/>
          <p:cNvPicPr/>
          <p:nvPr/>
        </p:nvPicPr>
        <p:blipFill>
          <a:blip r:embed="rId2"/>
          <a:stretch/>
        </p:blipFill>
        <p:spPr>
          <a:xfrm>
            <a:off x="6286680" y="1864800"/>
            <a:ext cx="5323320" cy="4285080"/>
          </a:xfrm>
          <a:prstGeom prst="rect">
            <a:avLst/>
          </a:prstGeom>
          <a:ln w="0">
            <a:noFill/>
          </a:ln>
        </p:spPr>
      </p:pic>
      <p:pic>
        <p:nvPicPr>
          <p:cNvPr id="550" name="Google Shape;702;p56" descr="image.png"/>
          <p:cNvPicPr/>
          <p:nvPr/>
        </p:nvPicPr>
        <p:blipFill>
          <a:blip r:embed="rId3"/>
          <a:stretch/>
        </p:blipFill>
        <p:spPr>
          <a:xfrm>
            <a:off x="9360" y="9360"/>
            <a:ext cx="12171960" cy="265680"/>
          </a:xfrm>
          <a:prstGeom prst="rect">
            <a:avLst/>
          </a:prstGeom>
          <a:ln w="0">
            <a:noFill/>
          </a:ln>
        </p:spPr>
      </p:pic>
      <p:pic>
        <p:nvPicPr>
          <p:cNvPr id="551" name="Google Shape;703;p56" descr="image.png"/>
          <p:cNvPicPr/>
          <p:nvPr/>
        </p:nvPicPr>
        <p:blipFill>
          <a:blip r:embed="rId4"/>
          <a:stretch/>
        </p:blipFill>
        <p:spPr>
          <a:xfrm>
            <a:off x="9360" y="6581880"/>
            <a:ext cx="12171960" cy="265680"/>
          </a:xfrm>
          <a:prstGeom prst="rect">
            <a:avLst/>
          </a:prstGeom>
          <a:ln w="0">
            <a:noFill/>
          </a:ln>
        </p:spPr>
      </p:pic>
      <p:sp>
        <p:nvSpPr>
          <p:cNvPr id="552" name="Google Shape;704;p56"/>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Synthetic Aperture Radar (SAR)</a:t>
            </a:r>
            <a:endParaRPr b="0" lang="en-NZ" sz="2400" spc="-1" strike="noStrike">
              <a:latin typeface="Arial"/>
            </a:endParaRPr>
          </a:p>
        </p:txBody>
      </p:sp>
      <p:sp>
        <p:nvSpPr>
          <p:cNvPr id="553" name="Google Shape;705;p56"/>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554" name="Google Shape;706;p56"/>
          <p:cNvSpPr/>
          <p:nvPr/>
        </p:nvSpPr>
        <p:spPr>
          <a:xfrm>
            <a:off x="581040" y="298728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Radar Photography</a:t>
            </a:r>
            <a:endParaRPr b="0" lang="en-NZ" sz="1410" spc="-1" strike="noStrike">
              <a:latin typeface="Arial"/>
            </a:endParaRPr>
          </a:p>
        </p:txBody>
      </p:sp>
      <p:sp>
        <p:nvSpPr>
          <p:cNvPr id="555" name="Google Shape;707;p56"/>
          <p:cNvSpPr/>
          <p:nvPr/>
        </p:nvSpPr>
        <p:spPr>
          <a:xfrm>
            <a:off x="581040" y="339696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By using the motion of the aircraft to simulate a huge antenna, SAR builds up photo-quality images of the ground.</a:t>
            </a:r>
            <a:endParaRPr b="0" lang="en-NZ" sz="1500" spc="-1" strike="noStrike">
              <a:latin typeface="Arial"/>
            </a:endParaRPr>
          </a:p>
        </p:txBody>
      </p:sp>
      <p:sp>
        <p:nvSpPr>
          <p:cNvPr id="556" name="Google Shape;708;p56"/>
          <p:cNvSpPr/>
          <p:nvPr/>
        </p:nvSpPr>
        <p:spPr>
          <a:xfrm>
            <a:off x="581040" y="444456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Unlike optical cameras, SAR sees through clouds, smoke, and darkness.</a:t>
            </a:r>
            <a:endParaRPr b="0" lang="en-NZ" sz="1500" spc="-1" strike="noStrike">
              <a:latin typeface="Arial"/>
            </a:endParaRPr>
          </a:p>
        </p:txBody>
      </p:sp>
      <p:pic>
        <p:nvPicPr>
          <p:cNvPr id="557" name="Google Shape;709;p56"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8" name="Google Shape;714;p57" descr="image.png"/>
          <p:cNvPicPr/>
          <p:nvPr/>
        </p:nvPicPr>
        <p:blipFill>
          <a:blip r:embed="rId1"/>
          <a:stretch/>
        </p:blipFill>
        <p:spPr>
          <a:xfrm>
            <a:off x="0" y="0"/>
            <a:ext cx="12191040" cy="6856920"/>
          </a:xfrm>
          <a:prstGeom prst="rect">
            <a:avLst/>
          </a:prstGeom>
          <a:ln w="0">
            <a:noFill/>
          </a:ln>
        </p:spPr>
      </p:pic>
      <p:pic>
        <p:nvPicPr>
          <p:cNvPr id="559" name="Google Shape;715;p57" descr="image.png"/>
          <p:cNvPicPr/>
          <p:nvPr/>
        </p:nvPicPr>
        <p:blipFill>
          <a:blip r:embed="rId2"/>
          <a:stretch/>
        </p:blipFill>
        <p:spPr>
          <a:xfrm>
            <a:off x="581040" y="1864800"/>
            <a:ext cx="5323320" cy="4285080"/>
          </a:xfrm>
          <a:prstGeom prst="rect">
            <a:avLst/>
          </a:prstGeom>
          <a:ln w="0">
            <a:noFill/>
          </a:ln>
        </p:spPr>
      </p:pic>
      <p:pic>
        <p:nvPicPr>
          <p:cNvPr id="560" name="Google Shape;716;p57" descr="image.png"/>
          <p:cNvPicPr/>
          <p:nvPr/>
        </p:nvPicPr>
        <p:blipFill>
          <a:blip r:embed="rId3"/>
          <a:stretch/>
        </p:blipFill>
        <p:spPr>
          <a:xfrm>
            <a:off x="9360" y="9360"/>
            <a:ext cx="12171960" cy="265680"/>
          </a:xfrm>
          <a:prstGeom prst="rect">
            <a:avLst/>
          </a:prstGeom>
          <a:ln w="0">
            <a:noFill/>
          </a:ln>
        </p:spPr>
      </p:pic>
      <p:pic>
        <p:nvPicPr>
          <p:cNvPr id="561" name="Google Shape;717;p57" descr="image.png"/>
          <p:cNvPicPr/>
          <p:nvPr/>
        </p:nvPicPr>
        <p:blipFill>
          <a:blip r:embed="rId4"/>
          <a:stretch/>
        </p:blipFill>
        <p:spPr>
          <a:xfrm>
            <a:off x="9360" y="6581880"/>
            <a:ext cx="12171960" cy="265680"/>
          </a:xfrm>
          <a:prstGeom prst="rect">
            <a:avLst/>
          </a:prstGeom>
          <a:ln w="0">
            <a:noFill/>
          </a:ln>
        </p:spPr>
      </p:pic>
      <p:sp>
        <p:nvSpPr>
          <p:cNvPr id="562" name="Google Shape;718;p57"/>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Stealth Technology</a:t>
            </a:r>
            <a:endParaRPr b="0" lang="en-NZ" sz="2400" spc="-1" strike="noStrike">
              <a:latin typeface="Arial"/>
            </a:endParaRPr>
          </a:p>
        </p:txBody>
      </p:sp>
      <p:sp>
        <p:nvSpPr>
          <p:cNvPr id="563" name="Google Shape;719;p57"/>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564" name="Google Shape;720;p57" descr="image.png"/>
          <p:cNvPicPr/>
          <p:nvPr/>
        </p:nvPicPr>
        <p:blipFill>
          <a:blip r:embed="rId5"/>
          <a:stretch/>
        </p:blipFill>
        <p:spPr>
          <a:xfrm>
            <a:off x="590400" y="1874160"/>
            <a:ext cx="5304240" cy="4266000"/>
          </a:xfrm>
          <a:prstGeom prst="rect">
            <a:avLst/>
          </a:prstGeom>
          <a:ln w="0">
            <a:noFill/>
          </a:ln>
        </p:spPr>
      </p:pic>
      <p:sp>
        <p:nvSpPr>
          <p:cNvPr id="565" name="Google Shape;721;p57"/>
          <p:cNvSpPr/>
          <p:nvPr/>
        </p:nvSpPr>
        <p:spPr>
          <a:xfrm>
            <a:off x="6286680" y="320292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Defeating Radar</a:t>
            </a:r>
            <a:endParaRPr b="0" lang="en-NZ" sz="1410" spc="-1" strike="noStrike">
              <a:latin typeface="Arial"/>
            </a:endParaRPr>
          </a:p>
        </p:txBody>
      </p:sp>
      <p:sp>
        <p:nvSpPr>
          <p:cNvPr id="566" name="Google Shape;722;p57"/>
          <p:cNvSpPr/>
          <p:nvPr/>
        </p:nvSpPr>
        <p:spPr>
          <a:xfrm>
            <a:off x="6477120" y="3600360"/>
            <a:ext cx="513288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Geometry:</a:t>
            </a:r>
            <a:r>
              <a:rPr b="0" lang="en-US" sz="1500" spc="-1" strike="noStrike">
                <a:solidFill>
                  <a:srgbClr val="cbd5e1"/>
                </a:solidFill>
                <a:latin typeface="Inter"/>
                <a:ea typeface="Inter"/>
              </a:rPr>
              <a:t> Flat, angled surfaces deflect the beam </a:t>
            </a:r>
            <a:r>
              <a:rPr b="0" i="1" lang="en-US" sz="1500" spc="-1" strike="noStrike">
                <a:solidFill>
                  <a:srgbClr val="cbd5e1"/>
                </a:solidFill>
                <a:latin typeface="Inter"/>
                <a:ea typeface="Inter"/>
              </a:rPr>
              <a:t>away</a:t>
            </a:r>
            <a:r>
              <a:rPr b="0" lang="en-US" sz="1500" spc="-1" strike="noStrike">
                <a:solidFill>
                  <a:srgbClr val="cbd5e1"/>
                </a:solidFill>
                <a:latin typeface="Inter"/>
                <a:ea typeface="Inter"/>
              </a:rPr>
              <a:t> from the receiver.</a:t>
            </a:r>
            <a:endParaRPr b="0" lang="en-NZ" sz="1500" spc="-1" strike="noStrike">
              <a:latin typeface="Arial"/>
            </a:endParaRPr>
          </a:p>
        </p:txBody>
      </p:sp>
      <p:sp>
        <p:nvSpPr>
          <p:cNvPr id="567" name="Google Shape;723;p57"/>
          <p:cNvSpPr/>
          <p:nvPr/>
        </p:nvSpPr>
        <p:spPr>
          <a:xfrm>
            <a:off x="6477120" y="4267080"/>
            <a:ext cx="513288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RAM:</a:t>
            </a:r>
            <a:r>
              <a:rPr b="0" lang="en-US" sz="1500" spc="-1" strike="noStrike">
                <a:solidFill>
                  <a:srgbClr val="cbd5e1"/>
                </a:solidFill>
                <a:latin typeface="Inter"/>
                <a:ea typeface="Inter"/>
              </a:rPr>
              <a:t> Radar Absorbent Material traps the energy as heat.</a:t>
            </a:r>
            <a:endParaRPr b="0" lang="en-NZ" sz="1500" spc="-1" strike="noStrike">
              <a:latin typeface="Arial"/>
            </a:endParaRPr>
          </a:p>
        </p:txBody>
      </p:sp>
      <p:sp>
        <p:nvSpPr>
          <p:cNvPr id="568" name="Google Shape;724;p57"/>
          <p:cNvSpPr/>
          <p:nvPr/>
        </p:nvSpPr>
        <p:spPr>
          <a:xfrm>
            <a:off x="6286680" y="360036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
        <p:nvSpPr>
          <p:cNvPr id="569" name="Google Shape;725;p57"/>
          <p:cNvSpPr/>
          <p:nvPr/>
        </p:nvSpPr>
        <p:spPr>
          <a:xfrm>
            <a:off x="6286680" y="426708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0" name="Google Shape;730;p58" descr="image.png"/>
          <p:cNvPicPr/>
          <p:nvPr/>
        </p:nvPicPr>
        <p:blipFill>
          <a:blip r:embed="rId1"/>
          <a:stretch/>
        </p:blipFill>
        <p:spPr>
          <a:xfrm>
            <a:off x="0" y="0"/>
            <a:ext cx="12191040" cy="6856920"/>
          </a:xfrm>
          <a:prstGeom prst="rect">
            <a:avLst/>
          </a:prstGeom>
          <a:ln w="0">
            <a:noFill/>
          </a:ln>
        </p:spPr>
      </p:pic>
      <p:pic>
        <p:nvPicPr>
          <p:cNvPr id="571" name="Google Shape;731;p58" descr="image.png"/>
          <p:cNvPicPr/>
          <p:nvPr/>
        </p:nvPicPr>
        <p:blipFill>
          <a:blip r:embed="rId2"/>
          <a:stretch/>
        </p:blipFill>
        <p:spPr>
          <a:xfrm>
            <a:off x="581040" y="2824560"/>
            <a:ext cx="11028960" cy="2365200"/>
          </a:xfrm>
          <a:prstGeom prst="rect">
            <a:avLst/>
          </a:prstGeom>
          <a:ln w="0">
            <a:noFill/>
          </a:ln>
        </p:spPr>
      </p:pic>
      <p:pic>
        <p:nvPicPr>
          <p:cNvPr id="572" name="Google Shape;732;p58" descr="image.png"/>
          <p:cNvPicPr/>
          <p:nvPr/>
        </p:nvPicPr>
        <p:blipFill>
          <a:blip r:embed="rId3"/>
          <a:stretch/>
        </p:blipFill>
        <p:spPr>
          <a:xfrm>
            <a:off x="9360" y="9360"/>
            <a:ext cx="12171960" cy="265680"/>
          </a:xfrm>
          <a:prstGeom prst="rect">
            <a:avLst/>
          </a:prstGeom>
          <a:ln w="0">
            <a:noFill/>
          </a:ln>
        </p:spPr>
      </p:pic>
      <p:pic>
        <p:nvPicPr>
          <p:cNvPr id="573" name="Google Shape;733;p58" descr="image.png"/>
          <p:cNvPicPr/>
          <p:nvPr/>
        </p:nvPicPr>
        <p:blipFill>
          <a:blip r:embed="rId4"/>
          <a:stretch/>
        </p:blipFill>
        <p:spPr>
          <a:xfrm>
            <a:off x="9360" y="6581880"/>
            <a:ext cx="12171960" cy="265680"/>
          </a:xfrm>
          <a:prstGeom prst="rect">
            <a:avLst/>
          </a:prstGeom>
          <a:ln w="0">
            <a:noFill/>
          </a:ln>
        </p:spPr>
      </p:pic>
      <p:sp>
        <p:nvSpPr>
          <p:cNvPr id="574" name="Google Shape;734;p58"/>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Counter-Stealth</a:t>
            </a:r>
            <a:endParaRPr b="0" lang="en-NZ" sz="2400" spc="-1" strike="noStrike">
              <a:latin typeface="Arial"/>
            </a:endParaRPr>
          </a:p>
        </p:txBody>
      </p:sp>
      <p:sp>
        <p:nvSpPr>
          <p:cNvPr id="575" name="Google Shape;735;p58"/>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576" name="Google Shape;736;p58"/>
          <p:cNvSpPr/>
          <p:nvPr/>
        </p:nvSpPr>
        <p:spPr>
          <a:xfrm>
            <a:off x="781200" y="3202920"/>
            <a:ext cx="1116036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Can Radar See Stealth?</a:t>
            </a:r>
            <a:endParaRPr b="0" lang="en-NZ" sz="1410" spc="-1" strike="noStrike">
              <a:latin typeface="Arial"/>
            </a:endParaRPr>
          </a:p>
        </p:txBody>
      </p:sp>
      <p:sp>
        <p:nvSpPr>
          <p:cNvPr id="577" name="Google Shape;737;p58"/>
          <p:cNvSpPr/>
          <p:nvPr/>
        </p:nvSpPr>
        <p:spPr>
          <a:xfrm>
            <a:off x="971640" y="3600360"/>
            <a:ext cx="104382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VHF Radar:</a:t>
            </a:r>
            <a:r>
              <a:rPr b="0" lang="en-US" sz="1500" spc="-1" strike="noStrike">
                <a:solidFill>
                  <a:srgbClr val="cbd5e1"/>
                </a:solidFill>
                <a:latin typeface="Inter"/>
                <a:ea typeface="Inter"/>
              </a:rPr>
              <a:t> Low frequency (long wavelength) radar can detect stealth aircraft due to resonance, but lacks accuracy to target them.</a:t>
            </a:r>
            <a:endParaRPr b="0" lang="en-NZ" sz="1500" spc="-1" strike="noStrike">
              <a:latin typeface="Arial"/>
            </a:endParaRPr>
          </a:p>
        </p:txBody>
      </p:sp>
      <p:sp>
        <p:nvSpPr>
          <p:cNvPr id="578" name="Google Shape;738;p58"/>
          <p:cNvSpPr/>
          <p:nvPr/>
        </p:nvSpPr>
        <p:spPr>
          <a:xfrm>
            <a:off x="971640" y="4267080"/>
            <a:ext cx="1043820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Bistatic Radar:</a:t>
            </a:r>
            <a:r>
              <a:rPr b="0" lang="en-US" sz="1500" spc="-1" strike="noStrike">
                <a:solidFill>
                  <a:srgbClr val="cbd5e1"/>
                </a:solidFill>
                <a:latin typeface="Inter"/>
                <a:ea typeface="Inter"/>
              </a:rPr>
              <a:t> Since stealth deflects energy away, a receiver placed far from the transmitter might catch the deflection.</a:t>
            </a:r>
            <a:endParaRPr b="0" lang="en-NZ" sz="1500" spc="-1" strike="noStrike">
              <a:latin typeface="Arial"/>
            </a:endParaRPr>
          </a:p>
        </p:txBody>
      </p:sp>
      <p:sp>
        <p:nvSpPr>
          <p:cNvPr id="579" name="Google Shape;739;p58"/>
          <p:cNvSpPr/>
          <p:nvPr/>
        </p:nvSpPr>
        <p:spPr>
          <a:xfrm>
            <a:off x="781200" y="360036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
        <p:nvSpPr>
          <p:cNvPr id="580" name="Google Shape;740;p58"/>
          <p:cNvSpPr/>
          <p:nvPr/>
        </p:nvSpPr>
        <p:spPr>
          <a:xfrm>
            <a:off x="781200" y="4267080"/>
            <a:ext cx="11340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38bdf8"/>
                </a:solidFill>
                <a:latin typeface="JetBrains Mono"/>
                <a:ea typeface="JetBrains Mono"/>
              </a:rPr>
              <a:t>&gt;</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1" name="Google Shape;745;p59" descr="image.png"/>
          <p:cNvPicPr/>
          <p:nvPr/>
        </p:nvPicPr>
        <p:blipFill>
          <a:blip r:embed="rId1"/>
          <a:stretch/>
        </p:blipFill>
        <p:spPr>
          <a:xfrm>
            <a:off x="0" y="0"/>
            <a:ext cx="12191040" cy="6856920"/>
          </a:xfrm>
          <a:prstGeom prst="rect">
            <a:avLst/>
          </a:prstGeom>
          <a:ln w="0">
            <a:noFill/>
          </a:ln>
        </p:spPr>
      </p:pic>
      <p:pic>
        <p:nvPicPr>
          <p:cNvPr id="582" name="Google Shape;746;p59" descr="image.png"/>
          <p:cNvPicPr/>
          <p:nvPr/>
        </p:nvPicPr>
        <p:blipFill>
          <a:blip r:embed="rId2"/>
          <a:stretch/>
        </p:blipFill>
        <p:spPr>
          <a:xfrm>
            <a:off x="6286680" y="1864800"/>
            <a:ext cx="5323320" cy="4285080"/>
          </a:xfrm>
          <a:prstGeom prst="rect">
            <a:avLst/>
          </a:prstGeom>
          <a:ln w="0">
            <a:noFill/>
          </a:ln>
        </p:spPr>
      </p:pic>
      <p:pic>
        <p:nvPicPr>
          <p:cNvPr id="583" name="Google Shape;747;p59" descr="image.png"/>
          <p:cNvPicPr/>
          <p:nvPr/>
        </p:nvPicPr>
        <p:blipFill>
          <a:blip r:embed="rId3"/>
          <a:stretch/>
        </p:blipFill>
        <p:spPr>
          <a:xfrm>
            <a:off x="9360" y="9360"/>
            <a:ext cx="12171960" cy="265680"/>
          </a:xfrm>
          <a:prstGeom prst="rect">
            <a:avLst/>
          </a:prstGeom>
          <a:ln w="0">
            <a:noFill/>
          </a:ln>
        </p:spPr>
      </p:pic>
      <p:pic>
        <p:nvPicPr>
          <p:cNvPr id="584" name="Google Shape;748;p59" descr="image.png"/>
          <p:cNvPicPr/>
          <p:nvPr/>
        </p:nvPicPr>
        <p:blipFill>
          <a:blip r:embed="rId4"/>
          <a:stretch/>
        </p:blipFill>
        <p:spPr>
          <a:xfrm>
            <a:off x="9360" y="6581880"/>
            <a:ext cx="12171960" cy="265680"/>
          </a:xfrm>
          <a:prstGeom prst="rect">
            <a:avLst/>
          </a:prstGeom>
          <a:ln w="0">
            <a:noFill/>
          </a:ln>
        </p:spPr>
      </p:pic>
      <p:sp>
        <p:nvSpPr>
          <p:cNvPr id="585" name="Google Shape;749;p59"/>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Weather Radar (NEXRAD)</a:t>
            </a:r>
            <a:endParaRPr b="0" lang="en-NZ" sz="2400" spc="-1" strike="noStrike">
              <a:latin typeface="Arial"/>
            </a:endParaRPr>
          </a:p>
        </p:txBody>
      </p:sp>
      <p:sp>
        <p:nvSpPr>
          <p:cNvPr id="586" name="Google Shape;750;p59"/>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587" name="Google Shape;751;p59"/>
          <p:cNvSpPr/>
          <p:nvPr/>
        </p:nvSpPr>
        <p:spPr>
          <a:xfrm>
            <a:off x="58104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Seeing the Rain</a:t>
            </a:r>
            <a:endParaRPr b="0" lang="en-NZ" sz="1410" spc="-1" strike="noStrike">
              <a:latin typeface="Arial"/>
            </a:endParaRPr>
          </a:p>
        </p:txBody>
      </p:sp>
      <p:sp>
        <p:nvSpPr>
          <p:cNvPr id="588" name="Google Shape;752;p59"/>
          <p:cNvSpPr/>
          <p:nvPr/>
        </p:nvSpPr>
        <p:spPr>
          <a:xfrm>
            <a:off x="581040" y="353988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Weather radar detects water droplets. It uses Doppler to measure wind speed inside storms.</a:t>
            </a:r>
            <a:endParaRPr b="0" lang="en-NZ" sz="1500" spc="-1" strike="noStrike">
              <a:latin typeface="Arial"/>
            </a:endParaRPr>
          </a:p>
        </p:txBody>
      </p:sp>
      <p:sp>
        <p:nvSpPr>
          <p:cNvPr id="589" name="Google Shape;753;p59"/>
          <p:cNvSpPr/>
          <p:nvPr/>
        </p:nvSpPr>
        <p:spPr>
          <a:xfrm>
            <a:off x="581040" y="430164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1" lang="en-US" sz="1500" spc="-1" strike="noStrike">
                <a:solidFill>
                  <a:srgbClr val="cbd5e1"/>
                </a:solidFill>
                <a:latin typeface="Inter"/>
                <a:ea typeface="Inter"/>
              </a:rPr>
              <a:t>The Hook Echo:</a:t>
            </a:r>
            <a:r>
              <a:rPr b="0" lang="en-US" sz="1500" spc="-1" strike="noStrike">
                <a:solidFill>
                  <a:srgbClr val="cbd5e1"/>
                </a:solidFill>
                <a:latin typeface="Inter"/>
                <a:ea typeface="Inter"/>
              </a:rPr>
              <a:t> A specific shape on the screen that indicates the rotation of a potential tornado.</a:t>
            </a:r>
            <a:endParaRPr b="0" lang="en-NZ" sz="1500" spc="-1" strike="noStrike">
              <a:latin typeface="Arial"/>
            </a:endParaRPr>
          </a:p>
        </p:txBody>
      </p:sp>
      <p:pic>
        <p:nvPicPr>
          <p:cNvPr id="590" name="Google Shape;754;p59"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1" name="Google Shape;759;p60" descr="image.png"/>
          <p:cNvPicPr/>
          <p:nvPr/>
        </p:nvPicPr>
        <p:blipFill>
          <a:blip r:embed="rId1"/>
          <a:stretch/>
        </p:blipFill>
        <p:spPr>
          <a:xfrm>
            <a:off x="0" y="0"/>
            <a:ext cx="12191040" cy="6856920"/>
          </a:xfrm>
          <a:prstGeom prst="rect">
            <a:avLst/>
          </a:prstGeom>
          <a:ln w="0">
            <a:noFill/>
          </a:ln>
        </p:spPr>
      </p:pic>
      <p:pic>
        <p:nvPicPr>
          <p:cNvPr id="592" name="Google Shape;760;p60" descr="image.png"/>
          <p:cNvPicPr/>
          <p:nvPr/>
        </p:nvPicPr>
        <p:blipFill>
          <a:blip r:embed="rId2"/>
          <a:stretch/>
        </p:blipFill>
        <p:spPr>
          <a:xfrm>
            <a:off x="581040" y="1864800"/>
            <a:ext cx="5323320" cy="4285080"/>
          </a:xfrm>
          <a:prstGeom prst="rect">
            <a:avLst/>
          </a:prstGeom>
          <a:ln w="0">
            <a:noFill/>
          </a:ln>
        </p:spPr>
      </p:pic>
      <p:pic>
        <p:nvPicPr>
          <p:cNvPr id="593" name="Google Shape;761;p60" descr="image.png"/>
          <p:cNvPicPr/>
          <p:nvPr/>
        </p:nvPicPr>
        <p:blipFill>
          <a:blip r:embed="rId3"/>
          <a:stretch/>
        </p:blipFill>
        <p:spPr>
          <a:xfrm>
            <a:off x="9360" y="9360"/>
            <a:ext cx="12171960" cy="265680"/>
          </a:xfrm>
          <a:prstGeom prst="rect">
            <a:avLst/>
          </a:prstGeom>
          <a:ln w="0">
            <a:noFill/>
          </a:ln>
        </p:spPr>
      </p:pic>
      <p:pic>
        <p:nvPicPr>
          <p:cNvPr id="594" name="Google Shape;762;p60" descr="image.png"/>
          <p:cNvPicPr/>
          <p:nvPr/>
        </p:nvPicPr>
        <p:blipFill>
          <a:blip r:embed="rId4"/>
          <a:stretch/>
        </p:blipFill>
        <p:spPr>
          <a:xfrm>
            <a:off x="9360" y="6581880"/>
            <a:ext cx="12171960" cy="265680"/>
          </a:xfrm>
          <a:prstGeom prst="rect">
            <a:avLst/>
          </a:prstGeom>
          <a:ln w="0">
            <a:noFill/>
          </a:ln>
        </p:spPr>
      </p:pic>
      <p:sp>
        <p:nvSpPr>
          <p:cNvPr id="595" name="Google Shape;763;p60"/>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Automotive Radar</a:t>
            </a:r>
            <a:endParaRPr b="0" lang="en-NZ" sz="2400" spc="-1" strike="noStrike">
              <a:latin typeface="Arial"/>
            </a:endParaRPr>
          </a:p>
        </p:txBody>
      </p:sp>
      <p:sp>
        <p:nvSpPr>
          <p:cNvPr id="596" name="Google Shape;764;p60"/>
          <p:cNvSpPr/>
          <p:nvPr/>
        </p:nvSpPr>
        <p:spPr>
          <a:xfrm>
            <a:off x="581040" y="1433880"/>
            <a:ext cx="11028960" cy="18000"/>
          </a:xfrm>
          <a:prstGeom prst="rect">
            <a:avLst/>
          </a:prstGeom>
          <a:solidFill>
            <a:srgbClr val="1e293b"/>
          </a:solidFill>
          <a:ln w="0">
            <a:noFill/>
          </a:ln>
        </p:spPr>
        <p:style>
          <a:lnRef idx="0"/>
          <a:fillRef idx="0"/>
          <a:effectRef idx="0"/>
          <a:fontRef idx="minor"/>
        </p:style>
      </p:sp>
      <p:pic>
        <p:nvPicPr>
          <p:cNvPr id="597" name="Google Shape;765;p60" descr="image.png"/>
          <p:cNvPicPr/>
          <p:nvPr/>
        </p:nvPicPr>
        <p:blipFill>
          <a:blip r:embed="rId5"/>
          <a:stretch/>
        </p:blipFill>
        <p:spPr>
          <a:xfrm>
            <a:off x="590400" y="1874160"/>
            <a:ext cx="5304240" cy="4266000"/>
          </a:xfrm>
          <a:prstGeom prst="rect">
            <a:avLst/>
          </a:prstGeom>
          <a:ln w="0">
            <a:noFill/>
          </a:ln>
        </p:spPr>
      </p:pic>
      <p:sp>
        <p:nvSpPr>
          <p:cNvPr id="598" name="Google Shape;766;p60"/>
          <p:cNvSpPr/>
          <p:nvPr/>
        </p:nvSpPr>
        <p:spPr>
          <a:xfrm>
            <a:off x="6286680" y="313020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Safety Sensors</a:t>
            </a:r>
            <a:endParaRPr b="0" lang="en-NZ" sz="1410" spc="-1" strike="noStrike">
              <a:latin typeface="Arial"/>
            </a:endParaRPr>
          </a:p>
        </p:txBody>
      </p:sp>
      <p:sp>
        <p:nvSpPr>
          <p:cNvPr id="599" name="Google Shape;767;p60"/>
          <p:cNvSpPr/>
          <p:nvPr/>
        </p:nvSpPr>
        <p:spPr>
          <a:xfrm>
            <a:off x="6286680" y="353988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Used for Adaptive Cruise Control and Emergency Braking.</a:t>
            </a:r>
            <a:endParaRPr b="0" lang="en-NZ" sz="1500" spc="-1" strike="noStrike">
              <a:latin typeface="Arial"/>
            </a:endParaRPr>
          </a:p>
        </p:txBody>
      </p:sp>
      <p:sp>
        <p:nvSpPr>
          <p:cNvPr id="600" name="Google Shape;768;p60"/>
          <p:cNvSpPr/>
          <p:nvPr/>
        </p:nvSpPr>
        <p:spPr>
          <a:xfrm>
            <a:off x="6286680" y="4015800"/>
            <a:ext cx="5323320" cy="102672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Uses </a:t>
            </a:r>
            <a:r>
              <a:rPr b="1" lang="en-US" sz="1500" spc="-1" strike="noStrike">
                <a:solidFill>
                  <a:srgbClr val="cbd5e1"/>
                </a:solidFill>
                <a:latin typeface="Inter"/>
                <a:ea typeface="Inter"/>
              </a:rPr>
              <a:t>FMCW</a:t>
            </a:r>
            <a:r>
              <a:rPr b="0" lang="en-US" sz="1500" spc="-1" strike="noStrike">
                <a:solidFill>
                  <a:srgbClr val="cbd5e1"/>
                </a:solidFill>
                <a:latin typeface="Inter"/>
                <a:ea typeface="Inter"/>
              </a:rPr>
              <a:t> (Frequency Modulated Continuous Wave) rather than pulses, allowing for very short-range detection.</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1" name="Google Shape;773;p61" descr="image.png"/>
          <p:cNvPicPr/>
          <p:nvPr/>
        </p:nvPicPr>
        <p:blipFill>
          <a:blip r:embed="rId1"/>
          <a:stretch/>
        </p:blipFill>
        <p:spPr>
          <a:xfrm>
            <a:off x="0" y="0"/>
            <a:ext cx="12191040" cy="6856920"/>
          </a:xfrm>
          <a:prstGeom prst="rect">
            <a:avLst/>
          </a:prstGeom>
          <a:ln w="0">
            <a:noFill/>
          </a:ln>
        </p:spPr>
      </p:pic>
      <p:pic>
        <p:nvPicPr>
          <p:cNvPr id="602" name="Google Shape;774;p61" descr="image.png"/>
          <p:cNvPicPr/>
          <p:nvPr/>
        </p:nvPicPr>
        <p:blipFill>
          <a:blip r:embed="rId2"/>
          <a:stretch/>
        </p:blipFill>
        <p:spPr>
          <a:xfrm>
            <a:off x="6286680" y="1864800"/>
            <a:ext cx="5323320" cy="4285080"/>
          </a:xfrm>
          <a:prstGeom prst="rect">
            <a:avLst/>
          </a:prstGeom>
          <a:ln w="0">
            <a:noFill/>
          </a:ln>
        </p:spPr>
      </p:pic>
      <p:pic>
        <p:nvPicPr>
          <p:cNvPr id="603" name="Google Shape;775;p61" descr="image.png"/>
          <p:cNvPicPr/>
          <p:nvPr/>
        </p:nvPicPr>
        <p:blipFill>
          <a:blip r:embed="rId3"/>
          <a:stretch/>
        </p:blipFill>
        <p:spPr>
          <a:xfrm>
            <a:off x="9360" y="9360"/>
            <a:ext cx="12171960" cy="265680"/>
          </a:xfrm>
          <a:prstGeom prst="rect">
            <a:avLst/>
          </a:prstGeom>
          <a:ln w="0">
            <a:noFill/>
          </a:ln>
        </p:spPr>
      </p:pic>
      <p:pic>
        <p:nvPicPr>
          <p:cNvPr id="604" name="Google Shape;776;p61" descr="image.png"/>
          <p:cNvPicPr/>
          <p:nvPr/>
        </p:nvPicPr>
        <p:blipFill>
          <a:blip r:embed="rId4"/>
          <a:stretch/>
        </p:blipFill>
        <p:spPr>
          <a:xfrm>
            <a:off x="9360" y="6581880"/>
            <a:ext cx="12171960" cy="265680"/>
          </a:xfrm>
          <a:prstGeom prst="rect">
            <a:avLst/>
          </a:prstGeom>
          <a:ln w="0">
            <a:noFill/>
          </a:ln>
        </p:spPr>
      </p:pic>
      <p:sp>
        <p:nvSpPr>
          <p:cNvPr id="605" name="Google Shape;777;p61"/>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Ground Penetrating Radar (GPR)</a:t>
            </a:r>
            <a:endParaRPr b="0" lang="en-NZ" sz="2400" spc="-1" strike="noStrike">
              <a:latin typeface="Arial"/>
            </a:endParaRPr>
          </a:p>
        </p:txBody>
      </p:sp>
      <p:sp>
        <p:nvSpPr>
          <p:cNvPr id="606" name="Google Shape;778;p61"/>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607" name="Google Shape;779;p61"/>
          <p:cNvSpPr/>
          <p:nvPr/>
        </p:nvSpPr>
        <p:spPr>
          <a:xfrm>
            <a:off x="581040" y="3273120"/>
            <a:ext cx="558972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Looking Underground</a:t>
            </a:r>
            <a:endParaRPr b="0" lang="en-NZ" sz="1410" spc="-1" strike="noStrike">
              <a:latin typeface="Arial"/>
            </a:endParaRPr>
          </a:p>
        </p:txBody>
      </p:sp>
      <p:sp>
        <p:nvSpPr>
          <p:cNvPr id="608" name="Google Shape;780;p61"/>
          <p:cNvSpPr/>
          <p:nvPr/>
        </p:nvSpPr>
        <p:spPr>
          <a:xfrm>
            <a:off x="581040" y="3682440"/>
            <a:ext cx="532332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GPR fires pulses into the soil. It maps reflections from buried pipes, utility lines, and archaeological ruins.</a:t>
            </a:r>
            <a:endParaRPr b="0" lang="en-NZ" sz="1500" spc="-1" strike="noStrike">
              <a:latin typeface="Arial"/>
            </a:endParaRPr>
          </a:p>
        </p:txBody>
      </p:sp>
      <p:sp>
        <p:nvSpPr>
          <p:cNvPr id="609" name="Google Shape;781;p61"/>
          <p:cNvSpPr/>
          <p:nvPr/>
        </p:nvSpPr>
        <p:spPr>
          <a:xfrm>
            <a:off x="581040" y="4444560"/>
            <a:ext cx="532332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Different soil types affect how deep it can see.</a:t>
            </a:r>
            <a:endParaRPr b="0" lang="en-NZ" sz="1500" spc="-1" strike="noStrike">
              <a:latin typeface="Arial"/>
            </a:endParaRPr>
          </a:p>
        </p:txBody>
      </p:sp>
      <p:pic>
        <p:nvPicPr>
          <p:cNvPr id="610" name="Google Shape;782;p61" descr="image.png"/>
          <p:cNvPicPr/>
          <p:nvPr/>
        </p:nvPicPr>
        <p:blipFill>
          <a:blip r:embed="rId5"/>
          <a:stretch/>
        </p:blipFill>
        <p:spPr>
          <a:xfrm>
            <a:off x="6296040" y="1874160"/>
            <a:ext cx="5304240" cy="426600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1" name="Google Shape;787;p62" descr="image.png"/>
          <p:cNvPicPr/>
          <p:nvPr/>
        </p:nvPicPr>
        <p:blipFill>
          <a:blip r:embed="rId1"/>
          <a:stretch/>
        </p:blipFill>
        <p:spPr>
          <a:xfrm>
            <a:off x="0" y="0"/>
            <a:ext cx="12191040" cy="6856920"/>
          </a:xfrm>
          <a:prstGeom prst="rect">
            <a:avLst/>
          </a:prstGeom>
          <a:ln w="0">
            <a:noFill/>
          </a:ln>
        </p:spPr>
      </p:pic>
      <p:pic>
        <p:nvPicPr>
          <p:cNvPr id="612" name="Google Shape;788;p62" descr="image.png"/>
          <p:cNvPicPr/>
          <p:nvPr/>
        </p:nvPicPr>
        <p:blipFill>
          <a:blip r:embed="rId2"/>
          <a:stretch/>
        </p:blipFill>
        <p:spPr>
          <a:xfrm>
            <a:off x="581040" y="2743560"/>
            <a:ext cx="3548520" cy="1748880"/>
          </a:xfrm>
          <a:prstGeom prst="rect">
            <a:avLst/>
          </a:prstGeom>
          <a:ln w="0">
            <a:noFill/>
          </a:ln>
        </p:spPr>
      </p:pic>
      <p:pic>
        <p:nvPicPr>
          <p:cNvPr id="613" name="Google Shape;789;p62" descr="image.png"/>
          <p:cNvPicPr/>
          <p:nvPr/>
        </p:nvPicPr>
        <p:blipFill>
          <a:blip r:embed="rId3"/>
          <a:stretch/>
        </p:blipFill>
        <p:spPr>
          <a:xfrm>
            <a:off x="4321080" y="2743560"/>
            <a:ext cx="3548520" cy="1748880"/>
          </a:xfrm>
          <a:prstGeom prst="rect">
            <a:avLst/>
          </a:prstGeom>
          <a:ln w="0">
            <a:noFill/>
          </a:ln>
        </p:spPr>
      </p:pic>
      <p:pic>
        <p:nvPicPr>
          <p:cNvPr id="614" name="Google Shape;790;p62" descr="image.png"/>
          <p:cNvPicPr/>
          <p:nvPr/>
        </p:nvPicPr>
        <p:blipFill>
          <a:blip r:embed="rId4"/>
          <a:stretch/>
        </p:blipFill>
        <p:spPr>
          <a:xfrm>
            <a:off x="8061120" y="2743560"/>
            <a:ext cx="3548520" cy="1748880"/>
          </a:xfrm>
          <a:prstGeom prst="rect">
            <a:avLst/>
          </a:prstGeom>
          <a:ln w="0">
            <a:noFill/>
          </a:ln>
        </p:spPr>
      </p:pic>
      <p:pic>
        <p:nvPicPr>
          <p:cNvPr id="615" name="Google Shape;791;p62" descr="image.png"/>
          <p:cNvPicPr/>
          <p:nvPr/>
        </p:nvPicPr>
        <p:blipFill>
          <a:blip r:embed="rId5"/>
          <a:stretch/>
        </p:blipFill>
        <p:spPr>
          <a:xfrm>
            <a:off x="9360" y="9360"/>
            <a:ext cx="12171960" cy="265680"/>
          </a:xfrm>
          <a:prstGeom prst="rect">
            <a:avLst/>
          </a:prstGeom>
          <a:ln w="0">
            <a:noFill/>
          </a:ln>
        </p:spPr>
      </p:pic>
      <p:pic>
        <p:nvPicPr>
          <p:cNvPr id="616" name="Google Shape;792;p62" descr="image.png"/>
          <p:cNvPicPr/>
          <p:nvPr/>
        </p:nvPicPr>
        <p:blipFill>
          <a:blip r:embed="rId6"/>
          <a:stretch/>
        </p:blipFill>
        <p:spPr>
          <a:xfrm>
            <a:off x="9360" y="6581880"/>
            <a:ext cx="12171960" cy="265680"/>
          </a:xfrm>
          <a:prstGeom prst="rect">
            <a:avLst/>
          </a:prstGeom>
          <a:ln w="0">
            <a:noFill/>
          </a:ln>
        </p:spPr>
      </p:pic>
      <p:sp>
        <p:nvSpPr>
          <p:cNvPr id="617" name="Google Shape;793;p62"/>
          <p:cNvSpPr/>
          <p:nvPr/>
        </p:nvSpPr>
        <p:spPr>
          <a:xfrm>
            <a:off x="581040" y="960120"/>
            <a:ext cx="11580480" cy="36576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Lst>
            </a:pPr>
            <a:r>
              <a:rPr b="1" lang="en-US" sz="2400" spc="-1" strike="noStrike">
                <a:solidFill>
                  <a:srgbClr val="38bdf8"/>
                </a:solidFill>
                <a:latin typeface="JetBrains Mono"/>
                <a:ea typeface="JetBrains Mono"/>
              </a:rPr>
              <a:t>Final Summary</a:t>
            </a:r>
            <a:endParaRPr b="0" lang="en-NZ" sz="2400" spc="-1" strike="noStrike">
              <a:latin typeface="Arial"/>
            </a:endParaRPr>
          </a:p>
        </p:txBody>
      </p:sp>
      <p:sp>
        <p:nvSpPr>
          <p:cNvPr id="618" name="Google Shape;794;p62"/>
          <p:cNvSpPr/>
          <p:nvPr/>
        </p:nvSpPr>
        <p:spPr>
          <a:xfrm>
            <a:off x="581040" y="1433880"/>
            <a:ext cx="11028960" cy="18000"/>
          </a:xfrm>
          <a:prstGeom prst="rect">
            <a:avLst/>
          </a:prstGeom>
          <a:solidFill>
            <a:srgbClr val="1e293b"/>
          </a:solidFill>
          <a:ln w="0">
            <a:noFill/>
          </a:ln>
        </p:spPr>
        <p:style>
          <a:lnRef idx="0"/>
          <a:fillRef idx="0"/>
          <a:effectRef idx="0"/>
          <a:fontRef idx="minor"/>
        </p:style>
      </p:sp>
      <p:sp>
        <p:nvSpPr>
          <p:cNvPr id="619" name="Google Shape;795;p62"/>
          <p:cNvSpPr/>
          <p:nvPr/>
        </p:nvSpPr>
        <p:spPr>
          <a:xfrm>
            <a:off x="305280" y="4874400"/>
            <a:ext cx="11580480" cy="214200"/>
          </a:xfrm>
          <a:prstGeom prst="rect">
            <a:avLst/>
          </a:prstGeom>
          <a:noFill/>
          <a:ln w="0">
            <a:noFill/>
          </a:ln>
        </p:spPr>
        <p:style>
          <a:lnRef idx="0"/>
          <a:fillRef idx="0"/>
          <a:effectRef idx="0"/>
          <a:fontRef idx="minor"/>
        </p:style>
        <p:txBody>
          <a:bodyPr lIns="0" rIns="0" tIns="0" bIns="0">
            <a:spAutoFit/>
          </a:bodyPr>
          <a:p>
            <a:pPr algn="ctr">
              <a:lnSpc>
                <a:spcPct val="100000"/>
              </a:lnSpc>
              <a:tabLst>
                <a:tab algn="l" pos="0"/>
              </a:tabLst>
            </a:pPr>
            <a:r>
              <a:rPr b="1" lang="en-US" sz="1410" spc="-1" strike="noStrike">
                <a:solidFill>
                  <a:srgbClr val="38bdf8"/>
                </a:solidFill>
                <a:latin typeface="Inter"/>
                <a:ea typeface="Inter"/>
              </a:rPr>
              <a:t>QUESTIONS?</a:t>
            </a:r>
            <a:endParaRPr b="0" lang="en-NZ" sz="1410" spc="-1" strike="noStrike">
              <a:latin typeface="Arial"/>
            </a:endParaRPr>
          </a:p>
        </p:txBody>
      </p:sp>
      <p:sp>
        <p:nvSpPr>
          <p:cNvPr id="620" name="Google Shape;796;p62"/>
          <p:cNvSpPr/>
          <p:nvPr/>
        </p:nvSpPr>
        <p:spPr>
          <a:xfrm>
            <a:off x="781200" y="312192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Heritage</a:t>
            </a:r>
            <a:endParaRPr b="0" lang="en-NZ" sz="1410" spc="-1" strike="noStrike">
              <a:latin typeface="Arial"/>
            </a:endParaRPr>
          </a:p>
        </p:txBody>
      </p:sp>
      <p:sp>
        <p:nvSpPr>
          <p:cNvPr id="621" name="Google Shape;797;p62"/>
          <p:cNvSpPr/>
          <p:nvPr/>
        </p:nvSpPr>
        <p:spPr>
          <a:xfrm>
            <a:off x="781200" y="3531600"/>
            <a:ext cx="3148560" cy="34200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From acoustic mirrors to AESA.</a:t>
            </a:r>
            <a:endParaRPr b="0" lang="en-NZ" sz="1500" spc="-1" strike="noStrike">
              <a:latin typeface="Arial"/>
            </a:endParaRPr>
          </a:p>
        </p:txBody>
      </p:sp>
      <p:sp>
        <p:nvSpPr>
          <p:cNvPr id="622" name="Google Shape;798;p62"/>
          <p:cNvSpPr/>
          <p:nvPr/>
        </p:nvSpPr>
        <p:spPr>
          <a:xfrm>
            <a:off x="4521240" y="312192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Physics</a:t>
            </a:r>
            <a:endParaRPr b="0" lang="en-NZ" sz="1410" spc="-1" strike="noStrike">
              <a:latin typeface="Arial"/>
            </a:endParaRPr>
          </a:p>
        </p:txBody>
      </p:sp>
      <p:sp>
        <p:nvSpPr>
          <p:cNvPr id="623" name="Google Shape;799;p62"/>
          <p:cNvSpPr/>
          <p:nvPr/>
        </p:nvSpPr>
        <p:spPr>
          <a:xfrm>
            <a:off x="4521240" y="353160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Echoes, Doppler, and resolution limits.</a:t>
            </a:r>
            <a:endParaRPr b="0" lang="en-NZ" sz="1500" spc="-1" strike="noStrike">
              <a:latin typeface="Arial"/>
            </a:endParaRPr>
          </a:p>
        </p:txBody>
      </p:sp>
      <p:sp>
        <p:nvSpPr>
          <p:cNvPr id="624" name="Google Shape;800;p62"/>
          <p:cNvSpPr/>
          <p:nvPr/>
        </p:nvSpPr>
        <p:spPr>
          <a:xfrm>
            <a:off x="8261280" y="3121920"/>
            <a:ext cx="3305880" cy="214200"/>
          </a:xfrm>
          <a:prstGeom prst="rect">
            <a:avLst/>
          </a:prstGeom>
          <a:noFill/>
          <a:ln w="0">
            <a:noFill/>
          </a:ln>
        </p:spPr>
        <p:style>
          <a:lnRef idx="0"/>
          <a:fillRef idx="0"/>
          <a:effectRef idx="0"/>
          <a:fontRef idx="minor"/>
        </p:style>
        <p:txBody>
          <a:bodyPr lIns="0" rIns="0" tIns="0" bIns="0">
            <a:spAutoFit/>
          </a:bodyPr>
          <a:p>
            <a:pPr>
              <a:lnSpc>
                <a:spcPct val="100000"/>
              </a:lnSpc>
              <a:tabLst>
                <a:tab algn="l" pos="0"/>
              </a:tabLst>
            </a:pPr>
            <a:r>
              <a:rPr b="1" lang="en-US" sz="1410" spc="-1" strike="noStrike">
                <a:solidFill>
                  <a:srgbClr val="e2e8f0"/>
                </a:solidFill>
                <a:latin typeface="Inter"/>
                <a:ea typeface="Inter"/>
              </a:rPr>
              <a:t>Future</a:t>
            </a:r>
            <a:endParaRPr b="0" lang="en-NZ" sz="1410" spc="-1" strike="noStrike">
              <a:latin typeface="Arial"/>
            </a:endParaRPr>
          </a:p>
        </p:txBody>
      </p:sp>
      <p:sp>
        <p:nvSpPr>
          <p:cNvPr id="625" name="Google Shape;801;p62"/>
          <p:cNvSpPr/>
          <p:nvPr/>
        </p:nvSpPr>
        <p:spPr>
          <a:xfrm>
            <a:off x="8261280" y="3531600"/>
            <a:ext cx="3148560" cy="684360"/>
          </a:xfrm>
          <a:prstGeom prst="rect">
            <a:avLst/>
          </a:prstGeom>
          <a:noFill/>
          <a:ln w="0">
            <a:noFill/>
          </a:ln>
        </p:spPr>
        <p:style>
          <a:lnRef idx="0"/>
          <a:fillRef idx="0"/>
          <a:effectRef idx="0"/>
          <a:fontRef idx="minor"/>
        </p:style>
        <p:txBody>
          <a:bodyPr lIns="0" rIns="0" tIns="0" bIns="0">
            <a:spAutoFit/>
          </a:bodyPr>
          <a:p>
            <a:pPr>
              <a:lnSpc>
                <a:spcPct val="150000"/>
              </a:lnSpc>
              <a:tabLst>
                <a:tab algn="l" pos="0"/>
              </a:tabLst>
            </a:pPr>
            <a:r>
              <a:rPr b="0" lang="en-US" sz="1500" spc="-1" strike="noStrike">
                <a:solidFill>
                  <a:srgbClr val="cbd5e1"/>
                </a:solidFill>
                <a:latin typeface="Inter"/>
                <a:ea typeface="Inter"/>
              </a:rPr>
              <a:t>Cognitive radar and AI integration.</a:t>
            </a:r>
            <a:endParaRPr b="0" lang="en-NZ" sz="15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311</TotalTime>
  <Application>LibreOffice/7.1.3.2$Windows_X86_64 LibreOffice_project/47f78053abe362b9384784d31a6e56f8511eb1c1</Application>
  <AppVersion>15.0000</AppVersion>
  <Words>2908</Words>
  <Paragraphs>276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en-NZ</dc:language>
  <cp:lastModifiedBy/>
  <dcterms:modified xsi:type="dcterms:W3CDTF">2025-12-02T13:58:16Z</dcterms:modified>
  <cp:revision>11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53</vt:i4>
  </property>
</Properties>
</file>